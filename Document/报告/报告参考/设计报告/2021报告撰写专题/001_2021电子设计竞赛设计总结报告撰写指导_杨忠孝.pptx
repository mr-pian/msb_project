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 id="2147483684" r:id="rId5"/>
    <p:sldMasterId id="2147483695" r:id="rId6"/>
    <p:sldMasterId id="2147483707" r:id="rId7"/>
  </p:sldMasterIdLst>
  <p:notesMasterIdLst>
    <p:notesMasterId r:id="rId9"/>
  </p:notesMasterIdLst>
  <p:handoutMasterIdLst>
    <p:handoutMasterId r:id="rId74"/>
  </p:handoutMasterIdLst>
  <p:sldIdLst>
    <p:sldId id="256" r:id="rId8"/>
    <p:sldId id="1377" r:id="rId10"/>
    <p:sldId id="1727" r:id="rId11"/>
    <p:sldId id="1728" r:id="rId12"/>
    <p:sldId id="1729" r:id="rId13"/>
    <p:sldId id="1815" r:id="rId14"/>
    <p:sldId id="1730" r:id="rId15"/>
    <p:sldId id="1731" r:id="rId16"/>
    <p:sldId id="1732" r:id="rId17"/>
    <p:sldId id="1733" r:id="rId18"/>
    <p:sldId id="1734" r:id="rId19"/>
    <p:sldId id="1735" r:id="rId20"/>
    <p:sldId id="1736" r:id="rId21"/>
    <p:sldId id="1737" r:id="rId22"/>
    <p:sldId id="1738" r:id="rId23"/>
    <p:sldId id="1739" r:id="rId24"/>
    <p:sldId id="1740" r:id="rId25"/>
    <p:sldId id="1741" r:id="rId26"/>
    <p:sldId id="1742" r:id="rId27"/>
    <p:sldId id="1743" r:id="rId28"/>
    <p:sldId id="1744" r:id="rId29"/>
    <p:sldId id="1745" r:id="rId30"/>
    <p:sldId id="1746" r:id="rId31"/>
    <p:sldId id="1747" r:id="rId32"/>
    <p:sldId id="1748" r:id="rId33"/>
    <p:sldId id="1749" r:id="rId34"/>
    <p:sldId id="1781" r:id="rId35"/>
    <p:sldId id="1750" r:id="rId36"/>
    <p:sldId id="1751" r:id="rId37"/>
    <p:sldId id="1752" r:id="rId38"/>
    <p:sldId id="1753" r:id="rId39"/>
    <p:sldId id="1754" r:id="rId40"/>
    <p:sldId id="1755" r:id="rId41"/>
    <p:sldId id="1756" r:id="rId42"/>
    <p:sldId id="1757" r:id="rId43"/>
    <p:sldId id="1758" r:id="rId44"/>
    <p:sldId id="1759" r:id="rId45"/>
    <p:sldId id="1817" r:id="rId46"/>
    <p:sldId id="1760" r:id="rId47"/>
    <p:sldId id="1761" r:id="rId48"/>
    <p:sldId id="1762" r:id="rId49"/>
    <p:sldId id="1763" r:id="rId50"/>
    <p:sldId id="1764" r:id="rId51"/>
    <p:sldId id="1783" r:id="rId52"/>
    <p:sldId id="1765" r:id="rId53"/>
    <p:sldId id="1891" r:id="rId54"/>
    <p:sldId id="1766" r:id="rId55"/>
    <p:sldId id="1872" r:id="rId56"/>
    <p:sldId id="1768" r:id="rId57"/>
    <p:sldId id="1769" r:id="rId58"/>
    <p:sldId id="1770" r:id="rId59"/>
    <p:sldId id="1771" r:id="rId60"/>
    <p:sldId id="1782" r:id="rId61"/>
    <p:sldId id="1772" r:id="rId62"/>
    <p:sldId id="1888" r:id="rId63"/>
    <p:sldId id="1773" r:id="rId64"/>
    <p:sldId id="1889" r:id="rId65"/>
    <p:sldId id="1774" r:id="rId66"/>
    <p:sldId id="1775" r:id="rId67"/>
    <p:sldId id="1780" r:id="rId68"/>
    <p:sldId id="1776" r:id="rId69"/>
    <p:sldId id="1777" r:id="rId70"/>
    <p:sldId id="1778" r:id="rId71"/>
    <p:sldId id="1818" r:id="rId72"/>
    <p:sldId id="340" r:id="rId73"/>
  </p:sldIdLst>
  <p:sldSz cx="12192000" cy="6858000"/>
  <p:notesSz cx="6858000" cy="9144000"/>
  <p:defaultTextStyle>
    <a:defPPr>
      <a:defRPr lang="zh-CN"/>
    </a:defPPr>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华文彩云" panose="02010800040101010101" charset="-122"/>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华文彩云" panose="02010800040101010101" charset="-122"/>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华文彩云" panose="02010800040101010101" charset="-122"/>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华文彩云" panose="02010800040101010101" charset="-122"/>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华文彩云" panose="02010800040101010101" charset="-122"/>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华文彩云" panose="02010800040101010101" charset="-122"/>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华文彩云" panose="02010800040101010101" charset="-122"/>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华文彩云" panose="02010800040101010101" charset="-122"/>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华文彩云" panose="02010800040101010101" charset="-122"/>
        <a:ea typeface="宋体" panose="02010600030101010101" pitchFamily="2"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000066"/>
    <a:srgbClr val="0033CC"/>
    <a:srgbClr val="CC3300"/>
    <a:srgbClr val="003AB6"/>
    <a:srgbClr val="FFFFFF"/>
    <a:srgbClr val="990033"/>
    <a:srgbClr val="003300"/>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71" d="100"/>
          <a:sy n="71" d="100"/>
        </p:scale>
        <p:origin x="-1134" y="-108"/>
      </p:cViewPr>
      <p:guideLst>
        <p:guide orient="horz" pos="2107"/>
        <p:guide pos="3825"/>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1.xml"/><Relationship Id="rId77" Type="http://schemas.openxmlformats.org/officeDocument/2006/relationships/tableStyles" Target="tableStyles.xml"/><Relationship Id="rId76" Type="http://schemas.openxmlformats.org/officeDocument/2006/relationships/viewProps" Target="viewProps.xml"/><Relationship Id="rId75" Type="http://schemas.openxmlformats.org/officeDocument/2006/relationships/presProps" Target="presProps.xml"/><Relationship Id="rId74" Type="http://schemas.openxmlformats.org/officeDocument/2006/relationships/handoutMaster" Target="handoutMasters/handoutMaster1.xml"/><Relationship Id="rId73" Type="http://schemas.openxmlformats.org/officeDocument/2006/relationships/slide" Target="slides/slide65.xml"/><Relationship Id="rId72" Type="http://schemas.openxmlformats.org/officeDocument/2006/relationships/slide" Target="slides/slide64.xml"/><Relationship Id="rId71" Type="http://schemas.openxmlformats.org/officeDocument/2006/relationships/slide" Target="slides/slide63.xml"/><Relationship Id="rId70" Type="http://schemas.openxmlformats.org/officeDocument/2006/relationships/slide" Target="slides/slide62.xml"/><Relationship Id="rId7" Type="http://schemas.openxmlformats.org/officeDocument/2006/relationships/slideMaster" Target="slideMasters/slideMaster6.xml"/><Relationship Id="rId69" Type="http://schemas.openxmlformats.org/officeDocument/2006/relationships/slide" Target="slides/slide61.xml"/><Relationship Id="rId68" Type="http://schemas.openxmlformats.org/officeDocument/2006/relationships/slide" Target="slides/slide60.xml"/><Relationship Id="rId67" Type="http://schemas.openxmlformats.org/officeDocument/2006/relationships/slide" Target="slides/slide59.xml"/><Relationship Id="rId66" Type="http://schemas.openxmlformats.org/officeDocument/2006/relationships/slide" Target="slides/slide58.xml"/><Relationship Id="rId65" Type="http://schemas.openxmlformats.org/officeDocument/2006/relationships/slide" Target="slides/slide57.xml"/><Relationship Id="rId64" Type="http://schemas.openxmlformats.org/officeDocument/2006/relationships/slide" Target="slides/slide56.xml"/><Relationship Id="rId63" Type="http://schemas.openxmlformats.org/officeDocument/2006/relationships/slide" Target="slides/slide55.xml"/><Relationship Id="rId62" Type="http://schemas.openxmlformats.org/officeDocument/2006/relationships/slide" Target="slides/slide54.xml"/><Relationship Id="rId61" Type="http://schemas.openxmlformats.org/officeDocument/2006/relationships/slide" Target="slides/slide53.xml"/><Relationship Id="rId60" Type="http://schemas.openxmlformats.org/officeDocument/2006/relationships/slide" Target="slides/slide52.xml"/><Relationship Id="rId6" Type="http://schemas.openxmlformats.org/officeDocument/2006/relationships/slideMaster" Target="slideMasters/slideMaster5.xml"/><Relationship Id="rId59" Type="http://schemas.openxmlformats.org/officeDocument/2006/relationships/slide" Target="slides/slide51.xml"/><Relationship Id="rId58" Type="http://schemas.openxmlformats.org/officeDocument/2006/relationships/slide" Target="slides/slide50.xml"/><Relationship Id="rId57" Type="http://schemas.openxmlformats.org/officeDocument/2006/relationships/slide" Target="slides/slide49.xml"/><Relationship Id="rId56" Type="http://schemas.openxmlformats.org/officeDocument/2006/relationships/slide" Target="slides/slide48.xml"/><Relationship Id="rId55" Type="http://schemas.openxmlformats.org/officeDocument/2006/relationships/slide" Target="slides/slide47.xml"/><Relationship Id="rId54" Type="http://schemas.openxmlformats.org/officeDocument/2006/relationships/slide" Target="slides/slide46.xml"/><Relationship Id="rId53" Type="http://schemas.openxmlformats.org/officeDocument/2006/relationships/slide" Target="slides/slide45.xml"/><Relationship Id="rId52" Type="http://schemas.openxmlformats.org/officeDocument/2006/relationships/slide" Target="slides/slide44.xml"/><Relationship Id="rId51" Type="http://schemas.openxmlformats.org/officeDocument/2006/relationships/slide" Target="slides/slide43.xml"/><Relationship Id="rId50" Type="http://schemas.openxmlformats.org/officeDocument/2006/relationships/slide" Target="slides/slide42.xml"/><Relationship Id="rId5" Type="http://schemas.openxmlformats.org/officeDocument/2006/relationships/slideMaster" Target="slideMasters/slideMaster4.xml"/><Relationship Id="rId49" Type="http://schemas.openxmlformats.org/officeDocument/2006/relationships/slide" Target="slides/slide41.xml"/><Relationship Id="rId48" Type="http://schemas.openxmlformats.org/officeDocument/2006/relationships/slide" Target="slides/slide40.xml"/><Relationship Id="rId47" Type="http://schemas.openxmlformats.org/officeDocument/2006/relationships/slide" Target="slides/slide39.xml"/><Relationship Id="rId46" Type="http://schemas.openxmlformats.org/officeDocument/2006/relationships/slide" Target="slides/slide38.xml"/><Relationship Id="rId45" Type="http://schemas.openxmlformats.org/officeDocument/2006/relationships/slide" Target="slides/slide37.xml"/><Relationship Id="rId44" Type="http://schemas.openxmlformats.org/officeDocument/2006/relationships/slide" Target="slides/slide36.xml"/><Relationship Id="rId43" Type="http://schemas.openxmlformats.org/officeDocument/2006/relationships/slide" Target="slides/slide35.xml"/><Relationship Id="rId42" Type="http://schemas.openxmlformats.org/officeDocument/2006/relationships/slide" Target="slides/slide34.xml"/><Relationship Id="rId41" Type="http://schemas.openxmlformats.org/officeDocument/2006/relationships/slide" Target="slides/slide33.xml"/><Relationship Id="rId40" Type="http://schemas.openxmlformats.org/officeDocument/2006/relationships/slide" Target="slides/slide32.xml"/><Relationship Id="rId4" Type="http://schemas.openxmlformats.org/officeDocument/2006/relationships/slideMaster" Target="slideMasters/slideMaster3.xml"/><Relationship Id="rId39" Type="http://schemas.openxmlformats.org/officeDocument/2006/relationships/slide" Target="slides/slide31.xml"/><Relationship Id="rId38" Type="http://schemas.openxmlformats.org/officeDocument/2006/relationships/slide" Target="slides/slide30.xml"/><Relationship Id="rId37" Type="http://schemas.openxmlformats.org/officeDocument/2006/relationships/slide" Target="slides/slide29.xml"/><Relationship Id="rId36" Type="http://schemas.openxmlformats.org/officeDocument/2006/relationships/slide" Target="slides/slide28.xml"/><Relationship Id="rId35" Type="http://schemas.openxmlformats.org/officeDocument/2006/relationships/slide" Target="slides/slide27.xml"/><Relationship Id="rId34" Type="http://schemas.openxmlformats.org/officeDocument/2006/relationships/slide" Target="slides/slide26.xml"/><Relationship Id="rId33" Type="http://schemas.openxmlformats.org/officeDocument/2006/relationships/slide" Target="slides/slide25.xml"/><Relationship Id="rId32" Type="http://schemas.openxmlformats.org/officeDocument/2006/relationships/slide" Target="slides/slide24.xml"/><Relationship Id="rId31" Type="http://schemas.openxmlformats.org/officeDocument/2006/relationships/slide" Target="slides/slide23.xml"/><Relationship Id="rId30" Type="http://schemas.openxmlformats.org/officeDocument/2006/relationships/slide" Target="slides/slide22.xml"/><Relationship Id="rId3" Type="http://schemas.openxmlformats.org/officeDocument/2006/relationships/slideMaster" Target="slideMasters/slideMaster2.xml"/><Relationship Id="rId29" Type="http://schemas.openxmlformats.org/officeDocument/2006/relationships/slide" Target="slides/slide21.xml"/><Relationship Id="rId28" Type="http://schemas.openxmlformats.org/officeDocument/2006/relationships/slide" Target="slides/slide20.xml"/><Relationship Id="rId27" Type="http://schemas.openxmlformats.org/officeDocument/2006/relationships/slide" Target="slides/slide19.xml"/><Relationship Id="rId26" Type="http://schemas.openxmlformats.org/officeDocument/2006/relationships/slide" Target="slides/slide18.xml"/><Relationship Id="rId25" Type="http://schemas.openxmlformats.org/officeDocument/2006/relationships/slide" Target="slides/slide17.xml"/><Relationship Id="rId24" Type="http://schemas.openxmlformats.org/officeDocument/2006/relationships/slide" Target="slides/slide16.xml"/><Relationship Id="rId23" Type="http://schemas.openxmlformats.org/officeDocument/2006/relationships/slide" Target="slides/slide15.xml"/><Relationship Id="rId22" Type="http://schemas.openxmlformats.org/officeDocument/2006/relationships/slide" Target="slides/slide14.xml"/><Relationship Id="rId21" Type="http://schemas.openxmlformats.org/officeDocument/2006/relationships/slide" Target="slides/slide13.xml"/><Relationship Id="rId20" Type="http://schemas.openxmlformats.org/officeDocument/2006/relationships/slide" Target="slides/slide12.xml"/><Relationship Id="rId2" Type="http://schemas.openxmlformats.org/officeDocument/2006/relationships/theme" Target="theme/theme1.xml"/><Relationship Id="rId19" Type="http://schemas.openxmlformats.org/officeDocument/2006/relationships/slide" Target="slides/slide11.xml"/><Relationship Id="rId18" Type="http://schemas.openxmlformats.org/officeDocument/2006/relationships/slide" Target="slides/slide10.xml"/><Relationship Id="rId17" Type="http://schemas.openxmlformats.org/officeDocument/2006/relationships/slide" Target="slides/slide9.xml"/><Relationship Id="rId16" Type="http://schemas.openxmlformats.org/officeDocument/2006/relationships/slide" Target="slides/slide8.xml"/><Relationship Id="rId15" Type="http://schemas.openxmlformats.org/officeDocument/2006/relationships/slide" Target="slides/slide7.xml"/><Relationship Id="rId14" Type="http://schemas.openxmlformats.org/officeDocument/2006/relationships/slide" Target="slides/slide6.xml"/><Relationship Id="rId13" Type="http://schemas.openxmlformats.org/officeDocument/2006/relationships/slide" Target="slides/slide5.xml"/><Relationship Id="rId12" Type="http://schemas.openxmlformats.org/officeDocument/2006/relationships/slide" Target="slides/slide4.xml"/><Relationship Id="rId11" Type="http://schemas.openxmlformats.org/officeDocument/2006/relationships/slide" Target="slides/slide3.xml"/><Relationship Id="rId10" Type="http://schemas.openxmlformats.org/officeDocument/2006/relationships/slide" Target="slides/slide2.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42" name="Rectangle 2"/>
          <p:cNvSpPr>
            <a:spLocks noGrp="1"/>
          </p:cNvSpPr>
          <p:nvPr>
            <p:ph type="hdr" sz="quarter"/>
          </p:nvPr>
        </p:nvSpPr>
        <p:spPr>
          <a:xfrm>
            <a:off x="0" y="0"/>
            <a:ext cx="2970213" cy="457200"/>
          </a:xfrm>
          <a:prstGeom prst="rect">
            <a:avLst/>
          </a:prstGeom>
          <a:noFill/>
          <a:ln w="9525">
            <a:noFill/>
          </a:ln>
        </p:spPr>
        <p:txBody>
          <a:bodyPr/>
          <a:p>
            <a:pPr lvl="0" eaLnBrk="1" fontAlgn="base" hangingPunct="1"/>
            <a:endParaRPr lang="zh-CN" altLang="en-US" sz="1200" b="0" strike="noStrike" noProof="1" dirty="0">
              <a:latin typeface="Arial" panose="020B0604020202020204" pitchFamily="34" charset="0"/>
            </a:endParaRPr>
          </a:p>
        </p:txBody>
      </p:sp>
      <p:sp>
        <p:nvSpPr>
          <p:cNvPr id="10243" name="Rectangle 3"/>
          <p:cNvSpPr>
            <a:spLocks noGrp="1"/>
          </p:cNvSpPr>
          <p:nvPr>
            <p:ph type="dt" idx="1"/>
          </p:nvPr>
        </p:nvSpPr>
        <p:spPr>
          <a:xfrm>
            <a:off x="3883025" y="0"/>
            <a:ext cx="2973388" cy="457200"/>
          </a:xfrm>
          <a:prstGeom prst="rect">
            <a:avLst/>
          </a:prstGeom>
          <a:noFill/>
          <a:ln w="9525">
            <a:noFill/>
          </a:ln>
        </p:spPr>
        <p:txBody>
          <a:bodyPr/>
          <a:p>
            <a:pPr lvl="0" algn="r" eaLnBrk="1" fontAlgn="base" hangingPunct="1"/>
            <a:endParaRPr lang="zh-CN" altLang="en-US" sz="1200" b="0" strike="noStrike" noProof="1" dirty="0">
              <a:latin typeface="Arial" panose="020B0604020202020204" pitchFamily="34" charset="0"/>
            </a:endParaRPr>
          </a:p>
        </p:txBody>
      </p:sp>
      <p:sp>
        <p:nvSpPr>
          <p:cNvPr id="6148" name="Rectangle 4"/>
          <p:cNvSpPr>
            <a:spLocks noGrp="1" noRot="1"/>
          </p:cNvSpPr>
          <p:nvPr>
            <p:ph type="sldImg"/>
          </p:nvPr>
        </p:nvSpPr>
        <p:spPr>
          <a:xfrm>
            <a:off x="381000" y="685800"/>
            <a:ext cx="6096000" cy="3429000"/>
          </a:xfrm>
          <a:prstGeom prst="rect">
            <a:avLst/>
          </a:prstGeom>
          <a:noFill/>
          <a:ln w="9525">
            <a:noFill/>
          </a:ln>
        </p:spPr>
      </p:sp>
      <p:sp>
        <p:nvSpPr>
          <p:cNvPr id="6149" name="Rectangle 5"/>
          <p:cNvSpPr>
            <a:spLocks noGrp="1" noRot="1"/>
          </p:cNvSpPr>
          <p:nvPr>
            <p:ph type="body" sz="quarter"/>
          </p:nvPr>
        </p:nvSpPr>
        <p:spPr>
          <a:xfrm>
            <a:off x="685800" y="4343400"/>
            <a:ext cx="5486400" cy="4114800"/>
          </a:xfrm>
          <a:prstGeom prst="rect">
            <a:avLst/>
          </a:prstGeom>
          <a:noFill/>
          <a:ln w="9525">
            <a:noFill/>
          </a:ln>
        </p:spPr>
        <p:txBody>
          <a:bodyPr anchor="ctr"/>
          <a:p>
            <a:pPr lvl="0" indent="0"/>
            <a:r>
              <a:rPr lang="zh-CN" altLang="en-US"/>
              <a:t>单击此处编辑母版文本样式</a:t>
            </a:r>
            <a:endParaRPr lang="zh-CN" altLang="en-US"/>
          </a:p>
          <a:p>
            <a:pPr lvl="1" indent="0"/>
            <a:r>
              <a:rPr lang="zh-CN" altLang="en-US"/>
              <a:t>第二级</a:t>
            </a:r>
            <a:endParaRPr lang="zh-CN" altLang="en-US"/>
          </a:p>
          <a:p>
            <a:pPr lvl="2" indent="0"/>
            <a:r>
              <a:rPr lang="zh-CN" altLang="en-US"/>
              <a:t>第三级</a:t>
            </a:r>
            <a:endParaRPr lang="zh-CN" altLang="en-US"/>
          </a:p>
          <a:p>
            <a:pPr lvl="3" indent="0"/>
            <a:r>
              <a:rPr lang="zh-CN" altLang="en-US"/>
              <a:t>第四级</a:t>
            </a:r>
            <a:endParaRPr lang="zh-CN" altLang="en-US"/>
          </a:p>
          <a:p>
            <a:pPr lvl="4" indent="0"/>
            <a:r>
              <a:rPr lang="zh-CN" altLang="en-US"/>
              <a:t>第五级</a:t>
            </a:r>
            <a:endParaRPr lang="zh-CN" altLang="en-US"/>
          </a:p>
        </p:txBody>
      </p:sp>
      <p:sp>
        <p:nvSpPr>
          <p:cNvPr id="10246" name="Rectangle 6"/>
          <p:cNvSpPr>
            <a:spLocks noGrp="1"/>
          </p:cNvSpPr>
          <p:nvPr>
            <p:ph type="ftr" sz="quarter" idx="4"/>
          </p:nvPr>
        </p:nvSpPr>
        <p:spPr>
          <a:xfrm>
            <a:off x="0" y="8685213"/>
            <a:ext cx="2970213" cy="457200"/>
          </a:xfrm>
          <a:prstGeom prst="rect">
            <a:avLst/>
          </a:prstGeom>
          <a:noFill/>
          <a:ln w="9525">
            <a:noFill/>
          </a:ln>
        </p:spPr>
        <p:txBody>
          <a:bodyPr anchor="b"/>
          <a:p>
            <a:pPr lvl="0" eaLnBrk="1" fontAlgn="base" hangingPunct="1"/>
            <a:endParaRPr lang="zh-CN" altLang="en-US" sz="1200" b="0" strike="noStrike" noProof="1" dirty="0">
              <a:latin typeface="Arial" panose="020B0604020202020204" pitchFamily="34" charset="0"/>
            </a:endParaRPr>
          </a:p>
        </p:txBody>
      </p:sp>
      <p:sp>
        <p:nvSpPr>
          <p:cNvPr id="10247" name="Rectangle 7"/>
          <p:cNvSpPr>
            <a:spLocks noGrp="1"/>
          </p:cNvSpPr>
          <p:nvPr>
            <p:ph type="sldNum" sz="quarter" idx="5"/>
          </p:nvPr>
        </p:nvSpPr>
        <p:spPr>
          <a:xfrm>
            <a:off x="3883025" y="8685213"/>
            <a:ext cx="2973388" cy="457200"/>
          </a:xfrm>
          <a:prstGeom prst="rect">
            <a:avLst/>
          </a:prstGeom>
          <a:noFill/>
          <a:ln w="9525">
            <a:noFill/>
          </a:ln>
        </p:spPr>
        <p:txBody>
          <a:bodyPr anchor="b"/>
          <a:p>
            <a:pPr lvl="0" algn="r" eaLnBrk="1" fontAlgn="base" hangingPunct="1"/>
            <a:fld id="{9A0DB2DC-4C9A-4742-B13C-FB6460FD3503}" type="slidenum">
              <a:rPr lang="zh-CN" altLang="en-US" sz="1200" b="0" strike="noStrike" noProof="1" dirty="0">
                <a:latin typeface="Arial" panose="020B0604020202020204" pitchFamily="34" charset="0"/>
                <a:ea typeface="宋体" panose="02010600030101010101" pitchFamily="2" charset="-122"/>
                <a:cs typeface="+mn-ea"/>
              </a:rPr>
            </a:fld>
            <a:endParaRPr lang="zh-CN" altLang="en-US" sz="1200" b="0" strike="noStrike" noProof="1"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1pPr>
    <a:lvl2pPr marL="457200" lvl="1"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2pPr>
    <a:lvl3pPr marL="914400" lvl="2"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3pPr>
    <a:lvl4pPr marL="1371600" lvl="3"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4pPr>
    <a:lvl5pPr marL="1828800" lvl="4"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5pPr>
    <a:lvl6pPr marL="2286000" lvl="5"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8194" name="Rectangle 2"/>
          <p:cNvSpPr>
            <a:spLocks noGrp="1" noRot="1" noTextEdit="1"/>
          </p:cNvSpPr>
          <p:nvPr>
            <p:ph type="sldImg"/>
          </p:nvPr>
        </p:nvSpPr>
        <p:spPr/>
      </p:sp>
      <p:sp>
        <p:nvSpPr>
          <p:cNvPr id="8195" name="Rectangle 3"/>
          <p:cNvSpPr>
            <a:spLocks noGrp="1" noRot="1"/>
          </p:cNvSpPr>
          <p:nvPr>
            <p:ph type="body"/>
          </p:nvPr>
        </p:nvSpPr>
        <p:spPr/>
        <p:txBody>
          <a:bodyPr wrap="square" anchor="ctr"/>
          <a:p>
            <a:pPr lvl="0" indent="0" eaLnBrk="1" hangingPunct="1"/>
            <a:r>
              <a:rPr lang="zh-CN" altLang="en-US" dirty="0"/>
              <a:t>各位老师，这次TI的教育者年会终于到了最后一位发言啦，前面有多位老师和专家已经讲了很多很深刻的内容啦，我想大家都很辛苦啦，我不会占用大家太多时间。</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0242" name="Rectangle 2"/>
          <p:cNvSpPr>
            <a:spLocks noGrp="1" noRot="1" noTextEdit="1"/>
          </p:cNvSpPr>
          <p:nvPr>
            <p:ph type="sldImg"/>
          </p:nvPr>
        </p:nvSpPr>
        <p:spPr/>
      </p:sp>
      <p:sp>
        <p:nvSpPr>
          <p:cNvPr id="10243" name="Rectangle 3"/>
          <p:cNvSpPr>
            <a:spLocks noGrp="1" noRot="1"/>
          </p:cNvSpPr>
          <p:nvPr>
            <p:ph type="body"/>
          </p:nvPr>
        </p:nvSpPr>
        <p:spPr/>
        <p:txBody>
          <a:bodyPr wrap="square" anchor="ctr"/>
          <a:p>
            <a:pPr lvl="0" indent="0" eaLnBrk="1" hangingPunct="1"/>
            <a:r>
              <a:rPr lang="zh-CN" altLang="en-US"/>
              <a:t>我汇报的主要内容是。。。。</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eaLnBrk="1" fontAlgn="base" hangingPunct="1"/>
            <a:endParaRPr lang="zh-CN" altLang="en-US" strike="noStrike" noProof="1" dirty="0"/>
          </a:p>
        </p:txBody>
      </p:sp>
      <p:sp>
        <p:nvSpPr>
          <p:cNvPr id="5" name="页脚占位符 4"/>
          <p:cNvSpPr>
            <a:spLocks noGrp="1"/>
          </p:cNvSpPr>
          <p:nvPr>
            <p:ph type="ftr" sz="quarter" idx="11"/>
          </p:nvPr>
        </p:nvSpPr>
        <p:spPr/>
        <p:txBody>
          <a:bodyPr/>
          <a:p>
            <a:pPr lvl="0" eaLnBrk="1" fontAlgn="base" hangingPunct="1"/>
            <a:endParaRPr lang="zh-CN" altLang="en-US" strike="noStrike" noProof="1" dirty="0"/>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Garamond" panose="02020404030301010803" pitchFamily="18"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eaLnBrk="1" fontAlgn="base" hangingPunct="1"/>
            <a:endParaRPr lang="zh-CN" altLang="en-US" strike="noStrike" noProof="1" dirty="0"/>
          </a:p>
        </p:txBody>
      </p:sp>
      <p:sp>
        <p:nvSpPr>
          <p:cNvPr id="5" name="页脚占位符 4"/>
          <p:cNvSpPr>
            <a:spLocks noGrp="1"/>
          </p:cNvSpPr>
          <p:nvPr>
            <p:ph type="ftr" sz="quarter" idx="11"/>
          </p:nvPr>
        </p:nvSpPr>
        <p:spPr/>
        <p:txBody>
          <a:bodyPr/>
          <a:p>
            <a:pPr lvl="0" eaLnBrk="1" fontAlgn="base" hangingPunct="1"/>
            <a:endParaRPr lang="zh-CN" altLang="en-US" strike="noStrike" noProof="1" dirty="0"/>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Garamond" panose="02020404030301010803" pitchFamily="18"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eaLnBrk="1" fontAlgn="base" hangingPunct="1"/>
            <a:endParaRPr lang="zh-CN" altLang="en-US" strike="noStrike" noProof="1" dirty="0"/>
          </a:p>
        </p:txBody>
      </p:sp>
      <p:sp>
        <p:nvSpPr>
          <p:cNvPr id="5" name="页脚占位符 4"/>
          <p:cNvSpPr>
            <a:spLocks noGrp="1"/>
          </p:cNvSpPr>
          <p:nvPr>
            <p:ph type="ftr" sz="quarter" idx="11"/>
          </p:nvPr>
        </p:nvSpPr>
        <p:spPr/>
        <p:txBody>
          <a:bodyPr/>
          <a:p>
            <a:pPr lvl="0" eaLnBrk="1" fontAlgn="base" hangingPunct="1"/>
            <a:endParaRPr lang="zh-CN" altLang="en-US" strike="noStrike" noProof="1" dirty="0"/>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Garamond" panose="02020404030301010803" pitchFamily="18"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412875"/>
            <a:ext cx="5376672" cy="47180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205728" y="1412875"/>
            <a:ext cx="5376672" cy="47180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eaLnBrk="1" fontAlgn="base" hangingPunct="1"/>
            <a:endParaRPr lang="zh-CN" altLang="en-US" strike="noStrike" noProof="1" dirty="0"/>
          </a:p>
        </p:txBody>
      </p:sp>
      <p:sp>
        <p:nvSpPr>
          <p:cNvPr id="6" name="页脚占位符 5"/>
          <p:cNvSpPr>
            <a:spLocks noGrp="1"/>
          </p:cNvSpPr>
          <p:nvPr>
            <p:ph type="ftr" sz="quarter" idx="11"/>
          </p:nvPr>
        </p:nvSpPr>
        <p:spPr/>
        <p:txBody>
          <a:bodyPr/>
          <a:p>
            <a:pPr lvl="0" eaLnBrk="1" fontAlgn="base" hangingPunct="1"/>
            <a:endParaRPr lang="zh-CN" altLang="en-US" strike="noStrike" noProof="1" dirty="0"/>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Garamond" panose="02020404030301010803" pitchFamily="18"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1186775" y="2665379"/>
            <a:ext cx="4873575"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256939" y="2665379"/>
            <a:ext cx="4897576"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eaLnBrk="1" fontAlgn="base" hangingPunct="1"/>
            <a:endParaRPr lang="zh-CN" altLang="en-US" strike="noStrike" noProof="1" dirty="0"/>
          </a:p>
        </p:txBody>
      </p:sp>
      <p:sp>
        <p:nvSpPr>
          <p:cNvPr id="8" name="页脚占位符 7"/>
          <p:cNvSpPr>
            <a:spLocks noGrp="1"/>
          </p:cNvSpPr>
          <p:nvPr>
            <p:ph type="ftr" sz="quarter" idx="11"/>
          </p:nvPr>
        </p:nvSpPr>
        <p:spPr/>
        <p:txBody>
          <a:bodyPr/>
          <a:p>
            <a:pPr lvl="0" eaLnBrk="1" fontAlgn="base" hangingPunct="1"/>
            <a:endParaRPr lang="zh-CN" altLang="en-US" strike="noStrike" noProof="1" dirty="0"/>
          </a:p>
        </p:txBody>
      </p:sp>
      <p:sp>
        <p:nvSpPr>
          <p:cNvPr id="9" name="灯片编号占位符 8"/>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Garamond" panose="02020404030301010803" pitchFamily="18"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eaLnBrk="1" fontAlgn="base" hangingPunct="1"/>
            <a:endParaRPr lang="zh-CN" altLang="en-US" strike="noStrike" noProof="1" dirty="0"/>
          </a:p>
        </p:txBody>
      </p:sp>
      <p:sp>
        <p:nvSpPr>
          <p:cNvPr id="4" name="页脚占位符 3"/>
          <p:cNvSpPr>
            <a:spLocks noGrp="1"/>
          </p:cNvSpPr>
          <p:nvPr>
            <p:ph type="ftr" sz="quarter" idx="11"/>
          </p:nvPr>
        </p:nvSpPr>
        <p:spPr/>
        <p:txBody>
          <a:bodyPr/>
          <a:p>
            <a:pPr lvl="0" eaLnBrk="1" fontAlgn="base" hangingPunct="1"/>
            <a:endParaRPr lang="zh-CN" altLang="en-US" strike="noStrike" noProof="1" dirty="0"/>
          </a:p>
        </p:txBody>
      </p:sp>
      <p:sp>
        <p:nvSpPr>
          <p:cNvPr id="5" name="灯片编号占位符 4"/>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Garamond" panose="02020404030301010803" pitchFamily="18"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eaLnBrk="1" fontAlgn="base" hangingPunct="1"/>
            <a:endParaRPr lang="zh-CN" altLang="en-US" strike="noStrike" noProof="1" dirty="0"/>
          </a:p>
        </p:txBody>
      </p:sp>
      <p:sp>
        <p:nvSpPr>
          <p:cNvPr id="3" name="页脚占位符 2"/>
          <p:cNvSpPr>
            <a:spLocks noGrp="1"/>
          </p:cNvSpPr>
          <p:nvPr>
            <p:ph type="ftr" sz="quarter" idx="11"/>
          </p:nvPr>
        </p:nvSpPr>
        <p:spPr/>
        <p:txBody>
          <a:bodyPr/>
          <a:p>
            <a:pPr lvl="0" eaLnBrk="1" fontAlgn="base" hangingPunct="1"/>
            <a:endParaRPr lang="zh-CN" altLang="en-US" strike="noStrike" noProof="1" dirty="0"/>
          </a:p>
        </p:txBody>
      </p:sp>
      <p:sp>
        <p:nvSpPr>
          <p:cNvPr id="4" name="灯片编号占位符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Garamond" panose="02020404030301010803" pitchFamily="18"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eaLnBrk="1" fontAlgn="base" hangingPunct="1"/>
            <a:endParaRPr lang="zh-CN" altLang="en-US" strike="noStrike" noProof="1" dirty="0"/>
          </a:p>
        </p:txBody>
      </p:sp>
      <p:sp>
        <p:nvSpPr>
          <p:cNvPr id="6" name="页脚占位符 5"/>
          <p:cNvSpPr>
            <a:spLocks noGrp="1"/>
          </p:cNvSpPr>
          <p:nvPr>
            <p:ph type="ftr" sz="quarter" idx="11"/>
          </p:nvPr>
        </p:nvSpPr>
        <p:spPr/>
        <p:txBody>
          <a:bodyPr/>
          <a:p>
            <a:pPr lvl="0" eaLnBrk="1" fontAlgn="base" hangingPunct="1"/>
            <a:endParaRPr lang="zh-CN" altLang="en-US" strike="noStrike" noProof="1" dirty="0"/>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Garamond" panose="02020404030301010803" pitchFamily="18"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eaLnBrk="1" fontAlgn="base" hangingPunct="1"/>
            <a:endParaRPr lang="zh-CN" altLang="en-US" strike="noStrike" noProof="1" dirty="0"/>
          </a:p>
        </p:txBody>
      </p:sp>
      <p:sp>
        <p:nvSpPr>
          <p:cNvPr id="6" name="页脚占位符 5"/>
          <p:cNvSpPr>
            <a:spLocks noGrp="1"/>
          </p:cNvSpPr>
          <p:nvPr>
            <p:ph type="ftr" sz="quarter" idx="11"/>
          </p:nvPr>
        </p:nvSpPr>
        <p:spPr/>
        <p:txBody>
          <a:bodyPr/>
          <a:p>
            <a:pPr lvl="0" eaLnBrk="1" fontAlgn="base" hangingPunct="1"/>
            <a:endParaRPr lang="zh-CN" altLang="en-US" strike="noStrike" noProof="1" dirty="0"/>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Garamond" panose="02020404030301010803" pitchFamily="18"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eaLnBrk="1" fontAlgn="base" hangingPunct="1"/>
            <a:endParaRPr lang="zh-CN" altLang="en-US" strike="noStrike" noProof="1" dirty="0"/>
          </a:p>
        </p:txBody>
      </p:sp>
      <p:sp>
        <p:nvSpPr>
          <p:cNvPr id="5" name="页脚占位符 4"/>
          <p:cNvSpPr>
            <a:spLocks noGrp="1"/>
          </p:cNvSpPr>
          <p:nvPr>
            <p:ph type="ftr" sz="quarter" idx="11"/>
          </p:nvPr>
        </p:nvSpPr>
        <p:spPr/>
        <p:txBody>
          <a:bodyPr/>
          <a:p>
            <a:pPr lvl="0" eaLnBrk="1" fontAlgn="base" hangingPunct="1"/>
            <a:endParaRPr lang="zh-CN" altLang="en-US" strike="noStrike" noProof="1" dirty="0"/>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Garamond" panose="02020404030301010803" pitchFamily="18"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50313" y="549275"/>
            <a:ext cx="2746904" cy="5581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549275"/>
            <a:ext cx="8081472" cy="5581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eaLnBrk="1" fontAlgn="base" hangingPunct="1"/>
            <a:endParaRPr lang="zh-CN" altLang="en-US" strike="noStrike" noProof="1" dirty="0"/>
          </a:p>
        </p:txBody>
      </p:sp>
      <p:sp>
        <p:nvSpPr>
          <p:cNvPr id="5" name="页脚占位符 4"/>
          <p:cNvSpPr>
            <a:spLocks noGrp="1"/>
          </p:cNvSpPr>
          <p:nvPr>
            <p:ph type="ftr" sz="quarter" idx="11"/>
          </p:nvPr>
        </p:nvSpPr>
        <p:spPr/>
        <p:txBody>
          <a:bodyPr/>
          <a:p>
            <a:pPr lvl="0" eaLnBrk="1" fontAlgn="base" hangingPunct="1"/>
            <a:endParaRPr lang="zh-CN" altLang="en-US" strike="noStrike" noProof="1" dirty="0"/>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Garamond" panose="02020404030301010803" pitchFamily="18"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a:p>
        </p:txBody>
      </p:sp>
      <p:sp>
        <p:nvSpPr>
          <p:cNvPr id="6" name="页脚占位符 5"/>
          <p:cNvSpPr>
            <a:spLocks noGrp="1"/>
          </p:cNvSpPr>
          <p:nvPr>
            <p:ph type="ftr" sz="quarter" idx="11"/>
          </p:nvPr>
        </p:nvSpPr>
        <p:spPr/>
        <p:txBody>
          <a:bodyPr/>
          <a:lstStyle/>
          <a:p>
            <a:pPr lvl="0"/>
            <a:endParaRPr lang="zh-CN" altLang="en-US"/>
          </a:p>
        </p:txBody>
      </p:sp>
      <p:sp>
        <p:nvSpPr>
          <p:cNvPr id="7" name="灯片编号占位符 6"/>
          <p:cNvSpPr>
            <a:spLocks noGrp="1"/>
          </p:cNvSpPr>
          <p:nvPr>
            <p:ph type="sldNum" sz="quarter" idx="12"/>
          </p:nvPr>
        </p:nvSpPr>
        <p:spPr/>
        <p:txBody>
          <a:bodyPr/>
          <a:lstStyle/>
          <a:p>
            <a:pPr lvl="0"/>
            <a:fld id="{9A0DB2DC-4C9A-4742-B13C-FB6460FD3503}" type="slidenum">
              <a:rPr lang="zh-CN" altLang="en-US"/>
            </a:fld>
            <a:endParaRPr lang="zh-CN" altLang="en-US"/>
          </a:p>
        </p:txBody>
      </p:sp>
    </p:spTree>
  </p:cSld>
  <p:clrMapOvr>
    <a:masterClrMapping/>
  </p:clrMapOvr>
  <p:transition>
    <p:pull dir="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5" name="页脚占位符 4"/>
          <p:cNvSpPr>
            <a:spLocks noGrp="1"/>
          </p:cNvSpPr>
          <p:nvPr>
            <p:ph type="ftr" sz="quarter" idx="11"/>
          </p:nvPr>
        </p:nvSpPr>
        <p:spPr/>
        <p:txBody>
          <a:bodyPr/>
          <a:p>
            <a:pPr lvl="0" algn="ctr"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6" name="灯片编号占位符 5"/>
          <p:cNvSpPr>
            <a:spLocks noGrp="1"/>
          </p:cNvSpPr>
          <p:nvPr>
            <p:ph type="sldNum" sz="quarter" idx="12"/>
          </p:nvPr>
        </p:nvSpPr>
        <p:spPr/>
        <p:txBody>
          <a:bodyPr/>
          <a:p>
            <a:pPr lvl="0" algn="r" fontAlgn="base"/>
            <a:fld id="{9A0DB2DC-4C9A-4742-B13C-FB6460FD3503}" type="slidenum">
              <a:rPr lang="zh-CN" altLang="en-US" sz="1200" b="0" strike="noStrike" noProof="1" dirty="0">
                <a:latin typeface="Garamond" panose="02020404030301010803" pitchFamily="18" charset="0"/>
                <a:ea typeface="华文新魏" panose="02010800040101010101" pitchFamily="2" charset="-122"/>
                <a:cs typeface="+mn-ea"/>
              </a:rPr>
            </a:fld>
            <a:endParaRPr lang="zh-CN" altLang="en-US" sz="1200" b="0" strike="noStrike" noProof="1" dirty="0">
              <a:latin typeface="Garamond" panose="02020404030301010803" pitchFamily="18" charset="0"/>
              <a:ea typeface="华文新魏" panose="02010800040101010101" pitchFamily="2"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5" name="页脚占位符 4"/>
          <p:cNvSpPr>
            <a:spLocks noGrp="1"/>
          </p:cNvSpPr>
          <p:nvPr>
            <p:ph type="ftr" sz="quarter" idx="11"/>
          </p:nvPr>
        </p:nvSpPr>
        <p:spPr/>
        <p:txBody>
          <a:bodyPr/>
          <a:p>
            <a:pPr lvl="0" algn="ctr"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6" name="灯片编号占位符 5"/>
          <p:cNvSpPr>
            <a:spLocks noGrp="1"/>
          </p:cNvSpPr>
          <p:nvPr>
            <p:ph type="sldNum" sz="quarter" idx="12"/>
          </p:nvPr>
        </p:nvSpPr>
        <p:spPr/>
        <p:txBody>
          <a:bodyPr/>
          <a:p>
            <a:pPr lvl="0" algn="r" fontAlgn="base"/>
            <a:fld id="{9A0DB2DC-4C9A-4742-B13C-FB6460FD3503}" type="slidenum">
              <a:rPr lang="zh-CN" altLang="en-US" sz="1200" b="0" strike="noStrike" noProof="1" dirty="0">
                <a:latin typeface="Garamond" panose="02020404030301010803" pitchFamily="18" charset="0"/>
                <a:ea typeface="华文新魏" panose="02010800040101010101" pitchFamily="2" charset="-122"/>
                <a:cs typeface="+mn-ea"/>
              </a:rPr>
            </a:fld>
            <a:endParaRPr lang="zh-CN" altLang="en-US" sz="1200" b="0" strike="noStrike" noProof="1" dirty="0">
              <a:latin typeface="Garamond" panose="02020404030301010803" pitchFamily="18" charset="0"/>
              <a:ea typeface="华文新魏" panose="02010800040101010101" pitchFamily="2"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5" name="页脚占位符 4"/>
          <p:cNvSpPr>
            <a:spLocks noGrp="1"/>
          </p:cNvSpPr>
          <p:nvPr>
            <p:ph type="ftr" sz="quarter" idx="11"/>
          </p:nvPr>
        </p:nvSpPr>
        <p:spPr/>
        <p:txBody>
          <a:bodyPr/>
          <a:p>
            <a:pPr lvl="0" algn="ctr"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6" name="灯片编号占位符 5"/>
          <p:cNvSpPr>
            <a:spLocks noGrp="1"/>
          </p:cNvSpPr>
          <p:nvPr>
            <p:ph type="sldNum" sz="quarter" idx="12"/>
          </p:nvPr>
        </p:nvSpPr>
        <p:spPr/>
        <p:txBody>
          <a:bodyPr/>
          <a:p>
            <a:pPr lvl="0" algn="r" fontAlgn="base"/>
            <a:fld id="{9A0DB2DC-4C9A-4742-B13C-FB6460FD3503}" type="slidenum">
              <a:rPr lang="zh-CN" altLang="en-US" sz="1200" b="0" strike="noStrike" noProof="1" dirty="0">
                <a:latin typeface="Garamond" panose="02020404030301010803" pitchFamily="18" charset="0"/>
                <a:ea typeface="华文新魏" panose="02010800040101010101" pitchFamily="2" charset="-122"/>
                <a:cs typeface="+mn-ea"/>
              </a:rPr>
            </a:fld>
            <a:endParaRPr lang="zh-CN" altLang="en-US" sz="1200" b="0" strike="noStrike" noProof="1" dirty="0">
              <a:latin typeface="Garamond" panose="02020404030301010803" pitchFamily="18" charset="0"/>
              <a:ea typeface="华文新魏" panose="02010800040101010101" pitchFamily="2"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412875"/>
            <a:ext cx="5376672" cy="47180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205728" y="1412875"/>
            <a:ext cx="5376672" cy="47180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6" name="页脚占位符 5"/>
          <p:cNvSpPr>
            <a:spLocks noGrp="1"/>
          </p:cNvSpPr>
          <p:nvPr>
            <p:ph type="ftr" sz="quarter" idx="11"/>
          </p:nvPr>
        </p:nvSpPr>
        <p:spPr/>
        <p:txBody>
          <a:bodyPr/>
          <a:p>
            <a:pPr lvl="0" algn="ctr"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7" name="灯片编号占位符 6"/>
          <p:cNvSpPr>
            <a:spLocks noGrp="1"/>
          </p:cNvSpPr>
          <p:nvPr>
            <p:ph type="sldNum" sz="quarter" idx="12"/>
          </p:nvPr>
        </p:nvSpPr>
        <p:spPr/>
        <p:txBody>
          <a:bodyPr/>
          <a:p>
            <a:pPr lvl="0" algn="r" fontAlgn="base"/>
            <a:fld id="{9A0DB2DC-4C9A-4742-B13C-FB6460FD3503}" type="slidenum">
              <a:rPr lang="zh-CN" altLang="en-US" sz="1200" b="0" strike="noStrike" noProof="1" dirty="0">
                <a:latin typeface="Garamond" panose="02020404030301010803" pitchFamily="18" charset="0"/>
                <a:ea typeface="华文新魏" panose="02010800040101010101" pitchFamily="2" charset="-122"/>
                <a:cs typeface="+mn-ea"/>
              </a:rPr>
            </a:fld>
            <a:endParaRPr lang="zh-CN" altLang="en-US" sz="1200" b="0" strike="noStrike" noProof="1" dirty="0">
              <a:latin typeface="Garamond" panose="02020404030301010803" pitchFamily="18" charset="0"/>
              <a:ea typeface="华文新魏" panose="02010800040101010101" pitchFamily="2"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1186775" y="2665379"/>
            <a:ext cx="4873575"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256939" y="2665379"/>
            <a:ext cx="4897576"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8" name="页脚占位符 7"/>
          <p:cNvSpPr>
            <a:spLocks noGrp="1"/>
          </p:cNvSpPr>
          <p:nvPr>
            <p:ph type="ftr" sz="quarter" idx="11"/>
          </p:nvPr>
        </p:nvSpPr>
        <p:spPr/>
        <p:txBody>
          <a:bodyPr/>
          <a:p>
            <a:pPr lvl="0" algn="ctr"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9" name="灯片编号占位符 8"/>
          <p:cNvSpPr>
            <a:spLocks noGrp="1"/>
          </p:cNvSpPr>
          <p:nvPr>
            <p:ph type="sldNum" sz="quarter" idx="12"/>
          </p:nvPr>
        </p:nvSpPr>
        <p:spPr/>
        <p:txBody>
          <a:bodyPr/>
          <a:p>
            <a:pPr lvl="0" algn="r" fontAlgn="base"/>
            <a:fld id="{9A0DB2DC-4C9A-4742-B13C-FB6460FD3503}" type="slidenum">
              <a:rPr lang="zh-CN" altLang="en-US" sz="1200" b="0" strike="noStrike" noProof="1" dirty="0">
                <a:latin typeface="Garamond" panose="02020404030301010803" pitchFamily="18" charset="0"/>
                <a:ea typeface="华文新魏" panose="02010800040101010101" pitchFamily="2" charset="-122"/>
                <a:cs typeface="+mn-ea"/>
              </a:rPr>
            </a:fld>
            <a:endParaRPr lang="zh-CN" altLang="en-US" sz="1200" b="0" strike="noStrike" noProof="1" dirty="0">
              <a:latin typeface="Garamond" panose="02020404030301010803" pitchFamily="18" charset="0"/>
              <a:ea typeface="华文新魏" panose="02010800040101010101" pitchFamily="2"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4" name="页脚占位符 3"/>
          <p:cNvSpPr>
            <a:spLocks noGrp="1"/>
          </p:cNvSpPr>
          <p:nvPr>
            <p:ph type="ftr" sz="quarter" idx="11"/>
          </p:nvPr>
        </p:nvSpPr>
        <p:spPr/>
        <p:txBody>
          <a:bodyPr/>
          <a:p>
            <a:pPr lvl="0" algn="ctr"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5" name="灯片编号占位符 4"/>
          <p:cNvSpPr>
            <a:spLocks noGrp="1"/>
          </p:cNvSpPr>
          <p:nvPr>
            <p:ph type="sldNum" sz="quarter" idx="12"/>
          </p:nvPr>
        </p:nvSpPr>
        <p:spPr/>
        <p:txBody>
          <a:bodyPr/>
          <a:p>
            <a:pPr lvl="0" algn="r" fontAlgn="base"/>
            <a:fld id="{9A0DB2DC-4C9A-4742-B13C-FB6460FD3503}" type="slidenum">
              <a:rPr lang="zh-CN" altLang="en-US" sz="1200" b="0" strike="noStrike" noProof="1" dirty="0">
                <a:latin typeface="Garamond" panose="02020404030301010803" pitchFamily="18" charset="0"/>
                <a:ea typeface="华文新魏" panose="02010800040101010101" pitchFamily="2" charset="-122"/>
                <a:cs typeface="+mn-ea"/>
              </a:rPr>
            </a:fld>
            <a:endParaRPr lang="zh-CN" altLang="en-US" sz="1200" b="0" strike="noStrike" noProof="1" dirty="0">
              <a:latin typeface="Garamond" panose="02020404030301010803" pitchFamily="18" charset="0"/>
              <a:ea typeface="华文新魏" panose="02010800040101010101" pitchFamily="2"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3" name="页脚占位符 2"/>
          <p:cNvSpPr>
            <a:spLocks noGrp="1"/>
          </p:cNvSpPr>
          <p:nvPr>
            <p:ph type="ftr" sz="quarter" idx="11"/>
          </p:nvPr>
        </p:nvSpPr>
        <p:spPr/>
        <p:txBody>
          <a:bodyPr/>
          <a:p>
            <a:pPr lvl="0" algn="ctr"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4" name="灯片编号占位符 3"/>
          <p:cNvSpPr>
            <a:spLocks noGrp="1"/>
          </p:cNvSpPr>
          <p:nvPr>
            <p:ph type="sldNum" sz="quarter" idx="12"/>
          </p:nvPr>
        </p:nvSpPr>
        <p:spPr/>
        <p:txBody>
          <a:bodyPr/>
          <a:p>
            <a:pPr lvl="0" algn="r" fontAlgn="base"/>
            <a:fld id="{9A0DB2DC-4C9A-4742-B13C-FB6460FD3503}" type="slidenum">
              <a:rPr lang="zh-CN" altLang="en-US" sz="1200" b="0" strike="noStrike" noProof="1" dirty="0">
                <a:latin typeface="Garamond" panose="02020404030301010803" pitchFamily="18" charset="0"/>
                <a:ea typeface="华文新魏" panose="02010800040101010101" pitchFamily="2" charset="-122"/>
                <a:cs typeface="+mn-ea"/>
              </a:rPr>
            </a:fld>
            <a:endParaRPr lang="zh-CN" altLang="en-US" sz="1200" b="0" strike="noStrike" noProof="1" dirty="0">
              <a:latin typeface="Garamond" panose="02020404030301010803" pitchFamily="18" charset="0"/>
              <a:ea typeface="华文新魏" panose="02010800040101010101" pitchFamily="2"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6" name="页脚占位符 5"/>
          <p:cNvSpPr>
            <a:spLocks noGrp="1"/>
          </p:cNvSpPr>
          <p:nvPr>
            <p:ph type="ftr" sz="quarter" idx="11"/>
          </p:nvPr>
        </p:nvSpPr>
        <p:spPr/>
        <p:txBody>
          <a:bodyPr/>
          <a:p>
            <a:pPr lvl="0" algn="ctr"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7" name="灯片编号占位符 6"/>
          <p:cNvSpPr>
            <a:spLocks noGrp="1"/>
          </p:cNvSpPr>
          <p:nvPr>
            <p:ph type="sldNum" sz="quarter" idx="12"/>
          </p:nvPr>
        </p:nvSpPr>
        <p:spPr/>
        <p:txBody>
          <a:bodyPr/>
          <a:p>
            <a:pPr lvl="0" algn="r" fontAlgn="base"/>
            <a:fld id="{9A0DB2DC-4C9A-4742-B13C-FB6460FD3503}" type="slidenum">
              <a:rPr lang="zh-CN" altLang="en-US" sz="1200" b="0" strike="noStrike" noProof="1" dirty="0">
                <a:latin typeface="Garamond" panose="02020404030301010803" pitchFamily="18" charset="0"/>
                <a:ea typeface="华文新魏" panose="02010800040101010101" pitchFamily="2" charset="-122"/>
                <a:cs typeface="+mn-ea"/>
              </a:rPr>
            </a:fld>
            <a:endParaRPr lang="zh-CN" altLang="en-US" sz="1200" b="0" strike="noStrike" noProof="1" dirty="0">
              <a:latin typeface="Garamond" panose="02020404030301010803" pitchFamily="18" charset="0"/>
              <a:ea typeface="华文新魏" panose="02010800040101010101" pitchFamily="2"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6" name="页脚占位符 5"/>
          <p:cNvSpPr>
            <a:spLocks noGrp="1"/>
          </p:cNvSpPr>
          <p:nvPr>
            <p:ph type="ftr" sz="quarter" idx="11"/>
          </p:nvPr>
        </p:nvSpPr>
        <p:spPr/>
        <p:txBody>
          <a:bodyPr/>
          <a:p>
            <a:pPr lvl="0" algn="ctr"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7" name="灯片编号占位符 6"/>
          <p:cNvSpPr>
            <a:spLocks noGrp="1"/>
          </p:cNvSpPr>
          <p:nvPr>
            <p:ph type="sldNum" sz="quarter" idx="12"/>
          </p:nvPr>
        </p:nvSpPr>
        <p:spPr/>
        <p:txBody>
          <a:bodyPr/>
          <a:p>
            <a:pPr lvl="0" algn="r" fontAlgn="base"/>
            <a:fld id="{9A0DB2DC-4C9A-4742-B13C-FB6460FD3503}" type="slidenum">
              <a:rPr lang="zh-CN" altLang="en-US" sz="1200" b="0" strike="noStrike" noProof="1" dirty="0">
                <a:latin typeface="Garamond" panose="02020404030301010803" pitchFamily="18" charset="0"/>
                <a:ea typeface="华文新魏" panose="02010800040101010101" pitchFamily="2" charset="-122"/>
                <a:cs typeface="+mn-ea"/>
              </a:rPr>
            </a:fld>
            <a:endParaRPr lang="zh-CN" altLang="en-US" sz="1200" b="0" strike="noStrike" noProof="1" dirty="0">
              <a:latin typeface="Garamond" panose="02020404030301010803" pitchFamily="18" charset="0"/>
              <a:ea typeface="华文新魏" panose="02010800040101010101" pitchFamily="2"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5" name="页脚占位符 4"/>
          <p:cNvSpPr>
            <a:spLocks noGrp="1"/>
          </p:cNvSpPr>
          <p:nvPr>
            <p:ph type="ftr" sz="quarter" idx="11"/>
          </p:nvPr>
        </p:nvSpPr>
        <p:spPr/>
        <p:txBody>
          <a:bodyPr/>
          <a:p>
            <a:pPr lvl="0" algn="ctr"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6" name="灯片编号占位符 5"/>
          <p:cNvSpPr>
            <a:spLocks noGrp="1"/>
          </p:cNvSpPr>
          <p:nvPr>
            <p:ph type="sldNum" sz="quarter" idx="12"/>
          </p:nvPr>
        </p:nvSpPr>
        <p:spPr/>
        <p:txBody>
          <a:bodyPr/>
          <a:p>
            <a:pPr lvl="0" algn="r" fontAlgn="base"/>
            <a:fld id="{9A0DB2DC-4C9A-4742-B13C-FB6460FD3503}" type="slidenum">
              <a:rPr lang="zh-CN" altLang="en-US" sz="1200" b="0" strike="noStrike" noProof="1" dirty="0">
                <a:latin typeface="Garamond" panose="02020404030301010803" pitchFamily="18" charset="0"/>
                <a:ea typeface="华文新魏" panose="02010800040101010101" pitchFamily="2" charset="-122"/>
                <a:cs typeface="+mn-ea"/>
              </a:rPr>
            </a:fld>
            <a:endParaRPr lang="zh-CN" altLang="en-US" sz="1200" b="0" strike="noStrike" noProof="1" dirty="0">
              <a:latin typeface="Garamond" panose="02020404030301010803" pitchFamily="18" charset="0"/>
              <a:ea typeface="华文新魏" panose="02010800040101010101" pitchFamily="2"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50313" y="549275"/>
            <a:ext cx="2746904" cy="55816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549275"/>
            <a:ext cx="8081472" cy="55816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5" name="页脚占位符 4"/>
          <p:cNvSpPr>
            <a:spLocks noGrp="1"/>
          </p:cNvSpPr>
          <p:nvPr>
            <p:ph type="ftr" sz="quarter" idx="11"/>
          </p:nvPr>
        </p:nvSpPr>
        <p:spPr/>
        <p:txBody>
          <a:bodyPr/>
          <a:p>
            <a:pPr lvl="0" algn="ctr"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6" name="灯片编号占位符 5"/>
          <p:cNvSpPr>
            <a:spLocks noGrp="1"/>
          </p:cNvSpPr>
          <p:nvPr>
            <p:ph type="sldNum" sz="quarter" idx="12"/>
          </p:nvPr>
        </p:nvSpPr>
        <p:spPr/>
        <p:txBody>
          <a:bodyPr/>
          <a:p>
            <a:pPr lvl="0" algn="r" fontAlgn="base"/>
            <a:fld id="{9A0DB2DC-4C9A-4742-B13C-FB6460FD3503}" type="slidenum">
              <a:rPr lang="zh-CN" altLang="en-US" sz="1200" b="0" strike="noStrike" noProof="1" dirty="0">
                <a:latin typeface="Garamond" panose="02020404030301010803" pitchFamily="18" charset="0"/>
                <a:ea typeface="华文新魏" panose="02010800040101010101" pitchFamily="2" charset="-122"/>
                <a:cs typeface="+mn-ea"/>
              </a:rPr>
            </a:fld>
            <a:endParaRPr lang="zh-CN" altLang="en-US" sz="1200" b="0" strike="noStrike" noProof="1" dirty="0">
              <a:latin typeface="Garamond" panose="02020404030301010803" pitchFamily="18" charset="0"/>
              <a:ea typeface="华文新魏" panose="02010800040101010101" pitchFamily="2"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image" Target="../media/image2.pn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1" Type="http://schemas.openxmlformats.org/officeDocument/2006/relationships/theme" Target="../theme/theme3.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1" Type="http://schemas.openxmlformats.org/officeDocument/2006/relationships/theme" Target="../theme/theme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2.xml"/><Relationship Id="rId8" Type="http://schemas.openxmlformats.org/officeDocument/2006/relationships/slideLayout" Target="../slideLayouts/slideLayout51.xml"/><Relationship Id="rId7" Type="http://schemas.openxmlformats.org/officeDocument/2006/relationships/slideLayout" Target="../slideLayouts/slideLayout50.xml"/><Relationship Id="rId6" Type="http://schemas.openxmlformats.org/officeDocument/2006/relationships/slideLayout" Target="../slideLayouts/slideLayout49.xml"/><Relationship Id="rId5" Type="http://schemas.openxmlformats.org/officeDocument/2006/relationships/slideLayout" Target="../slideLayouts/slideLayout48.xml"/><Relationship Id="rId4" Type="http://schemas.openxmlformats.org/officeDocument/2006/relationships/slideLayout" Target="../slideLayouts/slideLayout47.xml"/><Relationship Id="rId3" Type="http://schemas.openxmlformats.org/officeDocument/2006/relationships/slideLayout" Target="../slideLayouts/slideLayout46.xml"/><Relationship Id="rId2" Type="http://schemas.openxmlformats.org/officeDocument/2006/relationships/slideLayout" Target="../slideLayouts/slideLayout45.xml"/><Relationship Id="rId12" Type="http://schemas.openxmlformats.org/officeDocument/2006/relationships/theme" Target="../theme/theme5.xml"/><Relationship Id="rId11" Type="http://schemas.openxmlformats.org/officeDocument/2006/relationships/slideLayout" Target="../slideLayouts/slideLayout54.xml"/><Relationship Id="rId10" Type="http://schemas.openxmlformats.org/officeDocument/2006/relationships/slideLayout" Target="../slideLayouts/slideLayout53.xml"/><Relationship Id="rId1" Type="http://schemas.openxmlformats.org/officeDocument/2006/relationships/slideLayout" Target="../slideLayouts/slideLayout44.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3.xml"/><Relationship Id="rId8" Type="http://schemas.openxmlformats.org/officeDocument/2006/relationships/slideLayout" Target="../slideLayouts/slideLayout62.xml"/><Relationship Id="rId7" Type="http://schemas.openxmlformats.org/officeDocument/2006/relationships/slideLayout" Target="../slideLayouts/slideLayout61.xml"/><Relationship Id="rId6" Type="http://schemas.openxmlformats.org/officeDocument/2006/relationships/slideLayout" Target="../slideLayouts/slideLayout60.xml"/><Relationship Id="rId5" Type="http://schemas.openxmlformats.org/officeDocument/2006/relationships/slideLayout" Target="../slideLayouts/slideLayout59.xml"/><Relationship Id="rId4" Type="http://schemas.openxmlformats.org/officeDocument/2006/relationships/slideLayout" Target="../slideLayouts/slideLayout58.xml"/><Relationship Id="rId3" Type="http://schemas.openxmlformats.org/officeDocument/2006/relationships/slideLayout" Target="../slideLayouts/slideLayout57.xml"/><Relationship Id="rId2" Type="http://schemas.openxmlformats.org/officeDocument/2006/relationships/slideLayout" Target="../slideLayouts/slideLayout56.xml"/><Relationship Id="rId12" Type="http://schemas.openxmlformats.org/officeDocument/2006/relationships/theme" Target="../theme/theme6.xml"/><Relationship Id="rId11" Type="http://schemas.openxmlformats.org/officeDocument/2006/relationships/slideLayout" Target="../slideLayouts/slideLayout65.xml"/><Relationship Id="rId10" Type="http://schemas.openxmlformats.org/officeDocument/2006/relationships/slideLayout" Target="../slideLayouts/slideLayout64.xml"/><Relationship Id="rId1"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624417" y="549275"/>
            <a:ext cx="10972800" cy="647700"/>
          </a:xfrm>
          <a:prstGeom prst="rect">
            <a:avLst/>
          </a:prstGeom>
          <a:noFill/>
          <a:ln w="9525">
            <a:noFill/>
          </a:ln>
        </p:spPr>
        <p:txBody>
          <a:bodyPr anchor="t"/>
          <a:p>
            <a:pPr lvl="0" indent="0"/>
            <a:r>
              <a:rPr lang="zh-CN" altLang="en-US"/>
              <a:t>单击此处编辑母版标题样式</a:t>
            </a:r>
            <a:endParaRPr lang="zh-CN" altLang="en-US"/>
          </a:p>
        </p:txBody>
      </p:sp>
      <p:sp>
        <p:nvSpPr>
          <p:cNvPr id="1027" name="Rectangle 3"/>
          <p:cNvSpPr>
            <a:spLocks noGrp="1"/>
          </p:cNvSpPr>
          <p:nvPr>
            <p:ph type="body"/>
          </p:nvPr>
        </p:nvSpPr>
        <p:spPr>
          <a:xfrm>
            <a:off x="609600" y="1412875"/>
            <a:ext cx="10972800" cy="4718050"/>
          </a:xfrm>
          <a:prstGeom prst="rect">
            <a:avLst/>
          </a:prstGeom>
          <a:noFill/>
          <a:ln w="9525">
            <a:noFill/>
          </a:ln>
        </p:spPr>
        <p:txBody>
          <a:bodyPr anchor="t"/>
          <a:p>
            <a:pPr lvl="0" indent="-342900"/>
            <a:r>
              <a:rPr lang="zh-CN" altLang="en-US"/>
              <a:t>单击此处编辑母版文本样式</a:t>
            </a:r>
            <a:endParaRPr lang="zh-CN" altLang="en-US"/>
          </a:p>
          <a:p>
            <a:pPr lvl="1" indent="-325120"/>
            <a:r>
              <a:rPr lang="zh-CN" altLang="en-US"/>
              <a:t>第二级</a:t>
            </a:r>
            <a:endParaRPr lang="zh-CN" altLang="en-US"/>
          </a:p>
          <a:p>
            <a:pPr lvl="2" indent="-350520"/>
            <a:r>
              <a:rPr lang="zh-CN" altLang="en-US"/>
              <a:t>第三级</a:t>
            </a:r>
            <a:endParaRPr lang="zh-CN" altLang="en-US"/>
          </a:p>
          <a:p>
            <a:pPr lvl="3" indent="-315595"/>
            <a:r>
              <a:rPr lang="zh-CN" altLang="en-US"/>
              <a:t>第四级</a:t>
            </a:r>
            <a:endParaRPr lang="zh-CN" altLang="en-US"/>
          </a:p>
          <a:p>
            <a:pPr lvl="4" indent="-339725"/>
            <a:r>
              <a:rPr lang="zh-CN" altLang="en-US"/>
              <a:t>第五级</a:t>
            </a:r>
            <a:endParaRPr lang="zh-CN" altLang="en-US"/>
          </a:p>
        </p:txBody>
      </p:sp>
      <p:sp>
        <p:nvSpPr>
          <p:cNvPr id="1028" name="Rectangle 4"/>
          <p:cNvSpPr>
            <a:spLocks noGrp="1"/>
          </p:cNvSpPr>
          <p:nvPr>
            <p:ph type="dt" sz="half" idx="2"/>
          </p:nvPr>
        </p:nvSpPr>
        <p:spPr>
          <a:xfrm>
            <a:off x="609600" y="6243638"/>
            <a:ext cx="2844800" cy="457200"/>
          </a:xfrm>
          <a:prstGeom prst="rect">
            <a:avLst/>
          </a:prstGeom>
          <a:noFill/>
          <a:ln w="9525">
            <a:noFill/>
          </a:ln>
        </p:spPr>
        <p:txBody>
          <a:bodyPr anchor="b"/>
          <a:lstStyle>
            <a:lvl1pPr>
              <a:defRPr sz="1200" b="0">
                <a:latin typeface="Garamond" panose="02020404030301010803" pitchFamily="18" charset="0"/>
              </a:defRPr>
            </a:lvl1pPr>
          </a:lstStyle>
          <a:p>
            <a:pPr lvl="0" eaLnBrk="1" fontAlgn="base" hangingPunct="1"/>
            <a:endParaRPr lang="zh-CN" altLang="en-US" strike="noStrike" noProof="1" dirty="0"/>
          </a:p>
        </p:txBody>
      </p:sp>
      <p:sp>
        <p:nvSpPr>
          <p:cNvPr id="1029" name="Rectangle 5"/>
          <p:cNvSpPr>
            <a:spLocks noGrp="1"/>
          </p:cNvSpPr>
          <p:nvPr>
            <p:ph type="ftr" sz="quarter" idx="3"/>
          </p:nvPr>
        </p:nvSpPr>
        <p:spPr>
          <a:xfrm>
            <a:off x="4165600" y="6248400"/>
            <a:ext cx="3860800" cy="457200"/>
          </a:xfrm>
          <a:prstGeom prst="rect">
            <a:avLst/>
          </a:prstGeom>
          <a:noFill/>
          <a:ln w="9525">
            <a:noFill/>
          </a:ln>
        </p:spPr>
        <p:txBody>
          <a:bodyPr anchor="b"/>
          <a:lstStyle>
            <a:lvl1pPr algn="ctr">
              <a:defRPr sz="1200" b="0">
                <a:latin typeface="Garamond" panose="02020404030301010803" pitchFamily="18" charset="0"/>
              </a:defRPr>
            </a:lvl1pPr>
          </a:lstStyle>
          <a:p>
            <a:pPr lvl="0" eaLnBrk="1" fontAlgn="base" hangingPunct="1"/>
            <a:endParaRPr lang="zh-CN" altLang="en-US" strike="noStrike" noProof="1" dirty="0"/>
          </a:p>
        </p:txBody>
      </p:sp>
      <p:sp>
        <p:nvSpPr>
          <p:cNvPr id="1030" name="Rectangle 6"/>
          <p:cNvSpPr>
            <a:spLocks noGrp="1"/>
          </p:cNvSpPr>
          <p:nvPr>
            <p:ph type="sldNum" sz="quarter" idx="4"/>
          </p:nvPr>
        </p:nvSpPr>
        <p:spPr>
          <a:xfrm>
            <a:off x="8737600" y="6243638"/>
            <a:ext cx="2844800" cy="457200"/>
          </a:xfrm>
          <a:prstGeom prst="rect">
            <a:avLst/>
          </a:prstGeom>
          <a:noFill/>
          <a:ln w="9525">
            <a:noFill/>
          </a:ln>
        </p:spPr>
        <p:txBody>
          <a:bodyPr anchor="b"/>
          <a:lstStyle>
            <a:lvl1pPr algn="r">
              <a:defRPr sz="1200" b="0">
                <a:latin typeface="Garamond" panose="02020404030301010803" pitchFamily="18" charset="0"/>
              </a:defRPr>
            </a:lvl1pPr>
          </a:lstStyle>
          <a:p>
            <a:pPr lvl="0" eaLnBrk="1" fontAlgn="base" hangingPunct="1"/>
            <a:fld id="{9A0DB2DC-4C9A-4742-B13C-FB6460FD3503}" type="slidenum">
              <a:rPr lang="zh-CN" altLang="en-US" strike="noStrike" noProof="1" dirty="0">
                <a:latin typeface="Garamond" panose="02020404030301010803" pitchFamily="18" charset="0"/>
                <a:ea typeface="宋体" panose="02010600030101010101" pitchFamily="2" charset="-122"/>
                <a:cs typeface="+mn-ea"/>
              </a:rPr>
            </a:fld>
            <a:endParaRPr lang="zh-CN" altLang="en-US" strike="noStrike" noProof="1" dirty="0"/>
          </a:p>
        </p:txBody>
      </p:sp>
      <p:sp>
        <p:nvSpPr>
          <p:cNvPr id="1031" name="未知"/>
          <p:cNvSpPr/>
          <p:nvPr/>
        </p:nvSpPr>
        <p:spPr>
          <a:xfrm>
            <a:off x="527051" y="476250"/>
            <a:ext cx="10972800" cy="104775"/>
          </a:xfrm>
          <a:custGeom>
            <a:avLst/>
            <a:gdLst/>
            <a:ahLst/>
            <a:cxnLst>
              <a:cxn ang="0">
                <a:pos x="0" y="1000"/>
              </a:cxn>
              <a:cxn ang="0">
                <a:pos x="0" y="0"/>
              </a:cxn>
              <a:cxn ang="0">
                <a:pos x="1000" y="0"/>
              </a:cxn>
            </a:cxnLst>
            <a:pathLst>
              <a:path w="1000" h="1000">
                <a:moveTo>
                  <a:pt x="0" y="1000"/>
                </a:moveTo>
                <a:lnTo>
                  <a:pt x="0" y="0"/>
                </a:lnTo>
                <a:lnTo>
                  <a:pt x="1000" y="0"/>
                </a:lnTo>
              </a:path>
            </a:pathLst>
          </a:custGeom>
          <a:noFill/>
          <a:ln w="28575" cap="flat" cmpd="sng">
            <a:solidFill>
              <a:schemeClr val="accent1"/>
            </a:solidFill>
            <a:prstDash val="solid"/>
            <a:round/>
            <a:headEnd type="none" w="med" len="med"/>
            <a:tailEnd type="none" w="med" len="med"/>
          </a:ln>
        </p:spPr>
        <p:txBody>
          <a:bodyPr/>
          <a:p>
            <a:endParaRPr lang="zh-CN" altLang="en-US"/>
          </a:p>
        </p:txBody>
      </p:sp>
      <p:sp>
        <p:nvSpPr>
          <p:cNvPr id="1032" name="Line 8"/>
          <p:cNvSpPr/>
          <p:nvPr/>
        </p:nvSpPr>
        <p:spPr>
          <a:xfrm>
            <a:off x="609600" y="6172200"/>
            <a:ext cx="10972800" cy="0"/>
          </a:xfrm>
          <a:prstGeom prst="line">
            <a:avLst/>
          </a:prstGeom>
          <a:ln w="19050" cap="flat" cmpd="sng">
            <a:solidFill>
              <a:schemeClr val="accent1"/>
            </a:solidFill>
            <a:prstDash val="solid"/>
            <a:round/>
            <a:headEnd type="none" w="med" len="med"/>
            <a:tailEnd type="none" w="med" len="med"/>
          </a:ln>
        </p:spPr>
        <p:txBody>
          <a:bodyPr anchor="t"/>
          <a:p>
            <a:pPr lvl="0" indent="0"/>
            <a:endParaRPr lang="zh-CN" altLang="en-US">
              <a:latin typeface="华文彩云" panose="02010800040101010101" charset="-122"/>
              <a:ea typeface="宋体" panose="02010600030101010101" pitchFamily="2" charset="-122"/>
            </a:endParaRPr>
          </a:p>
        </p:txBody>
      </p:sp>
      <p:pic>
        <p:nvPicPr>
          <p:cNvPr id="1033" name="Picture 9"/>
          <p:cNvPicPr>
            <a:picLocks noChangeAspect="1"/>
          </p:cNvPicPr>
          <p:nvPr userDrawn="1"/>
        </p:nvPicPr>
        <p:blipFill>
          <a:blip r:embed="rId13"/>
          <a:stretch>
            <a:fillRect/>
          </a:stretch>
        </p:blipFill>
        <p:spPr>
          <a:xfrm>
            <a:off x="5223933" y="0"/>
            <a:ext cx="6968067" cy="56673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l" defTabSz="914400" eaLnBrk="0" fontAlgn="base" latinLnBrk="0" hangingPunct="0">
        <a:lnSpc>
          <a:spcPct val="100000"/>
        </a:lnSpc>
        <a:spcBef>
          <a:spcPct val="0"/>
        </a:spcBef>
        <a:spcAft>
          <a:spcPct val="0"/>
        </a:spcAft>
        <a:buNone/>
        <a:defRPr sz="3600" b="1" i="0" u="none" kern="1200" baseline="0">
          <a:solidFill>
            <a:schemeClr val="tx2"/>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n"/>
        <a:defRPr sz="2800" b="1" i="0" u="none" kern="1200" baseline="0">
          <a:solidFill>
            <a:srgbClr val="000066"/>
          </a:solidFill>
          <a:latin typeface="+mn-lt"/>
          <a:ea typeface="+mn-ea"/>
          <a:cs typeface="+mn-cs"/>
        </a:defRPr>
      </a:lvl1pPr>
      <a:lvl2pPr marL="669925" lvl="1" indent="-32512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q"/>
        <a:defRPr sz="2800" b="1" i="0" u="none" kern="1200" baseline="0">
          <a:solidFill>
            <a:srgbClr val="000066"/>
          </a:solidFill>
          <a:latin typeface="+mn-lt"/>
          <a:ea typeface="+mn-ea"/>
          <a:cs typeface="+mn-cs"/>
        </a:defRPr>
      </a:lvl2pPr>
      <a:lvl3pPr marL="1022350" lvl="2" indent="-35052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n"/>
        <a:defRPr sz="2800" b="1" i="0" u="none" kern="1200" baseline="0">
          <a:solidFill>
            <a:srgbClr val="000066"/>
          </a:solidFill>
          <a:latin typeface="+mn-lt"/>
          <a:ea typeface="+mn-ea"/>
          <a:cs typeface="+mn-cs"/>
        </a:defRPr>
      </a:lvl3pPr>
      <a:lvl4pPr marL="1339850" lvl="3" indent="-315595"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q"/>
        <a:defRPr sz="2800" b="1" i="0" u="none" kern="1200" baseline="0">
          <a:solidFill>
            <a:srgbClr val="000066"/>
          </a:solidFill>
          <a:latin typeface="+mn-lt"/>
          <a:ea typeface="+mn-ea"/>
          <a:cs typeface="+mn-cs"/>
        </a:defRPr>
      </a:lvl4pPr>
      <a:lvl5pPr marL="1681480" lvl="4" indent="-339725"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i="0" u="none" kern="1200" baseline="0">
          <a:solidFill>
            <a:srgbClr val="000066"/>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i="0" u="none" kern="1200" baseline="0">
          <a:solidFill>
            <a:srgbClr val="000066"/>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i="0" u="none" kern="1200" baseline="0">
          <a:solidFill>
            <a:srgbClr val="000066"/>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i="0" u="none" kern="1200" baseline="0">
          <a:solidFill>
            <a:srgbClr val="000066"/>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i="0" u="none" kern="1200" baseline="0">
          <a:solidFill>
            <a:srgbClr val="000066"/>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未知"/>
          <p:cNvSpPr/>
          <p:nvPr/>
        </p:nvSpPr>
        <p:spPr>
          <a:xfrm>
            <a:off x="812800" y="1219200"/>
            <a:ext cx="10566400" cy="914400"/>
          </a:xfrm>
          <a:custGeom>
            <a:avLst/>
            <a:gdLst/>
            <a:ahLst/>
            <a:cxnLst>
              <a:cxn ang="0">
                <a:pos x="0" y="1000"/>
              </a:cxn>
              <a:cxn ang="0">
                <a:pos x="0" y="0"/>
              </a:cxn>
              <a:cxn ang="0">
                <a:pos x="1000" y="0"/>
              </a:cxn>
            </a:cxnLst>
            <a:pathLst>
              <a:path w="1000" h="1000">
                <a:moveTo>
                  <a:pt x="0" y="1000"/>
                </a:moveTo>
                <a:lnTo>
                  <a:pt x="0" y="0"/>
                </a:lnTo>
                <a:lnTo>
                  <a:pt x="1000" y="0"/>
                </a:lnTo>
              </a:path>
            </a:pathLst>
          </a:custGeom>
          <a:noFill/>
          <a:ln w="25400" cap="flat" cmpd="sng">
            <a:solidFill>
              <a:schemeClr val="accent1"/>
            </a:solidFill>
            <a:prstDash val="solid"/>
            <a:round/>
            <a:headEnd type="none" w="med" len="med"/>
            <a:tailEnd type="none" w="med" len="med"/>
          </a:ln>
        </p:spPr>
        <p:txBody>
          <a:bodyPr/>
          <a:p>
            <a:endParaRPr lang="zh-CN" altLang="en-US"/>
          </a:p>
        </p:txBody>
      </p:sp>
      <p:sp>
        <p:nvSpPr>
          <p:cNvPr id="3075" name="Line 8"/>
          <p:cNvSpPr/>
          <p:nvPr/>
        </p:nvSpPr>
        <p:spPr>
          <a:xfrm>
            <a:off x="2641600" y="3962400"/>
            <a:ext cx="8682567" cy="0"/>
          </a:xfrm>
          <a:prstGeom prst="line">
            <a:avLst/>
          </a:prstGeom>
          <a:ln w="19050" cap="flat" cmpd="sng">
            <a:solidFill>
              <a:schemeClr val="accent1"/>
            </a:solidFill>
            <a:prstDash val="solid"/>
            <a:round/>
            <a:headEnd type="none" w="med" len="med"/>
            <a:tailEnd type="none" w="med" len="med"/>
          </a:ln>
        </p:spPr>
        <p:txBody>
          <a:bodyPr anchor="t"/>
          <a:p>
            <a:pPr lvl="0" indent="0"/>
            <a:endParaRPr lang="zh-CN" altLang="en-US">
              <a:latin typeface="Times New Roman" panose="02020603050405020304" pitchFamily="18" charset="0"/>
              <a:ea typeface="华文新魏" panose="02010800040101010101" pitchFamily="2" charset="-122"/>
            </a:endParaRPr>
          </a:p>
        </p:txBody>
      </p:sp>
      <p:pic>
        <p:nvPicPr>
          <p:cNvPr id="3076" name="Picture 9"/>
          <p:cNvPicPr>
            <a:picLocks noChangeAspect="1"/>
          </p:cNvPicPr>
          <p:nvPr userDrawn="1"/>
        </p:nvPicPr>
        <p:blipFill>
          <a:blip r:embed="rId12"/>
          <a:stretch>
            <a:fillRect/>
          </a:stretch>
        </p:blipFill>
        <p:spPr>
          <a:xfrm>
            <a:off x="46567" y="44450"/>
            <a:ext cx="6769100" cy="1038225"/>
          </a:xfrm>
          <a:prstGeom prst="rect">
            <a:avLst/>
          </a:prstGeom>
          <a:noFill/>
          <a:ln w="9525">
            <a:noFill/>
          </a:ln>
        </p:spPr>
      </p:pic>
      <p:sp>
        <p:nvSpPr>
          <p:cNvPr id="3077" name="Rectangle 2"/>
          <p:cNvSpPr>
            <a:spLocks noGrp="1"/>
          </p:cNvSpPr>
          <p:nvPr>
            <p:ph type="title"/>
          </p:nvPr>
        </p:nvSpPr>
        <p:spPr>
          <a:xfrm>
            <a:off x="624417" y="549275"/>
            <a:ext cx="10972800" cy="647700"/>
          </a:xfrm>
          <a:prstGeom prst="rect">
            <a:avLst/>
          </a:prstGeom>
          <a:noFill/>
          <a:ln w="9525">
            <a:noFill/>
          </a:ln>
        </p:spPr>
        <p:txBody>
          <a:bodyPr anchor="t"/>
          <a:p>
            <a:pPr lvl="0" indent="0"/>
            <a:r>
              <a:rPr lang="zh-CN" altLang="en-US"/>
              <a:t>单击此处编辑母版标题样式</a:t>
            </a:r>
            <a:endParaRPr lang="zh-CN" altLang="en-US"/>
          </a:p>
        </p:txBody>
      </p:sp>
      <p:sp>
        <p:nvSpPr>
          <p:cNvPr id="3078" name="Rectangle 3"/>
          <p:cNvSpPr>
            <a:spLocks noGrp="1"/>
          </p:cNvSpPr>
          <p:nvPr>
            <p:ph type="body"/>
          </p:nvPr>
        </p:nvSpPr>
        <p:spPr>
          <a:xfrm>
            <a:off x="609600" y="1412875"/>
            <a:ext cx="10972800" cy="4718050"/>
          </a:xfrm>
          <a:prstGeom prst="rect">
            <a:avLst/>
          </a:prstGeom>
          <a:noFill/>
          <a:ln w="9525">
            <a:noFill/>
          </a:ln>
        </p:spPr>
        <p:txBody>
          <a:bodyPr anchor="t"/>
          <a:p>
            <a:pPr lvl="0" indent="-342900"/>
            <a:r>
              <a:rPr lang="zh-CN" altLang="en-US"/>
              <a:t>单击此处编辑母版文本样式</a:t>
            </a:r>
            <a:endParaRPr lang="zh-CN" altLang="en-US"/>
          </a:p>
          <a:p>
            <a:pPr lvl="1" indent="-325120"/>
            <a:r>
              <a:rPr lang="zh-CN" altLang="en-US"/>
              <a:t>第二级</a:t>
            </a:r>
            <a:endParaRPr lang="zh-CN" altLang="en-US"/>
          </a:p>
          <a:p>
            <a:pPr lvl="2" indent="-350520"/>
            <a:r>
              <a:rPr lang="zh-CN" altLang="en-US"/>
              <a:t>第三级</a:t>
            </a:r>
            <a:endParaRPr lang="zh-CN" altLang="en-US"/>
          </a:p>
          <a:p>
            <a:pPr lvl="3" indent="-315595"/>
            <a:r>
              <a:rPr lang="zh-CN" altLang="en-US"/>
              <a:t>第四级</a:t>
            </a:r>
            <a:endParaRPr lang="zh-CN" altLang="en-US"/>
          </a:p>
          <a:p>
            <a:pPr lvl="4" indent="-339725"/>
            <a:r>
              <a:rPr lang="zh-CN" altLang="en-US"/>
              <a:t>第五级</a:t>
            </a:r>
            <a:endParaRPr lang="zh-CN" altLang="en-US"/>
          </a:p>
        </p:txBody>
      </p:sp>
      <p:sp>
        <p:nvSpPr>
          <p:cNvPr id="5127" name="Rectangle 4"/>
          <p:cNvSpPr>
            <a:spLocks noGrp="1"/>
          </p:cNvSpPr>
          <p:nvPr>
            <p:ph type="dt" sz="half" idx="2"/>
          </p:nvPr>
        </p:nvSpPr>
        <p:spPr>
          <a:xfrm>
            <a:off x="609600" y="6243638"/>
            <a:ext cx="2844800" cy="457200"/>
          </a:xfrm>
          <a:prstGeom prst="rect">
            <a:avLst/>
          </a:prstGeom>
          <a:noFill/>
          <a:ln w="9525">
            <a:noFill/>
          </a:ln>
        </p:spPr>
        <p:txBody>
          <a:bodyPr anchor="b"/>
          <a:p>
            <a:pPr lvl="0"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5128" name="Rectangle 5"/>
          <p:cNvSpPr>
            <a:spLocks noGrp="1"/>
          </p:cNvSpPr>
          <p:nvPr>
            <p:ph type="ftr" sz="quarter" idx="3"/>
          </p:nvPr>
        </p:nvSpPr>
        <p:spPr>
          <a:xfrm>
            <a:off x="4165600" y="6243638"/>
            <a:ext cx="3860800" cy="457200"/>
          </a:xfrm>
          <a:prstGeom prst="rect">
            <a:avLst/>
          </a:prstGeom>
          <a:noFill/>
          <a:ln w="9525">
            <a:noFill/>
          </a:ln>
        </p:spPr>
        <p:txBody>
          <a:bodyPr anchor="b"/>
          <a:p>
            <a:pPr lvl="0" algn="ctr" fontAlgn="base"/>
            <a:endParaRPr lang="zh-CN" altLang="en-US" sz="1200" b="0" strike="noStrike" noProof="1" dirty="0">
              <a:latin typeface="Garamond" panose="02020404030301010803" pitchFamily="18" charset="0"/>
              <a:ea typeface="华文新魏" panose="02010800040101010101" pitchFamily="2" charset="-122"/>
            </a:endParaRPr>
          </a:p>
        </p:txBody>
      </p:sp>
      <p:sp>
        <p:nvSpPr>
          <p:cNvPr id="5129" name="Rectangle 6"/>
          <p:cNvSpPr>
            <a:spLocks noGrp="1"/>
          </p:cNvSpPr>
          <p:nvPr>
            <p:ph type="sldNum" sz="quarter" idx="4"/>
          </p:nvPr>
        </p:nvSpPr>
        <p:spPr>
          <a:xfrm>
            <a:off x="8737600" y="6243638"/>
            <a:ext cx="2844800" cy="457200"/>
          </a:xfrm>
          <a:prstGeom prst="rect">
            <a:avLst/>
          </a:prstGeom>
          <a:noFill/>
          <a:ln w="9525">
            <a:noFill/>
          </a:ln>
        </p:spPr>
        <p:txBody>
          <a:bodyPr anchor="b"/>
          <a:p>
            <a:pPr lvl="0" algn="r" fontAlgn="base"/>
            <a:fld id="{9A0DB2DC-4C9A-4742-B13C-FB6460FD3503}" type="slidenum">
              <a:rPr lang="zh-CN" altLang="en-US" sz="1200" b="0" strike="noStrike" noProof="1" dirty="0">
                <a:latin typeface="Garamond" panose="02020404030301010803" pitchFamily="18" charset="0"/>
                <a:ea typeface="华文新魏" panose="02010800040101010101" pitchFamily="2" charset="-122"/>
                <a:cs typeface="+mn-ea"/>
              </a:rPr>
            </a:fld>
            <a:endParaRPr lang="zh-CN" altLang="en-US" sz="1200" b="0" strike="noStrike" noProof="1" dirty="0">
              <a:latin typeface="Garamond" panose="02020404030301010803" pitchFamily="18" charset="0"/>
              <a:ea typeface="华文新魏" panose="02010800040101010101" pitchFamily="2" charset="-122"/>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marL="0" lvl="0" indent="0" algn="l" defTabSz="914400" eaLnBrk="0" fontAlgn="base" latinLnBrk="0" hangingPunct="0">
        <a:lnSpc>
          <a:spcPct val="100000"/>
        </a:lnSpc>
        <a:spcBef>
          <a:spcPct val="0"/>
        </a:spcBef>
        <a:spcAft>
          <a:spcPct val="0"/>
        </a:spcAft>
        <a:buNone/>
        <a:defRPr sz="3600" b="1" i="0" u="none" kern="1200" baseline="0">
          <a:solidFill>
            <a:schemeClr val="tx2"/>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n"/>
        <a:defRPr sz="2800" b="1" i="0" u="none" kern="1200" baseline="0">
          <a:solidFill>
            <a:srgbClr val="000066"/>
          </a:solidFill>
          <a:latin typeface="+mn-lt"/>
          <a:ea typeface="+mn-ea"/>
          <a:cs typeface="+mn-cs"/>
        </a:defRPr>
      </a:lvl1pPr>
      <a:lvl2pPr marL="669925" lvl="1" indent="-32512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q"/>
        <a:defRPr sz="2800" b="1" i="0" u="none" kern="1200" baseline="0">
          <a:solidFill>
            <a:srgbClr val="000066"/>
          </a:solidFill>
          <a:latin typeface="+mn-lt"/>
          <a:ea typeface="+mn-ea"/>
          <a:cs typeface="+mn-cs"/>
        </a:defRPr>
      </a:lvl2pPr>
      <a:lvl3pPr marL="1022350" lvl="2" indent="-35052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n"/>
        <a:defRPr sz="2800" b="1" i="0" u="none" kern="1200" baseline="0">
          <a:solidFill>
            <a:srgbClr val="000066"/>
          </a:solidFill>
          <a:latin typeface="+mn-lt"/>
          <a:ea typeface="+mn-ea"/>
          <a:cs typeface="+mn-cs"/>
        </a:defRPr>
      </a:lvl3pPr>
      <a:lvl4pPr marL="1339850" lvl="3" indent="-315595"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q"/>
        <a:defRPr sz="2800" b="1" i="0" u="none" kern="1200" baseline="0">
          <a:solidFill>
            <a:srgbClr val="000066"/>
          </a:solidFill>
          <a:latin typeface="+mn-lt"/>
          <a:ea typeface="+mn-ea"/>
          <a:cs typeface="+mn-cs"/>
        </a:defRPr>
      </a:lvl4pPr>
      <a:lvl5pPr marL="1681480" lvl="4" indent="-339725"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i="0" u="none" kern="1200" baseline="0">
          <a:solidFill>
            <a:srgbClr val="000066"/>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i="0" u="none" kern="1200" baseline="0">
          <a:solidFill>
            <a:srgbClr val="000066"/>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i="0" u="none" kern="1200" baseline="0">
          <a:solidFill>
            <a:srgbClr val="000066"/>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i="0" u="none" kern="1200" baseline="0">
          <a:solidFill>
            <a:srgbClr val="000066"/>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lr>
          <a:schemeClr val="accent1"/>
        </a:buClr>
        <a:buSzPct val="65000"/>
        <a:buFont typeface="Wingdings" panose="05000000000000000000" pitchFamily="2" charset="2"/>
        <a:buChar char="§"/>
        <a:defRPr sz="2800" b="1" i="0" u="none" kern="1200" baseline="0">
          <a:solidFill>
            <a:srgbClr val="000066"/>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9.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54.xml"/><Relationship Id="rId1" Type="http://schemas.openxmlformats.org/officeDocument/2006/relationships/tags" Target="../tags/tag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65.xml"/><Relationship Id="rId1" Type="http://schemas.openxmlformats.org/officeDocument/2006/relationships/tags" Target="../tags/tag4.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2"/>
          <p:cNvSpPr>
            <a:spLocks noGrp="1"/>
          </p:cNvSpPr>
          <p:nvPr>
            <p:ph type="ctrTitle"/>
          </p:nvPr>
        </p:nvSpPr>
        <p:spPr>
          <a:xfrm>
            <a:off x="1501140" y="1630680"/>
            <a:ext cx="8627110" cy="1582420"/>
          </a:xfrm>
        </p:spPr>
        <p:txBody>
          <a:bodyPr wrap="square" anchor="t"/>
          <a:lstStyle>
            <a:lvl1pPr lvl="0">
              <a:defRPr kern="1200"/>
            </a:lvl1pPr>
          </a:lstStyle>
          <a:p>
            <a:pPr lvl="0" indent="0" algn="ctr" eaLnBrk="1" hangingPunct="1">
              <a:lnSpc>
                <a:spcPct val="110000"/>
              </a:lnSpc>
            </a:pPr>
            <a:r>
              <a:rPr lang="zh-CN" altLang="en-US" sz="4400" dirty="0">
                <a:sym typeface="+mn-ea"/>
              </a:rPr>
              <a:t>全国大学生电子设计竞赛</a:t>
            </a:r>
            <a:br>
              <a:rPr lang="zh-CN" altLang="en-US" sz="4400" dirty="0">
                <a:sym typeface="+mn-ea"/>
              </a:rPr>
            </a:br>
            <a:r>
              <a:rPr lang="zh-CN" altLang="en-US" sz="4400" dirty="0">
                <a:sym typeface="+mn-ea"/>
              </a:rPr>
              <a:t>设计总结报告撰写与参赛事项指导</a:t>
            </a:r>
            <a:endParaRPr lang="zh-CN" altLang="en-US" sz="4400" dirty="0"/>
          </a:p>
        </p:txBody>
      </p:sp>
      <p:sp>
        <p:nvSpPr>
          <p:cNvPr id="7170" name="Rectangle 3"/>
          <p:cNvSpPr>
            <a:spLocks noGrp="1"/>
          </p:cNvSpPr>
          <p:nvPr>
            <p:ph type="subTitle"/>
          </p:nvPr>
        </p:nvSpPr>
        <p:spPr>
          <a:xfrm>
            <a:off x="6102033" y="4254500"/>
            <a:ext cx="5030787" cy="2030413"/>
          </a:xfrm>
        </p:spPr>
        <p:txBody>
          <a:bodyPr wrap="square" anchor="t"/>
          <a:lstStyle>
            <a:lvl1pPr marL="0" lvl="0" indent="0" algn="ctr">
              <a:defRPr kern="1200"/>
            </a:lvl1pPr>
            <a:lvl2pPr marL="457200" lvl="1" indent="-457200" algn="ctr">
              <a:defRPr kern="1200"/>
            </a:lvl2pPr>
            <a:lvl3pPr marL="914400" lvl="2" indent="-914400" algn="ctr">
              <a:defRPr kern="1200"/>
            </a:lvl3pPr>
            <a:lvl4pPr marL="1371600" lvl="3" indent="-1371600" algn="ctr">
              <a:defRPr kern="1200"/>
            </a:lvl4pPr>
            <a:lvl5pPr marL="1828800" lvl="4" indent="-1828800" algn="ctr">
              <a:defRPr kern="1200"/>
            </a:lvl5pPr>
          </a:lstStyle>
          <a:p>
            <a:pPr marL="0" lvl="0" indent="0" algn="ctr" eaLnBrk="1" hangingPunct="1">
              <a:lnSpc>
                <a:spcPct val="90000"/>
              </a:lnSpc>
              <a:buNone/>
            </a:pPr>
            <a:r>
              <a:rPr lang="zh-CN" altLang="en-US" dirty="0">
                <a:solidFill>
                  <a:srgbClr val="0000FF"/>
                </a:solidFill>
                <a:effectLst>
                  <a:outerShdw blurRad="38100" dist="19050" dir="2700000" algn="tl" rotWithShape="0">
                    <a:schemeClr val="dk1">
                      <a:alpha val="40000"/>
                    </a:schemeClr>
                  </a:outerShdw>
                </a:effectLst>
                <a:latin typeface="Times New Roman" panose="02020603050405020304" pitchFamily="18" charset="0"/>
                <a:ea typeface="经典繁行书" panose="02010609010101010101" charset="-122"/>
                <a:cs typeface="Times New Roman" panose="02020603050405020304" pitchFamily="18" charset="0"/>
              </a:rPr>
              <a:t>主讲人：杨忠孝</a:t>
            </a:r>
            <a:endParaRPr lang="zh-CN" altLang="en-US" dirty="0">
              <a:solidFill>
                <a:srgbClr val="0000FF"/>
              </a:solidFill>
              <a:effectLst>
                <a:outerShdw blurRad="38100" dist="19050" dir="2700000" algn="tl" rotWithShape="0">
                  <a:schemeClr val="dk1">
                    <a:alpha val="40000"/>
                  </a:schemeClr>
                </a:outerShdw>
              </a:effectLst>
              <a:latin typeface="Times New Roman" panose="02020603050405020304" pitchFamily="18" charset="0"/>
              <a:ea typeface="经典繁行书" panose="02010609010101010101" charset="-122"/>
              <a:cs typeface="Times New Roman" panose="02020603050405020304" pitchFamily="18" charset="0"/>
            </a:endParaRPr>
          </a:p>
          <a:p>
            <a:pPr marL="0" lvl="0" indent="0" algn="ctr" eaLnBrk="1" hangingPunct="1">
              <a:lnSpc>
                <a:spcPct val="90000"/>
              </a:lnSpc>
              <a:buNone/>
            </a:pPr>
            <a:r>
              <a:rPr lang="zh-CN" altLang="en-US" sz="2400" dirty="0">
                <a:solidFill>
                  <a:srgbClr val="000066"/>
                </a:solidFill>
                <a:latin typeface="Times New Roman" panose="02020603050405020304" pitchFamily="18" charset="0"/>
                <a:ea typeface="经典繁行书" panose="02010609010101010101" charset="-122"/>
                <a:cs typeface="Times New Roman" panose="02020603050405020304" pitchFamily="18" charset="0"/>
              </a:rPr>
              <a:t>Email:yzxiao@uestc.edu.cn</a:t>
            </a:r>
            <a:endParaRPr lang="zh-CN" altLang="en-US" sz="2400" dirty="0">
              <a:solidFill>
                <a:srgbClr val="000066"/>
              </a:solidFill>
              <a:latin typeface="Times New Roman" panose="02020603050405020304" pitchFamily="18" charset="0"/>
              <a:ea typeface="经典繁行书" panose="02010609010101010101" charset="-122"/>
              <a:cs typeface="Times New Roman" panose="02020603050405020304" pitchFamily="18" charset="0"/>
            </a:endParaRPr>
          </a:p>
          <a:p>
            <a:pPr marL="0" lvl="0" indent="0" algn="ctr" eaLnBrk="1" hangingPunct="1">
              <a:lnSpc>
                <a:spcPct val="90000"/>
              </a:lnSpc>
              <a:buNone/>
            </a:pPr>
            <a:r>
              <a:rPr lang="zh-CN" altLang="en-US" sz="2400" dirty="0">
                <a:solidFill>
                  <a:srgbClr val="000066"/>
                </a:solidFill>
                <a:latin typeface="Times New Roman" panose="02020603050405020304" pitchFamily="18" charset="0"/>
                <a:ea typeface="经典繁行书" panose="02010609010101010101" charset="-122"/>
                <a:cs typeface="Times New Roman" panose="02020603050405020304" pitchFamily="18" charset="0"/>
              </a:rPr>
              <a:t>Tel:18981873120</a:t>
            </a:r>
            <a:endParaRPr lang="zh-CN" altLang="en-US" sz="2400" dirty="0">
              <a:solidFill>
                <a:srgbClr val="003AB6"/>
              </a:solidFill>
              <a:latin typeface="Times New Roman" panose="02020603050405020304" pitchFamily="18" charset="0"/>
              <a:ea typeface="经典繁行书" panose="02010609010101010101" charset="-122"/>
              <a:cs typeface="Times New Roman" panose="02020603050405020304" pitchFamily="18" charset="0"/>
            </a:endParaRPr>
          </a:p>
          <a:p>
            <a:pPr marL="0" lvl="0" indent="0" algn="ctr" eaLnBrk="1" hangingPunct="1">
              <a:lnSpc>
                <a:spcPct val="90000"/>
              </a:lnSpc>
              <a:buNone/>
            </a:pPr>
            <a:r>
              <a:rPr lang="zh-CN" altLang="en-US" sz="2400" dirty="0">
                <a:solidFill>
                  <a:srgbClr val="000066"/>
                </a:solidFill>
                <a:latin typeface="Times New Roman" panose="02020603050405020304" pitchFamily="18" charset="0"/>
                <a:ea typeface="经典繁行书" panose="02010609010101010101" charset="-122"/>
                <a:cs typeface="Times New Roman" panose="02020603050405020304" pitchFamily="18" charset="0"/>
              </a:rPr>
              <a:t>自动化工程学院</a:t>
            </a:r>
            <a:endParaRPr lang="zh-CN" altLang="en-US" sz="2400" dirty="0">
              <a:solidFill>
                <a:srgbClr val="000066"/>
              </a:solidFill>
              <a:latin typeface="Times New Roman" panose="02020603050405020304" pitchFamily="18" charset="0"/>
              <a:ea typeface="经典繁行书" panose="02010609010101010101" charset="-122"/>
              <a:cs typeface="Times New Roman" panose="02020603050405020304" pitchFamily="18" charset="0"/>
            </a:endParaRPr>
          </a:p>
          <a:p>
            <a:pPr marL="0" lvl="0" indent="0" algn="ctr" eaLnBrk="1" hangingPunct="1">
              <a:lnSpc>
                <a:spcPct val="90000"/>
              </a:lnSpc>
              <a:buNone/>
            </a:pPr>
            <a:r>
              <a:rPr lang="zh-CN" altLang="en-US" sz="2400" dirty="0">
                <a:solidFill>
                  <a:srgbClr val="000066"/>
                </a:solidFill>
                <a:latin typeface="Times New Roman" panose="02020603050405020304" pitchFamily="18" charset="0"/>
                <a:ea typeface="经典繁行书" panose="02010609010101010101" charset="-122"/>
                <a:cs typeface="Times New Roman" panose="02020603050405020304" pitchFamily="18" charset="0"/>
              </a:rPr>
              <a:t>20</a:t>
            </a:r>
            <a:r>
              <a:rPr lang="en-US" sz="2400" dirty="0">
                <a:solidFill>
                  <a:srgbClr val="000066"/>
                </a:solidFill>
                <a:latin typeface="Times New Roman" panose="02020603050405020304" pitchFamily="18" charset="0"/>
                <a:ea typeface="经典繁行书" panose="02010609010101010101" charset="-122"/>
                <a:cs typeface="Times New Roman" panose="02020603050405020304" pitchFamily="18" charset="0"/>
              </a:rPr>
              <a:t>21</a:t>
            </a:r>
            <a:r>
              <a:rPr lang="zh-CN" altLang="en-US" sz="2400" dirty="0">
                <a:solidFill>
                  <a:srgbClr val="000066"/>
                </a:solidFill>
                <a:latin typeface="Times New Roman" panose="02020603050405020304" pitchFamily="18" charset="0"/>
                <a:ea typeface="经典繁行书" panose="02010609010101010101" charset="-122"/>
                <a:cs typeface="Times New Roman" panose="02020603050405020304" pitchFamily="18" charset="0"/>
              </a:rPr>
              <a:t>.0</a:t>
            </a:r>
            <a:r>
              <a:rPr lang="en-US" altLang="zh-CN" sz="2400" dirty="0">
                <a:solidFill>
                  <a:srgbClr val="000066"/>
                </a:solidFill>
                <a:latin typeface="Times New Roman" panose="02020603050405020304" pitchFamily="18" charset="0"/>
                <a:ea typeface="经典繁行书" panose="02010609010101010101" charset="-122"/>
                <a:cs typeface="Times New Roman" panose="02020603050405020304" pitchFamily="18" charset="0"/>
              </a:rPr>
              <a:t>7</a:t>
            </a:r>
            <a:r>
              <a:rPr lang="zh-CN" altLang="en-US" sz="2400" dirty="0">
                <a:solidFill>
                  <a:srgbClr val="000066"/>
                </a:solidFill>
                <a:latin typeface="Times New Roman" panose="02020603050405020304" pitchFamily="18" charset="0"/>
                <a:ea typeface="经典繁行书" panose="02010609010101010101" charset="-122"/>
                <a:cs typeface="Times New Roman" panose="02020603050405020304" pitchFamily="18" charset="0"/>
              </a:rPr>
              <a:t>.</a:t>
            </a:r>
            <a:r>
              <a:rPr lang="en-US" altLang="zh-CN" sz="2400" dirty="0">
                <a:solidFill>
                  <a:srgbClr val="000066"/>
                </a:solidFill>
                <a:latin typeface="Times New Roman" panose="02020603050405020304" pitchFamily="18" charset="0"/>
                <a:ea typeface="经典繁行书" panose="02010609010101010101" charset="-122"/>
                <a:cs typeface="Times New Roman" panose="02020603050405020304" pitchFamily="18" charset="0"/>
              </a:rPr>
              <a:t>31</a:t>
            </a:r>
            <a:endParaRPr lang="en-US" altLang="zh-CN" sz="2400" dirty="0">
              <a:solidFill>
                <a:srgbClr val="000066"/>
              </a:solidFill>
              <a:latin typeface="Times New Roman" panose="02020603050405020304" pitchFamily="18" charset="0"/>
              <a:ea typeface="经典繁行书" panose="02010609010101010101" charset="-122"/>
              <a:cs typeface="Times New Roman" panose="02020603050405020304" pitchFamily="18" charset="0"/>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3"/>
          <p:cNvSpPr>
            <a:spLocks noGrp="1"/>
          </p:cNvSpPr>
          <p:nvPr>
            <p:ph type="body"/>
          </p:nvPr>
        </p:nvSpPr>
        <p:spPr>
          <a:xfrm>
            <a:off x="4039235" y="836930"/>
            <a:ext cx="6471920" cy="5183505"/>
          </a:xfrm>
          <a:solidFill>
            <a:schemeClr val="bg1"/>
          </a:solidFill>
        </p:spPr>
        <p:txBody>
          <a:bodyPr wrap="square" anchor="t"/>
          <a:p>
            <a:pPr marL="0" indent="0">
              <a:lnSpc>
                <a:spcPct val="140000"/>
              </a:lnSpc>
              <a:buClr>
                <a:srgbClr val="0000FF"/>
              </a:buClr>
              <a:buFont typeface="+mj-lt"/>
              <a:buNone/>
            </a:pPr>
            <a:r>
              <a:rPr lang="zh-CN" altLang="en-US" sz="3600" u="sng">
                <a:solidFill>
                  <a:srgbClr val="FF0000"/>
                </a:solidFill>
                <a:latin typeface="楷体" panose="02010609060101010101" charset="-122"/>
                <a:ea typeface="楷体" panose="02010609060101010101" charset="-122"/>
                <a:cs typeface="楷体" panose="02010609060101010101" charset="-122"/>
                <a:sym typeface="+mn-ea"/>
              </a:rPr>
              <a:t>壹 </a:t>
            </a:r>
            <a:r>
              <a:rPr lang="zh-CN" altLang="en-US" sz="3600" u="sng">
                <a:latin typeface="楷体" panose="02010609060101010101" charset="-122"/>
                <a:ea typeface="楷体" panose="02010609060101010101" charset="-122"/>
                <a:cs typeface="楷体" panose="02010609060101010101" charset="-122"/>
                <a:sym typeface="+mn-ea"/>
              </a:rPr>
              <a:t>设计总结报告评分标准</a:t>
            </a:r>
            <a:endParaRPr lang="zh-CN" altLang="en-US" sz="3600">
              <a:latin typeface="楷体" panose="02010609060101010101" charset="-122"/>
              <a:ea typeface="楷体" panose="02010609060101010101" charset="-122"/>
              <a:cs typeface="楷体" panose="02010609060101010101" charset="-122"/>
            </a:endParaRPr>
          </a:p>
          <a:p>
            <a:pPr marL="0" indent="0">
              <a:lnSpc>
                <a:spcPct val="140000"/>
              </a:lnSpc>
              <a:buClr>
                <a:srgbClr val="0000FF"/>
              </a:buClr>
              <a:buFont typeface="+mj-lt"/>
              <a:buNone/>
            </a:pPr>
            <a:r>
              <a:rPr lang="zh-CN" altLang="en-US" sz="3600" u="sng">
                <a:solidFill>
                  <a:srgbClr val="FF0000"/>
                </a:solidFill>
                <a:latin typeface="楷体" panose="02010609060101010101" charset="-122"/>
                <a:ea typeface="楷体" panose="02010609060101010101" charset="-122"/>
                <a:cs typeface="楷体" panose="02010609060101010101" charset="-122"/>
                <a:sym typeface="+mn-ea"/>
              </a:rPr>
              <a:t>贰 </a:t>
            </a:r>
            <a:r>
              <a:rPr lang="zh-CN" altLang="en-US" sz="3600" u="sng">
                <a:latin typeface="楷体" panose="02010609060101010101" charset="-122"/>
                <a:ea typeface="楷体" panose="02010609060101010101" charset="-122"/>
                <a:cs typeface="楷体" panose="02010609060101010101" charset="-122"/>
                <a:sym typeface="+mn-ea"/>
              </a:rPr>
              <a:t>设计总结报告架构</a:t>
            </a:r>
            <a:endParaRPr lang="zh-CN" altLang="en-US" sz="3600">
              <a:latin typeface="楷体" panose="02010609060101010101" charset="-122"/>
              <a:ea typeface="楷体" panose="02010609060101010101" charset="-122"/>
              <a:cs typeface="楷体" panose="02010609060101010101" charset="-122"/>
            </a:endParaRPr>
          </a:p>
          <a:p>
            <a:pPr marL="0" indent="0">
              <a:lnSpc>
                <a:spcPct val="140000"/>
              </a:lnSpc>
              <a:buClr>
                <a:srgbClr val="0000FF"/>
              </a:buClr>
              <a:buFont typeface="+mj-lt"/>
              <a:buNone/>
            </a:pPr>
            <a:r>
              <a:rPr lang="zh-CN" altLang="en-US" sz="3600" u="sng">
                <a:solidFill>
                  <a:srgbClr val="FF0000"/>
                </a:solidFill>
                <a:latin typeface="楷体" panose="02010609060101010101" charset="-122"/>
                <a:ea typeface="楷体" panose="02010609060101010101" charset="-122"/>
                <a:cs typeface="楷体" panose="02010609060101010101" charset="-122"/>
                <a:sym typeface="+mn-ea"/>
              </a:rPr>
              <a:t>叁 </a:t>
            </a:r>
            <a:r>
              <a:rPr lang="zh-CN" altLang="en-US" sz="3600" u="sng">
                <a:latin typeface="楷体" panose="02010609060101010101" charset="-122"/>
                <a:ea typeface="楷体" panose="02010609060101010101" charset="-122"/>
                <a:cs typeface="楷体" panose="02010609060101010101" charset="-122"/>
                <a:sym typeface="+mn-ea"/>
              </a:rPr>
              <a:t>设计总结报告正文分项分析</a:t>
            </a:r>
            <a:r>
              <a:rPr lang="zh-CN" altLang="en-US" sz="3600">
                <a:latin typeface="楷体" panose="02010609060101010101" charset="-122"/>
                <a:ea typeface="楷体" panose="02010609060101010101" charset="-122"/>
                <a:cs typeface="楷体" panose="02010609060101010101" charset="-122"/>
                <a:sym typeface="+mn-ea"/>
              </a:rPr>
              <a:t> </a:t>
            </a:r>
            <a:endParaRPr lang="zh-CN" altLang="en-US" sz="3600">
              <a:latin typeface="楷体" panose="02010609060101010101" charset="-122"/>
              <a:ea typeface="楷体" panose="02010609060101010101" charset="-122"/>
              <a:cs typeface="楷体" panose="02010609060101010101" charset="-122"/>
            </a:endParaRPr>
          </a:p>
          <a:p>
            <a:pPr marL="0" indent="0">
              <a:lnSpc>
                <a:spcPct val="140000"/>
              </a:lnSpc>
              <a:buClr>
                <a:srgbClr val="0000FF"/>
              </a:buClr>
              <a:buFont typeface="+mj-lt"/>
              <a:buNone/>
            </a:pPr>
            <a:r>
              <a:rPr lang="zh-CN" altLang="en-US" sz="3600" u="sng">
                <a:solidFill>
                  <a:srgbClr val="FF0000"/>
                </a:solidFill>
                <a:latin typeface="楷体" panose="02010609060101010101" charset="-122"/>
                <a:ea typeface="楷体" panose="02010609060101010101" charset="-122"/>
                <a:cs typeface="楷体" panose="02010609060101010101" charset="-122"/>
                <a:sym typeface="+mn-ea"/>
              </a:rPr>
              <a:t>肆 </a:t>
            </a:r>
            <a:r>
              <a:rPr lang="zh-CN" altLang="en-US" sz="3600" u="sng">
                <a:latin typeface="楷体" panose="02010609060101010101" charset="-122"/>
                <a:ea typeface="楷体" panose="02010609060101010101" charset="-122"/>
                <a:cs typeface="楷体" panose="02010609060101010101" charset="-122"/>
                <a:sym typeface="+mn-ea"/>
              </a:rPr>
              <a:t>设计总结报告的工整性</a:t>
            </a:r>
            <a:r>
              <a:rPr lang="zh-CN" altLang="en-US" sz="3600">
                <a:latin typeface="楷体" panose="02010609060101010101" charset="-122"/>
                <a:ea typeface="楷体" panose="02010609060101010101" charset="-122"/>
                <a:cs typeface="楷体" panose="02010609060101010101" charset="-122"/>
                <a:sym typeface="+mn-ea"/>
              </a:rPr>
              <a:t> </a:t>
            </a:r>
            <a:endParaRPr lang="zh-CN" altLang="en-US" sz="3600">
              <a:latin typeface="楷体" panose="02010609060101010101" charset="-122"/>
              <a:ea typeface="楷体" panose="02010609060101010101" charset="-122"/>
              <a:cs typeface="楷体" panose="02010609060101010101" charset="-122"/>
            </a:endParaRPr>
          </a:p>
          <a:p>
            <a:pPr marL="0" indent="0">
              <a:lnSpc>
                <a:spcPct val="140000"/>
              </a:lnSpc>
              <a:buClr>
                <a:srgbClr val="0000FF"/>
              </a:buClr>
              <a:buFont typeface="+mj-lt"/>
              <a:buNone/>
            </a:pPr>
            <a:r>
              <a:rPr lang="zh-CN" altLang="en-US" sz="3600" u="sng">
                <a:solidFill>
                  <a:srgbClr val="FF0000"/>
                </a:solidFill>
                <a:latin typeface="楷体" panose="02010609060101010101" charset="-122"/>
                <a:ea typeface="楷体" panose="02010609060101010101" charset="-122"/>
                <a:cs typeface="楷体" panose="02010609060101010101" charset="-122"/>
                <a:sym typeface="+mn-ea"/>
              </a:rPr>
              <a:t>伍 </a:t>
            </a:r>
            <a:r>
              <a:rPr lang="zh-CN" altLang="en-US" sz="3600" u="sng">
                <a:latin typeface="楷体" panose="02010609060101010101" charset="-122"/>
                <a:ea typeface="楷体" panose="02010609060101010101" charset="-122"/>
                <a:cs typeface="楷体" panose="02010609060101010101" charset="-122"/>
                <a:sym typeface="+mn-ea"/>
              </a:rPr>
              <a:t>竞赛设计制作过程安排</a:t>
            </a:r>
            <a:endParaRPr lang="zh-CN" altLang="en-US" sz="3600" u="sng">
              <a:latin typeface="楷体" panose="02010609060101010101" charset="-122"/>
              <a:ea typeface="楷体" panose="02010609060101010101" charset="-122"/>
              <a:cs typeface="楷体" panose="02010609060101010101" charset="-122"/>
              <a:sym typeface="+mn-ea"/>
            </a:endParaRPr>
          </a:p>
          <a:p>
            <a:pPr marL="0" indent="0">
              <a:lnSpc>
                <a:spcPct val="140000"/>
              </a:lnSpc>
              <a:buClr>
                <a:srgbClr val="0000FF"/>
              </a:buClr>
              <a:buFont typeface="+mj-lt"/>
              <a:buNone/>
            </a:pPr>
            <a:r>
              <a:rPr lang="zh-CN" altLang="en-US" sz="3600" u="sng">
                <a:solidFill>
                  <a:srgbClr val="FF0000"/>
                </a:solidFill>
                <a:latin typeface="楷体" panose="02010609060101010101" charset="-122"/>
                <a:ea typeface="楷体" panose="02010609060101010101" charset="-122"/>
                <a:cs typeface="楷体" panose="02010609060101010101" charset="-122"/>
                <a:sym typeface="+mn-ea"/>
              </a:rPr>
              <a:t>陆 </a:t>
            </a:r>
            <a:r>
              <a:rPr lang="zh-CN" altLang="en-US" sz="3600" u="sng">
                <a:latin typeface="楷体" panose="02010609060101010101" charset="-122"/>
                <a:ea typeface="楷体" panose="02010609060101010101" charset="-122"/>
                <a:cs typeface="楷体" panose="02010609060101010101" charset="-122"/>
                <a:sym typeface="+mn-ea"/>
              </a:rPr>
              <a:t>竞赛时间规划及注意事项</a:t>
            </a:r>
            <a:endParaRPr lang="zh-CN" altLang="en-US" sz="3600" dirty="0">
              <a:solidFill>
                <a:schemeClr val="tx1"/>
              </a:solidFill>
              <a:latin typeface="楷体" panose="02010609060101010101" charset="-122"/>
              <a:ea typeface="楷体" panose="02010609060101010101" charset="-122"/>
              <a:cs typeface="楷体" panose="02010609060101010101" charset="-122"/>
              <a:sym typeface="Arial" panose="020B0604020202020204" pitchFamily="34" charset="0"/>
            </a:endParaRPr>
          </a:p>
        </p:txBody>
      </p:sp>
      <p:sp>
        <p:nvSpPr>
          <p:cNvPr id="9222" name="Freeform 27"/>
          <p:cNvSpPr>
            <a:spLocks noEditPoints="1"/>
          </p:cNvSpPr>
          <p:nvPr/>
        </p:nvSpPr>
        <p:spPr>
          <a:xfrm>
            <a:off x="938530" y="858520"/>
            <a:ext cx="2730500" cy="231616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pathLst>
              <a:path w="318" h="269">
                <a:moveTo>
                  <a:pt x="234" y="55"/>
                </a:moveTo>
                <a:cubicBezTo>
                  <a:pt x="251" y="55"/>
                  <a:pt x="261" y="45"/>
                  <a:pt x="272" y="57"/>
                </a:cubicBezTo>
                <a:cubicBezTo>
                  <a:pt x="278" y="68"/>
                  <a:pt x="275" y="75"/>
                  <a:pt x="271" y="80"/>
                </a:cubicBezTo>
                <a:cubicBezTo>
                  <a:pt x="271" y="80"/>
                  <a:pt x="271" y="80"/>
                  <a:pt x="271" y="80"/>
                </a:cubicBezTo>
                <a:cubicBezTo>
                  <a:pt x="276" y="80"/>
                  <a:pt x="278" y="86"/>
                  <a:pt x="277" y="90"/>
                </a:cubicBezTo>
                <a:cubicBezTo>
                  <a:pt x="272" y="106"/>
                  <a:pt x="306" y="89"/>
                  <a:pt x="313" y="97"/>
                </a:cubicBezTo>
                <a:cubicBezTo>
                  <a:pt x="318" y="100"/>
                  <a:pt x="318" y="100"/>
                  <a:pt x="310" y="99"/>
                </a:cubicBezTo>
                <a:cubicBezTo>
                  <a:pt x="295" y="101"/>
                  <a:pt x="281" y="108"/>
                  <a:pt x="275" y="104"/>
                </a:cubicBezTo>
                <a:cubicBezTo>
                  <a:pt x="268" y="99"/>
                  <a:pt x="274" y="90"/>
                  <a:pt x="267" y="86"/>
                </a:cubicBezTo>
                <a:cubicBezTo>
                  <a:pt x="266" y="85"/>
                  <a:pt x="265" y="85"/>
                  <a:pt x="263" y="85"/>
                </a:cubicBezTo>
                <a:cubicBezTo>
                  <a:pt x="259" y="89"/>
                  <a:pt x="256" y="99"/>
                  <a:pt x="258" y="104"/>
                </a:cubicBezTo>
                <a:cubicBezTo>
                  <a:pt x="266" y="117"/>
                  <a:pt x="283" y="113"/>
                  <a:pt x="295" y="111"/>
                </a:cubicBezTo>
                <a:cubicBezTo>
                  <a:pt x="307" y="108"/>
                  <a:pt x="317" y="121"/>
                  <a:pt x="304" y="128"/>
                </a:cubicBezTo>
                <a:cubicBezTo>
                  <a:pt x="306" y="122"/>
                  <a:pt x="303" y="117"/>
                  <a:pt x="297" y="116"/>
                </a:cubicBezTo>
                <a:cubicBezTo>
                  <a:pt x="292" y="114"/>
                  <a:pt x="268" y="134"/>
                  <a:pt x="257" y="118"/>
                </a:cubicBezTo>
                <a:cubicBezTo>
                  <a:pt x="248" y="105"/>
                  <a:pt x="255" y="95"/>
                  <a:pt x="259" y="86"/>
                </a:cubicBezTo>
                <a:cubicBezTo>
                  <a:pt x="254" y="88"/>
                  <a:pt x="250" y="91"/>
                  <a:pt x="247" y="92"/>
                </a:cubicBezTo>
                <a:cubicBezTo>
                  <a:pt x="237" y="96"/>
                  <a:pt x="227" y="102"/>
                  <a:pt x="220" y="91"/>
                </a:cubicBezTo>
                <a:cubicBezTo>
                  <a:pt x="219" y="88"/>
                  <a:pt x="221" y="86"/>
                  <a:pt x="221" y="84"/>
                </a:cubicBezTo>
                <a:cubicBezTo>
                  <a:pt x="220" y="76"/>
                  <a:pt x="231" y="76"/>
                  <a:pt x="230" y="67"/>
                </a:cubicBezTo>
                <a:cubicBezTo>
                  <a:pt x="230" y="57"/>
                  <a:pt x="216" y="53"/>
                  <a:pt x="208" y="58"/>
                </a:cubicBezTo>
                <a:cubicBezTo>
                  <a:pt x="206" y="59"/>
                  <a:pt x="197" y="63"/>
                  <a:pt x="197" y="62"/>
                </a:cubicBezTo>
                <a:cubicBezTo>
                  <a:pt x="195" y="59"/>
                  <a:pt x="198" y="54"/>
                  <a:pt x="195" y="51"/>
                </a:cubicBezTo>
                <a:cubicBezTo>
                  <a:pt x="202" y="50"/>
                  <a:pt x="217" y="49"/>
                  <a:pt x="222" y="50"/>
                </a:cubicBezTo>
                <a:cubicBezTo>
                  <a:pt x="229" y="51"/>
                  <a:pt x="244" y="60"/>
                  <a:pt x="237" y="71"/>
                </a:cubicBezTo>
                <a:cubicBezTo>
                  <a:pt x="235" y="73"/>
                  <a:pt x="226" y="80"/>
                  <a:pt x="227" y="83"/>
                </a:cubicBezTo>
                <a:cubicBezTo>
                  <a:pt x="228" y="89"/>
                  <a:pt x="231" y="92"/>
                  <a:pt x="238" y="87"/>
                </a:cubicBezTo>
                <a:cubicBezTo>
                  <a:pt x="246" y="83"/>
                  <a:pt x="253" y="82"/>
                  <a:pt x="261" y="81"/>
                </a:cubicBezTo>
                <a:cubicBezTo>
                  <a:pt x="262" y="77"/>
                  <a:pt x="261" y="73"/>
                  <a:pt x="259" y="69"/>
                </a:cubicBezTo>
                <a:cubicBezTo>
                  <a:pt x="252" y="58"/>
                  <a:pt x="245" y="58"/>
                  <a:pt x="234" y="55"/>
                </a:cubicBezTo>
                <a:close/>
                <a:moveTo>
                  <a:pt x="15" y="232"/>
                </a:moveTo>
                <a:cubicBezTo>
                  <a:pt x="15" y="232"/>
                  <a:pt x="15" y="232"/>
                  <a:pt x="15" y="232"/>
                </a:cubicBezTo>
                <a:cubicBezTo>
                  <a:pt x="16" y="241"/>
                  <a:pt x="17" y="248"/>
                  <a:pt x="24" y="252"/>
                </a:cubicBezTo>
                <a:cubicBezTo>
                  <a:pt x="24" y="252"/>
                  <a:pt x="26" y="253"/>
                  <a:pt x="25" y="253"/>
                </a:cubicBezTo>
                <a:cubicBezTo>
                  <a:pt x="19" y="252"/>
                  <a:pt x="11" y="242"/>
                  <a:pt x="15" y="232"/>
                </a:cubicBezTo>
                <a:close/>
                <a:moveTo>
                  <a:pt x="254" y="59"/>
                </a:moveTo>
                <a:cubicBezTo>
                  <a:pt x="254" y="59"/>
                  <a:pt x="254" y="59"/>
                  <a:pt x="254" y="59"/>
                </a:cubicBezTo>
                <a:cubicBezTo>
                  <a:pt x="268" y="58"/>
                  <a:pt x="269" y="77"/>
                  <a:pt x="269" y="73"/>
                </a:cubicBezTo>
                <a:cubicBezTo>
                  <a:pt x="268" y="65"/>
                  <a:pt x="263" y="53"/>
                  <a:pt x="254" y="59"/>
                </a:cubicBezTo>
                <a:close/>
                <a:moveTo>
                  <a:pt x="41" y="160"/>
                </a:moveTo>
                <a:cubicBezTo>
                  <a:pt x="41" y="160"/>
                  <a:pt x="41" y="160"/>
                  <a:pt x="41" y="160"/>
                </a:cubicBezTo>
                <a:cubicBezTo>
                  <a:pt x="43" y="164"/>
                  <a:pt x="53" y="158"/>
                  <a:pt x="56" y="163"/>
                </a:cubicBezTo>
                <a:cubicBezTo>
                  <a:pt x="60" y="169"/>
                  <a:pt x="53" y="177"/>
                  <a:pt x="50" y="183"/>
                </a:cubicBezTo>
                <a:cubicBezTo>
                  <a:pt x="42" y="197"/>
                  <a:pt x="60" y="167"/>
                  <a:pt x="41" y="160"/>
                </a:cubicBezTo>
                <a:close/>
                <a:moveTo>
                  <a:pt x="81" y="113"/>
                </a:moveTo>
                <a:cubicBezTo>
                  <a:pt x="81" y="113"/>
                  <a:pt x="81" y="113"/>
                  <a:pt x="81" y="113"/>
                </a:cubicBezTo>
                <a:cubicBezTo>
                  <a:pt x="82" y="114"/>
                  <a:pt x="76" y="112"/>
                  <a:pt x="75" y="112"/>
                </a:cubicBezTo>
                <a:cubicBezTo>
                  <a:pt x="68" y="110"/>
                  <a:pt x="59" y="109"/>
                  <a:pt x="50" y="109"/>
                </a:cubicBezTo>
                <a:cubicBezTo>
                  <a:pt x="48" y="109"/>
                  <a:pt x="41" y="108"/>
                  <a:pt x="46" y="108"/>
                </a:cubicBezTo>
                <a:cubicBezTo>
                  <a:pt x="47" y="108"/>
                  <a:pt x="47" y="108"/>
                  <a:pt x="48" y="108"/>
                </a:cubicBezTo>
                <a:cubicBezTo>
                  <a:pt x="51" y="108"/>
                  <a:pt x="53" y="108"/>
                  <a:pt x="56" y="108"/>
                </a:cubicBezTo>
                <a:cubicBezTo>
                  <a:pt x="65" y="108"/>
                  <a:pt x="75" y="110"/>
                  <a:pt x="81" y="113"/>
                </a:cubicBezTo>
                <a:close/>
                <a:moveTo>
                  <a:pt x="179" y="91"/>
                </a:moveTo>
                <a:cubicBezTo>
                  <a:pt x="179" y="91"/>
                  <a:pt x="179" y="91"/>
                  <a:pt x="179" y="91"/>
                </a:cubicBezTo>
                <a:cubicBezTo>
                  <a:pt x="180" y="91"/>
                  <a:pt x="173" y="92"/>
                  <a:pt x="173" y="93"/>
                </a:cubicBezTo>
                <a:cubicBezTo>
                  <a:pt x="165" y="95"/>
                  <a:pt x="158" y="99"/>
                  <a:pt x="151" y="106"/>
                </a:cubicBezTo>
                <a:cubicBezTo>
                  <a:pt x="149" y="107"/>
                  <a:pt x="144" y="111"/>
                  <a:pt x="148" y="107"/>
                </a:cubicBezTo>
                <a:cubicBezTo>
                  <a:pt x="148" y="107"/>
                  <a:pt x="148" y="106"/>
                  <a:pt x="149" y="105"/>
                </a:cubicBezTo>
                <a:cubicBezTo>
                  <a:pt x="150" y="103"/>
                  <a:pt x="152" y="101"/>
                  <a:pt x="155" y="100"/>
                </a:cubicBezTo>
                <a:cubicBezTo>
                  <a:pt x="162" y="94"/>
                  <a:pt x="171" y="90"/>
                  <a:pt x="179" y="91"/>
                </a:cubicBezTo>
                <a:close/>
                <a:moveTo>
                  <a:pt x="81" y="89"/>
                </a:moveTo>
                <a:cubicBezTo>
                  <a:pt x="81" y="89"/>
                  <a:pt x="81" y="89"/>
                  <a:pt x="81" y="89"/>
                </a:cubicBezTo>
                <a:cubicBezTo>
                  <a:pt x="80" y="91"/>
                  <a:pt x="78" y="96"/>
                  <a:pt x="76" y="99"/>
                </a:cubicBezTo>
                <a:cubicBezTo>
                  <a:pt x="76" y="99"/>
                  <a:pt x="75" y="98"/>
                  <a:pt x="74" y="98"/>
                </a:cubicBezTo>
                <a:cubicBezTo>
                  <a:pt x="73" y="98"/>
                  <a:pt x="73" y="97"/>
                  <a:pt x="72" y="96"/>
                </a:cubicBezTo>
                <a:cubicBezTo>
                  <a:pt x="70" y="94"/>
                  <a:pt x="64" y="97"/>
                  <a:pt x="63" y="98"/>
                </a:cubicBezTo>
                <a:cubicBezTo>
                  <a:pt x="60" y="99"/>
                  <a:pt x="64" y="104"/>
                  <a:pt x="65" y="103"/>
                </a:cubicBezTo>
                <a:cubicBezTo>
                  <a:pt x="67" y="102"/>
                  <a:pt x="64" y="99"/>
                  <a:pt x="66" y="99"/>
                </a:cubicBezTo>
                <a:cubicBezTo>
                  <a:pt x="69" y="99"/>
                  <a:pt x="68" y="102"/>
                  <a:pt x="67" y="104"/>
                </a:cubicBezTo>
                <a:cubicBezTo>
                  <a:pt x="66" y="106"/>
                  <a:pt x="57" y="102"/>
                  <a:pt x="57" y="101"/>
                </a:cubicBezTo>
                <a:cubicBezTo>
                  <a:pt x="56" y="98"/>
                  <a:pt x="59" y="100"/>
                  <a:pt x="61" y="100"/>
                </a:cubicBezTo>
                <a:cubicBezTo>
                  <a:pt x="63" y="97"/>
                  <a:pt x="55" y="95"/>
                  <a:pt x="55" y="94"/>
                </a:cubicBezTo>
                <a:cubicBezTo>
                  <a:pt x="54" y="96"/>
                  <a:pt x="51" y="95"/>
                  <a:pt x="50" y="95"/>
                </a:cubicBezTo>
                <a:cubicBezTo>
                  <a:pt x="48" y="96"/>
                  <a:pt x="47" y="98"/>
                  <a:pt x="48" y="100"/>
                </a:cubicBezTo>
                <a:cubicBezTo>
                  <a:pt x="48" y="101"/>
                  <a:pt x="51" y="99"/>
                  <a:pt x="52" y="99"/>
                </a:cubicBezTo>
                <a:cubicBezTo>
                  <a:pt x="57" y="101"/>
                  <a:pt x="50" y="103"/>
                  <a:pt x="49" y="103"/>
                </a:cubicBezTo>
                <a:cubicBezTo>
                  <a:pt x="46" y="104"/>
                  <a:pt x="43" y="102"/>
                  <a:pt x="42" y="99"/>
                </a:cubicBezTo>
                <a:cubicBezTo>
                  <a:pt x="42" y="98"/>
                  <a:pt x="36" y="99"/>
                  <a:pt x="39" y="101"/>
                </a:cubicBezTo>
                <a:cubicBezTo>
                  <a:pt x="41" y="102"/>
                  <a:pt x="40" y="106"/>
                  <a:pt x="42" y="106"/>
                </a:cubicBezTo>
                <a:cubicBezTo>
                  <a:pt x="52" y="107"/>
                  <a:pt x="58" y="104"/>
                  <a:pt x="70" y="108"/>
                </a:cubicBezTo>
                <a:cubicBezTo>
                  <a:pt x="75" y="109"/>
                  <a:pt x="79" y="111"/>
                  <a:pt x="83" y="113"/>
                </a:cubicBezTo>
                <a:cubicBezTo>
                  <a:pt x="84" y="114"/>
                  <a:pt x="85" y="117"/>
                  <a:pt x="87" y="117"/>
                </a:cubicBezTo>
                <a:cubicBezTo>
                  <a:pt x="89" y="117"/>
                  <a:pt x="91" y="115"/>
                  <a:pt x="89" y="115"/>
                </a:cubicBezTo>
                <a:cubicBezTo>
                  <a:pt x="89" y="115"/>
                  <a:pt x="89" y="115"/>
                  <a:pt x="89" y="115"/>
                </a:cubicBezTo>
                <a:cubicBezTo>
                  <a:pt x="89" y="117"/>
                  <a:pt x="89" y="117"/>
                  <a:pt x="89" y="117"/>
                </a:cubicBezTo>
                <a:cubicBezTo>
                  <a:pt x="89" y="116"/>
                  <a:pt x="89" y="115"/>
                  <a:pt x="88" y="114"/>
                </a:cubicBezTo>
                <a:cubicBezTo>
                  <a:pt x="88" y="114"/>
                  <a:pt x="88" y="114"/>
                  <a:pt x="88" y="114"/>
                </a:cubicBezTo>
                <a:cubicBezTo>
                  <a:pt x="88" y="113"/>
                  <a:pt x="87" y="113"/>
                  <a:pt x="87" y="113"/>
                </a:cubicBezTo>
                <a:cubicBezTo>
                  <a:pt x="86" y="112"/>
                  <a:pt x="86" y="112"/>
                  <a:pt x="86" y="112"/>
                </a:cubicBezTo>
                <a:cubicBezTo>
                  <a:pt x="85" y="111"/>
                  <a:pt x="86" y="109"/>
                  <a:pt x="87" y="108"/>
                </a:cubicBezTo>
                <a:cubicBezTo>
                  <a:pt x="88" y="107"/>
                  <a:pt x="90" y="109"/>
                  <a:pt x="89" y="110"/>
                </a:cubicBezTo>
                <a:cubicBezTo>
                  <a:pt x="87" y="111"/>
                  <a:pt x="87" y="111"/>
                  <a:pt x="89" y="112"/>
                </a:cubicBezTo>
                <a:cubicBezTo>
                  <a:pt x="90" y="113"/>
                  <a:pt x="91" y="110"/>
                  <a:pt x="91" y="108"/>
                </a:cubicBezTo>
                <a:cubicBezTo>
                  <a:pt x="93" y="108"/>
                  <a:pt x="98" y="106"/>
                  <a:pt x="98" y="102"/>
                </a:cubicBezTo>
                <a:cubicBezTo>
                  <a:pt x="97" y="104"/>
                  <a:pt x="93" y="106"/>
                  <a:pt x="91" y="108"/>
                </a:cubicBezTo>
                <a:cubicBezTo>
                  <a:pt x="91" y="108"/>
                  <a:pt x="91" y="107"/>
                  <a:pt x="90" y="107"/>
                </a:cubicBezTo>
                <a:cubicBezTo>
                  <a:pt x="89" y="106"/>
                  <a:pt x="89" y="105"/>
                  <a:pt x="89" y="104"/>
                </a:cubicBezTo>
                <a:cubicBezTo>
                  <a:pt x="88" y="103"/>
                  <a:pt x="83" y="103"/>
                  <a:pt x="82" y="103"/>
                </a:cubicBezTo>
                <a:cubicBezTo>
                  <a:pt x="79" y="102"/>
                  <a:pt x="80" y="108"/>
                  <a:pt x="81" y="108"/>
                </a:cubicBezTo>
                <a:cubicBezTo>
                  <a:pt x="83" y="107"/>
                  <a:pt x="82" y="104"/>
                  <a:pt x="84" y="105"/>
                </a:cubicBezTo>
                <a:cubicBezTo>
                  <a:pt x="86" y="105"/>
                  <a:pt x="84" y="108"/>
                  <a:pt x="82" y="109"/>
                </a:cubicBezTo>
                <a:cubicBezTo>
                  <a:pt x="82" y="109"/>
                  <a:pt x="82" y="109"/>
                  <a:pt x="81" y="109"/>
                </a:cubicBezTo>
                <a:cubicBezTo>
                  <a:pt x="80" y="108"/>
                  <a:pt x="79" y="107"/>
                  <a:pt x="78" y="107"/>
                </a:cubicBezTo>
                <a:cubicBezTo>
                  <a:pt x="76" y="106"/>
                  <a:pt x="73" y="106"/>
                  <a:pt x="72" y="105"/>
                </a:cubicBezTo>
                <a:cubicBezTo>
                  <a:pt x="71" y="105"/>
                  <a:pt x="70" y="102"/>
                  <a:pt x="71" y="101"/>
                </a:cubicBezTo>
                <a:cubicBezTo>
                  <a:pt x="72" y="100"/>
                  <a:pt x="76" y="100"/>
                  <a:pt x="74" y="102"/>
                </a:cubicBezTo>
                <a:cubicBezTo>
                  <a:pt x="73" y="103"/>
                  <a:pt x="73" y="104"/>
                  <a:pt x="76" y="105"/>
                </a:cubicBezTo>
                <a:cubicBezTo>
                  <a:pt x="77" y="105"/>
                  <a:pt x="77" y="101"/>
                  <a:pt x="76" y="99"/>
                </a:cubicBezTo>
                <a:cubicBezTo>
                  <a:pt x="78" y="98"/>
                  <a:pt x="82" y="93"/>
                  <a:pt x="81" y="89"/>
                </a:cubicBezTo>
                <a:close/>
                <a:moveTo>
                  <a:pt x="159" y="71"/>
                </a:moveTo>
                <a:cubicBezTo>
                  <a:pt x="159" y="71"/>
                  <a:pt x="159" y="71"/>
                  <a:pt x="159" y="71"/>
                </a:cubicBezTo>
                <a:cubicBezTo>
                  <a:pt x="160" y="73"/>
                  <a:pt x="161" y="78"/>
                  <a:pt x="162" y="82"/>
                </a:cubicBezTo>
                <a:cubicBezTo>
                  <a:pt x="161" y="82"/>
                  <a:pt x="160" y="82"/>
                  <a:pt x="160" y="82"/>
                </a:cubicBezTo>
                <a:cubicBezTo>
                  <a:pt x="159" y="83"/>
                  <a:pt x="158" y="83"/>
                  <a:pt x="156" y="82"/>
                </a:cubicBezTo>
                <a:cubicBezTo>
                  <a:pt x="154" y="82"/>
                  <a:pt x="152" y="88"/>
                  <a:pt x="151" y="89"/>
                </a:cubicBezTo>
                <a:cubicBezTo>
                  <a:pt x="149" y="92"/>
                  <a:pt x="156" y="94"/>
                  <a:pt x="156" y="92"/>
                </a:cubicBezTo>
                <a:cubicBezTo>
                  <a:pt x="157" y="90"/>
                  <a:pt x="152" y="90"/>
                  <a:pt x="154" y="88"/>
                </a:cubicBezTo>
                <a:cubicBezTo>
                  <a:pt x="156" y="86"/>
                  <a:pt x="158" y="90"/>
                  <a:pt x="158" y="92"/>
                </a:cubicBezTo>
                <a:cubicBezTo>
                  <a:pt x="158" y="94"/>
                  <a:pt x="149" y="96"/>
                  <a:pt x="148" y="96"/>
                </a:cubicBezTo>
                <a:cubicBezTo>
                  <a:pt x="146" y="94"/>
                  <a:pt x="149" y="94"/>
                  <a:pt x="150" y="92"/>
                </a:cubicBezTo>
                <a:cubicBezTo>
                  <a:pt x="151" y="89"/>
                  <a:pt x="143" y="92"/>
                  <a:pt x="142" y="92"/>
                </a:cubicBezTo>
                <a:cubicBezTo>
                  <a:pt x="143" y="94"/>
                  <a:pt x="140" y="95"/>
                  <a:pt x="140" y="96"/>
                </a:cubicBezTo>
                <a:cubicBezTo>
                  <a:pt x="139" y="97"/>
                  <a:pt x="139" y="100"/>
                  <a:pt x="140" y="100"/>
                </a:cubicBezTo>
                <a:cubicBezTo>
                  <a:pt x="142" y="101"/>
                  <a:pt x="142" y="97"/>
                  <a:pt x="143" y="97"/>
                </a:cubicBezTo>
                <a:cubicBezTo>
                  <a:pt x="148" y="96"/>
                  <a:pt x="144" y="101"/>
                  <a:pt x="143" y="102"/>
                </a:cubicBezTo>
                <a:cubicBezTo>
                  <a:pt x="142" y="105"/>
                  <a:pt x="139" y="106"/>
                  <a:pt x="136" y="104"/>
                </a:cubicBezTo>
                <a:cubicBezTo>
                  <a:pt x="135" y="103"/>
                  <a:pt x="131" y="107"/>
                  <a:pt x="135" y="107"/>
                </a:cubicBezTo>
                <a:cubicBezTo>
                  <a:pt x="137" y="107"/>
                  <a:pt x="138" y="110"/>
                  <a:pt x="140" y="109"/>
                </a:cubicBezTo>
                <a:cubicBezTo>
                  <a:pt x="148" y="104"/>
                  <a:pt x="152" y="97"/>
                  <a:pt x="163" y="92"/>
                </a:cubicBezTo>
                <a:cubicBezTo>
                  <a:pt x="167" y="90"/>
                  <a:pt x="171" y="89"/>
                  <a:pt x="176" y="88"/>
                </a:cubicBezTo>
                <a:cubicBezTo>
                  <a:pt x="178" y="88"/>
                  <a:pt x="180" y="90"/>
                  <a:pt x="182" y="89"/>
                </a:cubicBezTo>
                <a:cubicBezTo>
                  <a:pt x="183" y="88"/>
                  <a:pt x="183" y="85"/>
                  <a:pt x="181" y="86"/>
                </a:cubicBezTo>
                <a:cubicBezTo>
                  <a:pt x="181" y="86"/>
                  <a:pt x="181" y="86"/>
                  <a:pt x="181" y="86"/>
                </a:cubicBezTo>
                <a:cubicBezTo>
                  <a:pt x="183" y="87"/>
                  <a:pt x="183" y="87"/>
                  <a:pt x="183" y="87"/>
                </a:cubicBezTo>
                <a:cubicBezTo>
                  <a:pt x="183" y="86"/>
                  <a:pt x="182" y="86"/>
                  <a:pt x="181" y="86"/>
                </a:cubicBezTo>
                <a:cubicBezTo>
                  <a:pt x="181" y="85"/>
                  <a:pt x="181" y="85"/>
                  <a:pt x="180" y="85"/>
                </a:cubicBezTo>
                <a:cubicBezTo>
                  <a:pt x="180" y="85"/>
                  <a:pt x="179" y="85"/>
                  <a:pt x="179" y="86"/>
                </a:cubicBezTo>
                <a:cubicBezTo>
                  <a:pt x="178" y="86"/>
                  <a:pt x="178" y="85"/>
                  <a:pt x="177" y="85"/>
                </a:cubicBezTo>
                <a:cubicBezTo>
                  <a:pt x="176" y="85"/>
                  <a:pt x="175" y="83"/>
                  <a:pt x="176" y="82"/>
                </a:cubicBezTo>
                <a:cubicBezTo>
                  <a:pt x="176" y="81"/>
                  <a:pt x="179" y="80"/>
                  <a:pt x="179" y="82"/>
                </a:cubicBezTo>
                <a:cubicBezTo>
                  <a:pt x="178" y="83"/>
                  <a:pt x="178" y="84"/>
                  <a:pt x="180" y="84"/>
                </a:cubicBezTo>
                <a:cubicBezTo>
                  <a:pt x="181" y="84"/>
                  <a:pt x="181" y="81"/>
                  <a:pt x="179" y="79"/>
                </a:cubicBezTo>
                <a:cubicBezTo>
                  <a:pt x="181" y="78"/>
                  <a:pt x="183" y="73"/>
                  <a:pt x="181" y="70"/>
                </a:cubicBezTo>
                <a:cubicBezTo>
                  <a:pt x="181" y="72"/>
                  <a:pt x="180" y="76"/>
                  <a:pt x="179" y="79"/>
                </a:cubicBezTo>
                <a:cubicBezTo>
                  <a:pt x="179" y="79"/>
                  <a:pt x="178" y="79"/>
                  <a:pt x="178" y="79"/>
                </a:cubicBezTo>
                <a:cubicBezTo>
                  <a:pt x="176" y="79"/>
                  <a:pt x="176" y="78"/>
                  <a:pt x="175" y="78"/>
                </a:cubicBezTo>
                <a:cubicBezTo>
                  <a:pt x="174" y="77"/>
                  <a:pt x="169" y="81"/>
                  <a:pt x="169" y="81"/>
                </a:cubicBezTo>
                <a:cubicBezTo>
                  <a:pt x="166" y="83"/>
                  <a:pt x="170" y="86"/>
                  <a:pt x="171" y="85"/>
                </a:cubicBezTo>
                <a:cubicBezTo>
                  <a:pt x="173" y="83"/>
                  <a:pt x="169" y="82"/>
                  <a:pt x="171" y="81"/>
                </a:cubicBezTo>
                <a:cubicBezTo>
                  <a:pt x="173" y="81"/>
                  <a:pt x="173" y="84"/>
                  <a:pt x="173" y="85"/>
                </a:cubicBezTo>
                <a:cubicBezTo>
                  <a:pt x="173" y="86"/>
                  <a:pt x="173" y="86"/>
                  <a:pt x="173" y="86"/>
                </a:cubicBezTo>
                <a:cubicBezTo>
                  <a:pt x="171" y="86"/>
                  <a:pt x="169" y="86"/>
                  <a:pt x="168" y="87"/>
                </a:cubicBezTo>
                <a:cubicBezTo>
                  <a:pt x="166" y="88"/>
                  <a:pt x="164" y="89"/>
                  <a:pt x="163" y="89"/>
                </a:cubicBezTo>
                <a:cubicBezTo>
                  <a:pt x="162" y="89"/>
                  <a:pt x="160" y="88"/>
                  <a:pt x="159" y="86"/>
                </a:cubicBezTo>
                <a:cubicBezTo>
                  <a:pt x="159" y="85"/>
                  <a:pt x="162" y="83"/>
                  <a:pt x="162" y="85"/>
                </a:cubicBezTo>
                <a:cubicBezTo>
                  <a:pt x="163" y="87"/>
                  <a:pt x="163" y="88"/>
                  <a:pt x="165" y="86"/>
                </a:cubicBezTo>
                <a:cubicBezTo>
                  <a:pt x="166" y="86"/>
                  <a:pt x="164" y="83"/>
                  <a:pt x="162" y="82"/>
                </a:cubicBezTo>
                <a:cubicBezTo>
                  <a:pt x="162" y="79"/>
                  <a:pt x="163" y="73"/>
                  <a:pt x="159" y="71"/>
                </a:cubicBezTo>
                <a:close/>
                <a:moveTo>
                  <a:pt x="198" y="135"/>
                </a:moveTo>
                <a:cubicBezTo>
                  <a:pt x="198" y="135"/>
                  <a:pt x="198" y="135"/>
                  <a:pt x="198" y="135"/>
                </a:cubicBezTo>
                <a:cubicBezTo>
                  <a:pt x="194" y="132"/>
                  <a:pt x="189" y="130"/>
                  <a:pt x="186" y="126"/>
                </a:cubicBezTo>
                <a:cubicBezTo>
                  <a:pt x="187" y="131"/>
                  <a:pt x="193" y="132"/>
                  <a:pt x="198" y="135"/>
                </a:cubicBezTo>
                <a:close/>
                <a:moveTo>
                  <a:pt x="229" y="133"/>
                </a:moveTo>
                <a:cubicBezTo>
                  <a:pt x="229" y="133"/>
                  <a:pt x="229" y="133"/>
                  <a:pt x="229" y="133"/>
                </a:cubicBezTo>
                <a:cubicBezTo>
                  <a:pt x="225" y="134"/>
                  <a:pt x="219" y="139"/>
                  <a:pt x="214" y="137"/>
                </a:cubicBezTo>
                <a:cubicBezTo>
                  <a:pt x="215" y="138"/>
                  <a:pt x="215" y="138"/>
                  <a:pt x="215" y="138"/>
                </a:cubicBezTo>
                <a:cubicBezTo>
                  <a:pt x="217" y="140"/>
                  <a:pt x="226" y="135"/>
                  <a:pt x="229" y="133"/>
                </a:cubicBezTo>
                <a:close/>
                <a:moveTo>
                  <a:pt x="232" y="136"/>
                </a:moveTo>
                <a:cubicBezTo>
                  <a:pt x="232" y="136"/>
                  <a:pt x="232" y="136"/>
                  <a:pt x="232" y="136"/>
                </a:cubicBezTo>
                <a:cubicBezTo>
                  <a:pt x="228" y="138"/>
                  <a:pt x="222" y="141"/>
                  <a:pt x="220" y="140"/>
                </a:cubicBezTo>
                <a:cubicBezTo>
                  <a:pt x="221" y="140"/>
                  <a:pt x="218" y="139"/>
                  <a:pt x="218" y="139"/>
                </a:cubicBezTo>
                <a:cubicBezTo>
                  <a:pt x="225" y="139"/>
                  <a:pt x="226" y="136"/>
                  <a:pt x="232" y="136"/>
                </a:cubicBezTo>
                <a:close/>
                <a:moveTo>
                  <a:pt x="211" y="134"/>
                </a:moveTo>
                <a:cubicBezTo>
                  <a:pt x="211" y="134"/>
                  <a:pt x="211" y="134"/>
                  <a:pt x="211" y="134"/>
                </a:cubicBezTo>
                <a:cubicBezTo>
                  <a:pt x="210" y="134"/>
                  <a:pt x="210" y="134"/>
                  <a:pt x="210" y="134"/>
                </a:cubicBezTo>
                <a:cubicBezTo>
                  <a:pt x="210" y="134"/>
                  <a:pt x="210" y="134"/>
                  <a:pt x="210" y="134"/>
                </a:cubicBezTo>
                <a:cubicBezTo>
                  <a:pt x="210" y="134"/>
                  <a:pt x="211" y="134"/>
                  <a:pt x="211" y="134"/>
                </a:cubicBezTo>
                <a:close/>
                <a:moveTo>
                  <a:pt x="230" y="127"/>
                </a:moveTo>
                <a:cubicBezTo>
                  <a:pt x="223" y="128"/>
                  <a:pt x="212" y="135"/>
                  <a:pt x="206" y="133"/>
                </a:cubicBezTo>
                <a:cubicBezTo>
                  <a:pt x="205" y="133"/>
                  <a:pt x="208" y="134"/>
                  <a:pt x="208" y="134"/>
                </a:cubicBezTo>
                <a:cubicBezTo>
                  <a:pt x="208" y="134"/>
                  <a:pt x="209" y="134"/>
                  <a:pt x="210" y="134"/>
                </a:cubicBezTo>
                <a:cubicBezTo>
                  <a:pt x="211" y="135"/>
                  <a:pt x="212" y="135"/>
                  <a:pt x="212" y="135"/>
                </a:cubicBezTo>
                <a:cubicBezTo>
                  <a:pt x="214" y="137"/>
                  <a:pt x="227" y="132"/>
                  <a:pt x="231" y="129"/>
                </a:cubicBezTo>
                <a:cubicBezTo>
                  <a:pt x="226" y="130"/>
                  <a:pt x="217" y="135"/>
                  <a:pt x="211" y="134"/>
                </a:cubicBezTo>
                <a:cubicBezTo>
                  <a:pt x="216" y="134"/>
                  <a:pt x="227" y="129"/>
                  <a:pt x="230" y="127"/>
                </a:cubicBezTo>
                <a:cubicBezTo>
                  <a:pt x="230" y="127"/>
                  <a:pt x="230" y="127"/>
                  <a:pt x="230" y="127"/>
                </a:cubicBezTo>
                <a:close/>
                <a:moveTo>
                  <a:pt x="214" y="145"/>
                </a:moveTo>
                <a:cubicBezTo>
                  <a:pt x="209" y="144"/>
                  <a:pt x="205" y="141"/>
                  <a:pt x="202" y="137"/>
                </a:cubicBezTo>
                <a:cubicBezTo>
                  <a:pt x="206" y="140"/>
                  <a:pt x="210" y="143"/>
                  <a:pt x="214" y="145"/>
                </a:cubicBezTo>
                <a:cubicBezTo>
                  <a:pt x="214" y="145"/>
                  <a:pt x="214" y="145"/>
                  <a:pt x="214" y="145"/>
                </a:cubicBezTo>
                <a:close/>
                <a:moveTo>
                  <a:pt x="216" y="144"/>
                </a:moveTo>
                <a:cubicBezTo>
                  <a:pt x="216" y="144"/>
                  <a:pt x="216" y="144"/>
                  <a:pt x="216" y="144"/>
                </a:cubicBezTo>
                <a:cubicBezTo>
                  <a:pt x="221" y="148"/>
                  <a:pt x="222" y="147"/>
                  <a:pt x="229" y="150"/>
                </a:cubicBezTo>
                <a:cubicBezTo>
                  <a:pt x="229" y="150"/>
                  <a:pt x="229" y="150"/>
                  <a:pt x="229" y="149"/>
                </a:cubicBezTo>
                <a:cubicBezTo>
                  <a:pt x="221" y="145"/>
                  <a:pt x="225" y="148"/>
                  <a:pt x="216" y="144"/>
                </a:cubicBezTo>
                <a:close/>
                <a:moveTo>
                  <a:pt x="199" y="139"/>
                </a:moveTo>
                <a:cubicBezTo>
                  <a:pt x="199" y="139"/>
                  <a:pt x="199" y="139"/>
                  <a:pt x="199" y="139"/>
                </a:cubicBezTo>
                <a:cubicBezTo>
                  <a:pt x="209" y="145"/>
                  <a:pt x="219" y="148"/>
                  <a:pt x="227" y="152"/>
                </a:cubicBezTo>
                <a:cubicBezTo>
                  <a:pt x="226" y="152"/>
                  <a:pt x="226" y="152"/>
                  <a:pt x="226" y="152"/>
                </a:cubicBezTo>
                <a:cubicBezTo>
                  <a:pt x="217" y="149"/>
                  <a:pt x="206" y="146"/>
                  <a:pt x="199" y="139"/>
                </a:cubicBezTo>
                <a:close/>
                <a:moveTo>
                  <a:pt x="178" y="137"/>
                </a:moveTo>
                <a:cubicBezTo>
                  <a:pt x="178" y="137"/>
                  <a:pt x="178" y="137"/>
                  <a:pt x="178" y="137"/>
                </a:cubicBezTo>
                <a:cubicBezTo>
                  <a:pt x="177" y="136"/>
                  <a:pt x="176" y="135"/>
                  <a:pt x="174" y="133"/>
                </a:cubicBezTo>
                <a:cubicBezTo>
                  <a:pt x="175" y="135"/>
                  <a:pt x="176" y="136"/>
                  <a:pt x="177" y="138"/>
                </a:cubicBezTo>
                <a:cubicBezTo>
                  <a:pt x="177" y="137"/>
                  <a:pt x="178" y="137"/>
                  <a:pt x="178" y="137"/>
                </a:cubicBezTo>
                <a:close/>
                <a:moveTo>
                  <a:pt x="182" y="135"/>
                </a:moveTo>
                <a:cubicBezTo>
                  <a:pt x="182" y="135"/>
                  <a:pt x="182" y="135"/>
                  <a:pt x="182" y="135"/>
                </a:cubicBezTo>
                <a:cubicBezTo>
                  <a:pt x="182" y="136"/>
                  <a:pt x="181" y="136"/>
                  <a:pt x="181" y="136"/>
                </a:cubicBezTo>
                <a:cubicBezTo>
                  <a:pt x="180" y="135"/>
                  <a:pt x="179" y="134"/>
                  <a:pt x="177" y="132"/>
                </a:cubicBezTo>
                <a:cubicBezTo>
                  <a:pt x="182" y="135"/>
                  <a:pt x="179" y="134"/>
                  <a:pt x="182" y="135"/>
                </a:cubicBezTo>
                <a:close/>
                <a:moveTo>
                  <a:pt x="188" y="135"/>
                </a:moveTo>
                <a:cubicBezTo>
                  <a:pt x="188" y="135"/>
                  <a:pt x="187" y="135"/>
                  <a:pt x="187" y="135"/>
                </a:cubicBezTo>
                <a:cubicBezTo>
                  <a:pt x="186" y="134"/>
                  <a:pt x="185" y="133"/>
                  <a:pt x="185" y="131"/>
                </a:cubicBezTo>
                <a:cubicBezTo>
                  <a:pt x="186" y="133"/>
                  <a:pt x="187" y="134"/>
                  <a:pt x="188" y="135"/>
                </a:cubicBezTo>
                <a:cubicBezTo>
                  <a:pt x="188" y="135"/>
                  <a:pt x="188" y="135"/>
                  <a:pt x="188" y="135"/>
                </a:cubicBezTo>
                <a:close/>
                <a:moveTo>
                  <a:pt x="192" y="137"/>
                </a:moveTo>
                <a:cubicBezTo>
                  <a:pt x="192" y="137"/>
                  <a:pt x="192" y="137"/>
                  <a:pt x="192" y="137"/>
                </a:cubicBezTo>
                <a:cubicBezTo>
                  <a:pt x="192" y="136"/>
                  <a:pt x="191" y="136"/>
                  <a:pt x="191" y="135"/>
                </a:cubicBezTo>
                <a:cubicBezTo>
                  <a:pt x="191" y="135"/>
                  <a:pt x="191" y="136"/>
                  <a:pt x="192" y="136"/>
                </a:cubicBezTo>
                <a:cubicBezTo>
                  <a:pt x="192" y="136"/>
                  <a:pt x="192" y="137"/>
                  <a:pt x="192" y="137"/>
                </a:cubicBezTo>
                <a:close/>
                <a:moveTo>
                  <a:pt x="201" y="144"/>
                </a:moveTo>
                <a:cubicBezTo>
                  <a:pt x="207" y="149"/>
                  <a:pt x="216" y="152"/>
                  <a:pt x="224" y="154"/>
                </a:cubicBezTo>
                <a:cubicBezTo>
                  <a:pt x="225" y="154"/>
                  <a:pt x="225" y="154"/>
                  <a:pt x="225" y="154"/>
                </a:cubicBezTo>
                <a:cubicBezTo>
                  <a:pt x="216" y="150"/>
                  <a:pt x="207" y="147"/>
                  <a:pt x="198" y="141"/>
                </a:cubicBezTo>
                <a:cubicBezTo>
                  <a:pt x="199" y="142"/>
                  <a:pt x="200" y="143"/>
                  <a:pt x="201" y="144"/>
                </a:cubicBezTo>
                <a:cubicBezTo>
                  <a:pt x="201" y="144"/>
                  <a:pt x="201" y="144"/>
                  <a:pt x="201" y="144"/>
                </a:cubicBezTo>
                <a:close/>
                <a:moveTo>
                  <a:pt x="203" y="148"/>
                </a:moveTo>
                <a:cubicBezTo>
                  <a:pt x="202" y="147"/>
                  <a:pt x="202" y="147"/>
                  <a:pt x="202" y="147"/>
                </a:cubicBezTo>
                <a:cubicBezTo>
                  <a:pt x="207" y="149"/>
                  <a:pt x="214" y="152"/>
                  <a:pt x="218" y="154"/>
                </a:cubicBezTo>
                <a:cubicBezTo>
                  <a:pt x="214" y="153"/>
                  <a:pt x="207" y="150"/>
                  <a:pt x="203" y="148"/>
                </a:cubicBezTo>
                <a:cubicBezTo>
                  <a:pt x="203" y="148"/>
                  <a:pt x="203" y="148"/>
                  <a:pt x="203" y="148"/>
                </a:cubicBezTo>
                <a:close/>
                <a:moveTo>
                  <a:pt x="204" y="152"/>
                </a:moveTo>
                <a:cubicBezTo>
                  <a:pt x="207" y="153"/>
                  <a:pt x="209" y="154"/>
                  <a:pt x="211" y="154"/>
                </a:cubicBezTo>
                <a:cubicBezTo>
                  <a:pt x="209" y="153"/>
                  <a:pt x="206" y="152"/>
                  <a:pt x="204" y="150"/>
                </a:cubicBezTo>
                <a:cubicBezTo>
                  <a:pt x="204" y="151"/>
                  <a:pt x="204" y="151"/>
                  <a:pt x="204" y="152"/>
                </a:cubicBezTo>
                <a:cubicBezTo>
                  <a:pt x="204" y="152"/>
                  <a:pt x="204" y="152"/>
                  <a:pt x="204" y="152"/>
                </a:cubicBezTo>
                <a:close/>
                <a:moveTo>
                  <a:pt x="130" y="35"/>
                </a:moveTo>
                <a:cubicBezTo>
                  <a:pt x="130" y="35"/>
                  <a:pt x="130" y="35"/>
                  <a:pt x="130" y="35"/>
                </a:cubicBezTo>
                <a:cubicBezTo>
                  <a:pt x="129" y="35"/>
                  <a:pt x="128" y="36"/>
                  <a:pt x="127" y="36"/>
                </a:cubicBezTo>
                <a:cubicBezTo>
                  <a:pt x="127" y="39"/>
                  <a:pt x="127" y="47"/>
                  <a:pt x="129" y="49"/>
                </a:cubicBezTo>
                <a:cubicBezTo>
                  <a:pt x="126" y="47"/>
                  <a:pt x="125" y="39"/>
                  <a:pt x="125" y="38"/>
                </a:cubicBezTo>
                <a:cubicBezTo>
                  <a:pt x="121" y="40"/>
                  <a:pt x="118" y="42"/>
                  <a:pt x="116" y="44"/>
                </a:cubicBezTo>
                <a:cubicBezTo>
                  <a:pt x="115" y="48"/>
                  <a:pt x="114" y="54"/>
                  <a:pt x="115" y="56"/>
                </a:cubicBezTo>
                <a:cubicBezTo>
                  <a:pt x="114" y="54"/>
                  <a:pt x="113" y="50"/>
                  <a:pt x="113" y="47"/>
                </a:cubicBezTo>
                <a:cubicBezTo>
                  <a:pt x="111" y="49"/>
                  <a:pt x="109" y="52"/>
                  <a:pt x="107" y="54"/>
                </a:cubicBezTo>
                <a:cubicBezTo>
                  <a:pt x="107" y="57"/>
                  <a:pt x="107" y="59"/>
                  <a:pt x="108" y="62"/>
                </a:cubicBezTo>
                <a:cubicBezTo>
                  <a:pt x="107" y="61"/>
                  <a:pt x="106" y="60"/>
                  <a:pt x="105" y="59"/>
                </a:cubicBezTo>
                <a:cubicBezTo>
                  <a:pt x="105" y="59"/>
                  <a:pt x="105" y="59"/>
                  <a:pt x="105" y="58"/>
                </a:cubicBezTo>
                <a:cubicBezTo>
                  <a:pt x="105" y="58"/>
                  <a:pt x="104" y="59"/>
                  <a:pt x="104" y="59"/>
                </a:cubicBezTo>
                <a:cubicBezTo>
                  <a:pt x="103" y="58"/>
                  <a:pt x="102" y="57"/>
                  <a:pt x="101" y="57"/>
                </a:cubicBezTo>
                <a:cubicBezTo>
                  <a:pt x="101" y="60"/>
                  <a:pt x="101" y="63"/>
                  <a:pt x="101" y="66"/>
                </a:cubicBezTo>
                <a:cubicBezTo>
                  <a:pt x="100" y="71"/>
                  <a:pt x="99" y="76"/>
                  <a:pt x="100" y="81"/>
                </a:cubicBezTo>
                <a:cubicBezTo>
                  <a:pt x="97" y="90"/>
                  <a:pt x="94" y="97"/>
                  <a:pt x="88" y="102"/>
                </a:cubicBezTo>
                <a:cubicBezTo>
                  <a:pt x="99" y="88"/>
                  <a:pt x="100" y="75"/>
                  <a:pt x="98" y="55"/>
                </a:cubicBezTo>
                <a:cubicBezTo>
                  <a:pt x="94" y="52"/>
                  <a:pt x="88" y="50"/>
                  <a:pt x="82" y="48"/>
                </a:cubicBezTo>
                <a:cubicBezTo>
                  <a:pt x="81" y="48"/>
                  <a:pt x="80" y="48"/>
                  <a:pt x="79" y="47"/>
                </a:cubicBezTo>
                <a:cubicBezTo>
                  <a:pt x="77" y="50"/>
                  <a:pt x="72" y="54"/>
                  <a:pt x="71" y="57"/>
                </a:cubicBezTo>
                <a:cubicBezTo>
                  <a:pt x="71" y="54"/>
                  <a:pt x="75" y="48"/>
                  <a:pt x="76" y="47"/>
                </a:cubicBezTo>
                <a:cubicBezTo>
                  <a:pt x="73" y="46"/>
                  <a:pt x="69" y="46"/>
                  <a:pt x="65" y="46"/>
                </a:cubicBezTo>
                <a:cubicBezTo>
                  <a:pt x="62" y="48"/>
                  <a:pt x="58" y="51"/>
                  <a:pt x="57" y="53"/>
                </a:cubicBezTo>
                <a:cubicBezTo>
                  <a:pt x="57" y="51"/>
                  <a:pt x="60" y="48"/>
                  <a:pt x="62" y="46"/>
                </a:cubicBezTo>
                <a:cubicBezTo>
                  <a:pt x="58" y="46"/>
                  <a:pt x="55" y="46"/>
                  <a:pt x="52" y="47"/>
                </a:cubicBezTo>
                <a:cubicBezTo>
                  <a:pt x="42" y="60"/>
                  <a:pt x="36" y="68"/>
                  <a:pt x="41" y="82"/>
                </a:cubicBezTo>
                <a:cubicBezTo>
                  <a:pt x="35" y="72"/>
                  <a:pt x="38" y="60"/>
                  <a:pt x="48" y="48"/>
                </a:cubicBezTo>
                <a:cubicBezTo>
                  <a:pt x="36" y="52"/>
                  <a:pt x="27" y="59"/>
                  <a:pt x="24" y="69"/>
                </a:cubicBezTo>
                <a:cubicBezTo>
                  <a:pt x="22" y="79"/>
                  <a:pt x="25" y="90"/>
                  <a:pt x="33" y="98"/>
                </a:cubicBezTo>
                <a:cubicBezTo>
                  <a:pt x="33" y="98"/>
                  <a:pt x="33" y="98"/>
                  <a:pt x="33" y="98"/>
                </a:cubicBezTo>
                <a:cubicBezTo>
                  <a:pt x="28" y="106"/>
                  <a:pt x="19" y="114"/>
                  <a:pt x="17" y="122"/>
                </a:cubicBezTo>
                <a:cubicBezTo>
                  <a:pt x="11" y="143"/>
                  <a:pt x="18" y="157"/>
                  <a:pt x="35" y="162"/>
                </a:cubicBezTo>
                <a:cubicBezTo>
                  <a:pt x="50" y="166"/>
                  <a:pt x="42" y="190"/>
                  <a:pt x="37" y="201"/>
                </a:cubicBezTo>
                <a:cubicBezTo>
                  <a:pt x="30" y="218"/>
                  <a:pt x="0" y="223"/>
                  <a:pt x="5" y="237"/>
                </a:cubicBezTo>
                <a:cubicBezTo>
                  <a:pt x="8" y="245"/>
                  <a:pt x="21" y="255"/>
                  <a:pt x="23" y="262"/>
                </a:cubicBezTo>
                <a:cubicBezTo>
                  <a:pt x="39" y="263"/>
                  <a:pt x="37" y="269"/>
                  <a:pt x="26" y="250"/>
                </a:cubicBezTo>
                <a:cubicBezTo>
                  <a:pt x="21" y="241"/>
                  <a:pt x="16" y="229"/>
                  <a:pt x="22" y="222"/>
                </a:cubicBezTo>
                <a:cubicBezTo>
                  <a:pt x="41" y="211"/>
                  <a:pt x="48" y="197"/>
                  <a:pt x="58" y="185"/>
                </a:cubicBezTo>
                <a:cubicBezTo>
                  <a:pt x="59" y="183"/>
                  <a:pt x="61" y="181"/>
                  <a:pt x="62" y="178"/>
                </a:cubicBezTo>
                <a:cubicBezTo>
                  <a:pt x="65" y="183"/>
                  <a:pt x="69" y="189"/>
                  <a:pt x="76" y="193"/>
                </a:cubicBezTo>
                <a:cubicBezTo>
                  <a:pt x="80" y="192"/>
                  <a:pt x="89" y="192"/>
                  <a:pt x="91" y="193"/>
                </a:cubicBezTo>
                <a:cubicBezTo>
                  <a:pt x="90" y="191"/>
                  <a:pt x="83" y="183"/>
                  <a:pt x="84" y="181"/>
                </a:cubicBezTo>
                <a:cubicBezTo>
                  <a:pt x="83" y="178"/>
                  <a:pt x="88" y="182"/>
                  <a:pt x="94" y="182"/>
                </a:cubicBezTo>
                <a:cubicBezTo>
                  <a:pt x="99" y="174"/>
                  <a:pt x="100" y="175"/>
                  <a:pt x="104" y="170"/>
                </a:cubicBezTo>
                <a:cubicBezTo>
                  <a:pt x="101" y="168"/>
                  <a:pt x="75" y="169"/>
                  <a:pt x="69" y="148"/>
                </a:cubicBezTo>
                <a:cubicBezTo>
                  <a:pt x="70" y="146"/>
                  <a:pt x="71" y="142"/>
                  <a:pt x="69" y="141"/>
                </a:cubicBezTo>
                <a:cubicBezTo>
                  <a:pt x="67" y="139"/>
                  <a:pt x="64" y="139"/>
                  <a:pt x="64" y="136"/>
                </a:cubicBezTo>
                <a:cubicBezTo>
                  <a:pt x="64" y="136"/>
                  <a:pt x="63" y="136"/>
                  <a:pt x="63" y="136"/>
                </a:cubicBezTo>
                <a:cubicBezTo>
                  <a:pt x="62" y="136"/>
                  <a:pt x="60" y="135"/>
                  <a:pt x="59" y="134"/>
                </a:cubicBezTo>
                <a:cubicBezTo>
                  <a:pt x="59" y="133"/>
                  <a:pt x="59" y="133"/>
                  <a:pt x="59" y="133"/>
                </a:cubicBezTo>
                <a:cubicBezTo>
                  <a:pt x="58" y="132"/>
                  <a:pt x="58" y="132"/>
                  <a:pt x="57" y="132"/>
                </a:cubicBezTo>
                <a:cubicBezTo>
                  <a:pt x="57" y="133"/>
                  <a:pt x="57" y="133"/>
                  <a:pt x="56" y="134"/>
                </a:cubicBezTo>
                <a:cubicBezTo>
                  <a:pt x="53" y="134"/>
                  <a:pt x="47" y="133"/>
                  <a:pt x="49" y="129"/>
                </a:cubicBezTo>
                <a:cubicBezTo>
                  <a:pt x="49" y="129"/>
                  <a:pt x="50" y="129"/>
                  <a:pt x="50" y="129"/>
                </a:cubicBezTo>
                <a:cubicBezTo>
                  <a:pt x="43" y="126"/>
                  <a:pt x="39" y="123"/>
                  <a:pt x="39" y="120"/>
                </a:cubicBezTo>
                <a:cubicBezTo>
                  <a:pt x="40" y="117"/>
                  <a:pt x="50" y="116"/>
                  <a:pt x="61" y="119"/>
                </a:cubicBezTo>
                <a:cubicBezTo>
                  <a:pt x="73" y="121"/>
                  <a:pt x="83" y="126"/>
                  <a:pt x="82" y="130"/>
                </a:cubicBezTo>
                <a:cubicBezTo>
                  <a:pt x="81" y="132"/>
                  <a:pt x="75" y="133"/>
                  <a:pt x="67" y="133"/>
                </a:cubicBezTo>
                <a:cubicBezTo>
                  <a:pt x="66" y="134"/>
                  <a:pt x="66" y="135"/>
                  <a:pt x="65" y="135"/>
                </a:cubicBezTo>
                <a:cubicBezTo>
                  <a:pt x="64" y="135"/>
                  <a:pt x="64" y="136"/>
                  <a:pt x="63" y="136"/>
                </a:cubicBezTo>
                <a:cubicBezTo>
                  <a:pt x="61" y="135"/>
                  <a:pt x="60" y="133"/>
                  <a:pt x="59" y="133"/>
                </a:cubicBezTo>
                <a:cubicBezTo>
                  <a:pt x="59" y="133"/>
                  <a:pt x="59" y="133"/>
                  <a:pt x="57" y="133"/>
                </a:cubicBezTo>
                <a:cubicBezTo>
                  <a:pt x="57" y="133"/>
                  <a:pt x="57" y="134"/>
                  <a:pt x="56" y="134"/>
                </a:cubicBezTo>
                <a:cubicBezTo>
                  <a:pt x="56" y="135"/>
                  <a:pt x="55" y="137"/>
                  <a:pt x="52" y="137"/>
                </a:cubicBezTo>
                <a:cubicBezTo>
                  <a:pt x="47" y="140"/>
                  <a:pt x="49" y="142"/>
                  <a:pt x="49" y="144"/>
                </a:cubicBezTo>
                <a:cubicBezTo>
                  <a:pt x="48" y="145"/>
                  <a:pt x="48" y="146"/>
                  <a:pt x="48" y="148"/>
                </a:cubicBezTo>
                <a:cubicBezTo>
                  <a:pt x="35" y="146"/>
                  <a:pt x="20" y="153"/>
                  <a:pt x="21" y="130"/>
                </a:cubicBezTo>
                <a:cubicBezTo>
                  <a:pt x="21" y="121"/>
                  <a:pt x="36" y="111"/>
                  <a:pt x="43" y="107"/>
                </a:cubicBezTo>
                <a:cubicBezTo>
                  <a:pt x="40" y="117"/>
                  <a:pt x="40" y="117"/>
                  <a:pt x="40" y="117"/>
                </a:cubicBezTo>
                <a:cubicBezTo>
                  <a:pt x="51" y="114"/>
                  <a:pt x="78" y="120"/>
                  <a:pt x="83" y="129"/>
                </a:cubicBezTo>
                <a:cubicBezTo>
                  <a:pt x="86" y="118"/>
                  <a:pt x="86" y="118"/>
                  <a:pt x="86" y="118"/>
                </a:cubicBezTo>
                <a:cubicBezTo>
                  <a:pt x="85" y="118"/>
                  <a:pt x="85" y="118"/>
                  <a:pt x="85" y="118"/>
                </a:cubicBezTo>
                <a:cubicBezTo>
                  <a:pt x="98" y="117"/>
                  <a:pt x="109" y="112"/>
                  <a:pt x="115" y="105"/>
                </a:cubicBezTo>
                <a:cubicBezTo>
                  <a:pt x="123" y="109"/>
                  <a:pt x="133" y="111"/>
                  <a:pt x="143" y="110"/>
                </a:cubicBezTo>
                <a:cubicBezTo>
                  <a:pt x="149" y="121"/>
                  <a:pt x="149" y="121"/>
                  <a:pt x="149" y="121"/>
                </a:cubicBezTo>
                <a:cubicBezTo>
                  <a:pt x="154" y="110"/>
                  <a:pt x="178" y="96"/>
                  <a:pt x="188" y="100"/>
                </a:cubicBezTo>
                <a:cubicBezTo>
                  <a:pt x="183" y="89"/>
                  <a:pt x="183" y="89"/>
                  <a:pt x="183" y="89"/>
                </a:cubicBezTo>
                <a:cubicBezTo>
                  <a:pt x="182" y="90"/>
                  <a:pt x="182" y="90"/>
                  <a:pt x="182" y="90"/>
                </a:cubicBezTo>
                <a:cubicBezTo>
                  <a:pt x="194" y="76"/>
                  <a:pt x="198" y="60"/>
                  <a:pt x="191" y="46"/>
                </a:cubicBezTo>
                <a:cubicBezTo>
                  <a:pt x="190" y="43"/>
                  <a:pt x="188" y="41"/>
                  <a:pt x="185" y="38"/>
                </a:cubicBezTo>
                <a:cubicBezTo>
                  <a:pt x="190" y="49"/>
                  <a:pt x="191" y="60"/>
                  <a:pt x="190" y="69"/>
                </a:cubicBezTo>
                <a:cubicBezTo>
                  <a:pt x="190" y="55"/>
                  <a:pt x="187" y="44"/>
                  <a:pt x="179" y="33"/>
                </a:cubicBezTo>
                <a:cubicBezTo>
                  <a:pt x="176" y="32"/>
                  <a:pt x="173" y="31"/>
                  <a:pt x="170" y="30"/>
                </a:cubicBezTo>
                <a:cubicBezTo>
                  <a:pt x="182" y="45"/>
                  <a:pt x="184" y="61"/>
                  <a:pt x="183" y="74"/>
                </a:cubicBezTo>
                <a:cubicBezTo>
                  <a:pt x="182" y="56"/>
                  <a:pt x="177" y="44"/>
                  <a:pt x="163" y="28"/>
                </a:cubicBezTo>
                <a:cubicBezTo>
                  <a:pt x="159" y="28"/>
                  <a:pt x="154" y="28"/>
                  <a:pt x="150" y="28"/>
                </a:cubicBezTo>
                <a:cubicBezTo>
                  <a:pt x="165" y="45"/>
                  <a:pt x="174" y="61"/>
                  <a:pt x="173" y="75"/>
                </a:cubicBezTo>
                <a:cubicBezTo>
                  <a:pt x="171" y="55"/>
                  <a:pt x="162" y="45"/>
                  <a:pt x="147" y="29"/>
                </a:cubicBezTo>
                <a:cubicBezTo>
                  <a:pt x="141" y="30"/>
                  <a:pt x="135" y="32"/>
                  <a:pt x="130" y="35"/>
                </a:cubicBezTo>
                <a:close/>
                <a:moveTo>
                  <a:pt x="43" y="106"/>
                </a:moveTo>
                <a:cubicBezTo>
                  <a:pt x="43" y="106"/>
                  <a:pt x="43" y="106"/>
                  <a:pt x="43" y="106"/>
                </a:cubicBezTo>
                <a:cubicBezTo>
                  <a:pt x="43" y="107"/>
                  <a:pt x="43" y="107"/>
                  <a:pt x="43" y="107"/>
                </a:cubicBezTo>
                <a:cubicBezTo>
                  <a:pt x="43" y="106"/>
                  <a:pt x="43" y="106"/>
                  <a:pt x="43" y="106"/>
                </a:cubicBezTo>
                <a:cubicBezTo>
                  <a:pt x="43" y="106"/>
                  <a:pt x="43" y="106"/>
                  <a:pt x="43" y="106"/>
                </a:cubicBezTo>
                <a:close/>
                <a:moveTo>
                  <a:pt x="63" y="176"/>
                </a:moveTo>
                <a:cubicBezTo>
                  <a:pt x="63" y="176"/>
                  <a:pt x="63" y="176"/>
                  <a:pt x="63" y="176"/>
                </a:cubicBezTo>
                <a:cubicBezTo>
                  <a:pt x="63" y="175"/>
                  <a:pt x="63" y="175"/>
                  <a:pt x="63" y="175"/>
                </a:cubicBezTo>
                <a:cubicBezTo>
                  <a:pt x="64" y="177"/>
                  <a:pt x="65" y="180"/>
                  <a:pt x="66" y="182"/>
                </a:cubicBezTo>
                <a:cubicBezTo>
                  <a:pt x="65" y="181"/>
                  <a:pt x="64" y="178"/>
                  <a:pt x="63" y="176"/>
                </a:cubicBezTo>
                <a:close/>
                <a:moveTo>
                  <a:pt x="64" y="172"/>
                </a:moveTo>
                <a:cubicBezTo>
                  <a:pt x="64" y="172"/>
                  <a:pt x="64" y="172"/>
                  <a:pt x="64" y="172"/>
                </a:cubicBezTo>
                <a:cubicBezTo>
                  <a:pt x="64" y="171"/>
                  <a:pt x="64" y="171"/>
                  <a:pt x="64" y="171"/>
                </a:cubicBezTo>
                <a:cubicBezTo>
                  <a:pt x="67" y="176"/>
                  <a:pt x="70" y="182"/>
                  <a:pt x="72" y="186"/>
                </a:cubicBezTo>
                <a:cubicBezTo>
                  <a:pt x="70" y="183"/>
                  <a:pt x="66" y="177"/>
                  <a:pt x="64" y="172"/>
                </a:cubicBezTo>
                <a:close/>
                <a:moveTo>
                  <a:pt x="65" y="168"/>
                </a:moveTo>
                <a:cubicBezTo>
                  <a:pt x="65" y="168"/>
                  <a:pt x="65" y="168"/>
                  <a:pt x="65" y="168"/>
                </a:cubicBezTo>
                <a:cubicBezTo>
                  <a:pt x="65" y="167"/>
                  <a:pt x="65" y="165"/>
                  <a:pt x="65" y="164"/>
                </a:cubicBezTo>
                <a:cubicBezTo>
                  <a:pt x="68" y="174"/>
                  <a:pt x="73" y="182"/>
                  <a:pt x="78" y="191"/>
                </a:cubicBezTo>
                <a:cubicBezTo>
                  <a:pt x="78" y="190"/>
                  <a:pt x="77" y="190"/>
                  <a:pt x="77" y="190"/>
                </a:cubicBezTo>
                <a:cubicBezTo>
                  <a:pt x="72" y="183"/>
                  <a:pt x="67" y="176"/>
                  <a:pt x="65" y="168"/>
                </a:cubicBezTo>
                <a:close/>
                <a:moveTo>
                  <a:pt x="63" y="157"/>
                </a:moveTo>
                <a:cubicBezTo>
                  <a:pt x="63" y="157"/>
                  <a:pt x="63" y="157"/>
                  <a:pt x="63" y="157"/>
                </a:cubicBezTo>
                <a:cubicBezTo>
                  <a:pt x="63" y="157"/>
                  <a:pt x="63" y="156"/>
                  <a:pt x="63" y="156"/>
                </a:cubicBezTo>
                <a:cubicBezTo>
                  <a:pt x="63" y="156"/>
                  <a:pt x="63" y="155"/>
                  <a:pt x="63" y="154"/>
                </a:cubicBezTo>
                <a:cubicBezTo>
                  <a:pt x="63" y="155"/>
                  <a:pt x="63" y="156"/>
                  <a:pt x="63" y="157"/>
                </a:cubicBezTo>
                <a:close/>
                <a:moveTo>
                  <a:pt x="61" y="153"/>
                </a:moveTo>
                <a:cubicBezTo>
                  <a:pt x="61" y="153"/>
                  <a:pt x="61" y="153"/>
                  <a:pt x="61" y="153"/>
                </a:cubicBezTo>
                <a:cubicBezTo>
                  <a:pt x="60" y="153"/>
                  <a:pt x="60" y="152"/>
                  <a:pt x="60" y="152"/>
                </a:cubicBezTo>
                <a:cubicBezTo>
                  <a:pt x="60" y="151"/>
                  <a:pt x="60" y="149"/>
                  <a:pt x="60" y="148"/>
                </a:cubicBezTo>
                <a:cubicBezTo>
                  <a:pt x="60" y="150"/>
                  <a:pt x="61" y="151"/>
                  <a:pt x="61" y="153"/>
                </a:cubicBezTo>
                <a:close/>
                <a:moveTo>
                  <a:pt x="56" y="150"/>
                </a:moveTo>
                <a:cubicBezTo>
                  <a:pt x="56" y="150"/>
                  <a:pt x="56" y="150"/>
                  <a:pt x="56" y="150"/>
                </a:cubicBezTo>
                <a:cubicBezTo>
                  <a:pt x="55" y="149"/>
                  <a:pt x="55" y="149"/>
                  <a:pt x="54" y="149"/>
                </a:cubicBezTo>
                <a:cubicBezTo>
                  <a:pt x="54" y="148"/>
                  <a:pt x="54" y="147"/>
                  <a:pt x="54" y="144"/>
                </a:cubicBezTo>
                <a:cubicBezTo>
                  <a:pt x="55" y="149"/>
                  <a:pt x="54" y="146"/>
                  <a:pt x="56" y="150"/>
                </a:cubicBezTo>
                <a:close/>
                <a:moveTo>
                  <a:pt x="51" y="148"/>
                </a:moveTo>
                <a:cubicBezTo>
                  <a:pt x="51" y="148"/>
                  <a:pt x="51" y="148"/>
                  <a:pt x="51" y="148"/>
                </a:cubicBezTo>
                <a:cubicBezTo>
                  <a:pt x="51" y="148"/>
                  <a:pt x="51" y="148"/>
                  <a:pt x="50" y="148"/>
                </a:cubicBezTo>
                <a:cubicBezTo>
                  <a:pt x="50" y="146"/>
                  <a:pt x="50" y="144"/>
                  <a:pt x="51" y="142"/>
                </a:cubicBezTo>
                <a:cubicBezTo>
                  <a:pt x="51" y="145"/>
                  <a:pt x="51" y="147"/>
                  <a:pt x="51" y="148"/>
                </a:cubicBezTo>
                <a:close/>
                <a:moveTo>
                  <a:pt x="81" y="39"/>
                </a:moveTo>
                <a:cubicBezTo>
                  <a:pt x="81" y="39"/>
                  <a:pt x="81" y="39"/>
                  <a:pt x="81" y="39"/>
                </a:cubicBezTo>
                <a:cubicBezTo>
                  <a:pt x="81" y="35"/>
                  <a:pt x="84" y="31"/>
                  <a:pt x="86" y="27"/>
                </a:cubicBezTo>
                <a:cubicBezTo>
                  <a:pt x="90" y="22"/>
                  <a:pt x="95" y="25"/>
                  <a:pt x="87" y="23"/>
                </a:cubicBezTo>
                <a:cubicBezTo>
                  <a:pt x="83" y="21"/>
                  <a:pt x="79" y="24"/>
                  <a:pt x="77" y="19"/>
                </a:cubicBezTo>
                <a:cubicBezTo>
                  <a:pt x="75" y="16"/>
                  <a:pt x="76" y="11"/>
                  <a:pt x="81" y="10"/>
                </a:cubicBezTo>
                <a:cubicBezTo>
                  <a:pt x="84" y="10"/>
                  <a:pt x="89" y="18"/>
                  <a:pt x="92" y="20"/>
                </a:cubicBezTo>
                <a:cubicBezTo>
                  <a:pt x="94" y="22"/>
                  <a:pt x="96" y="23"/>
                  <a:pt x="95" y="17"/>
                </a:cubicBezTo>
                <a:cubicBezTo>
                  <a:pt x="94" y="12"/>
                  <a:pt x="93" y="8"/>
                  <a:pt x="92" y="4"/>
                </a:cubicBezTo>
                <a:cubicBezTo>
                  <a:pt x="92" y="3"/>
                  <a:pt x="92" y="0"/>
                  <a:pt x="92" y="0"/>
                </a:cubicBezTo>
                <a:cubicBezTo>
                  <a:pt x="101" y="6"/>
                  <a:pt x="93" y="9"/>
                  <a:pt x="96" y="15"/>
                </a:cubicBezTo>
                <a:cubicBezTo>
                  <a:pt x="96" y="15"/>
                  <a:pt x="99" y="12"/>
                  <a:pt x="101" y="11"/>
                </a:cubicBezTo>
                <a:cubicBezTo>
                  <a:pt x="103" y="9"/>
                  <a:pt x="107" y="8"/>
                  <a:pt x="111" y="8"/>
                </a:cubicBezTo>
                <a:cubicBezTo>
                  <a:pt x="122" y="12"/>
                  <a:pt x="99" y="16"/>
                  <a:pt x="98" y="20"/>
                </a:cubicBezTo>
                <a:cubicBezTo>
                  <a:pt x="99" y="20"/>
                  <a:pt x="134" y="19"/>
                  <a:pt x="128" y="25"/>
                </a:cubicBezTo>
                <a:cubicBezTo>
                  <a:pt x="135" y="22"/>
                  <a:pt x="142" y="20"/>
                  <a:pt x="144" y="22"/>
                </a:cubicBezTo>
                <a:cubicBezTo>
                  <a:pt x="144" y="22"/>
                  <a:pt x="148" y="27"/>
                  <a:pt x="147" y="28"/>
                </a:cubicBezTo>
                <a:cubicBezTo>
                  <a:pt x="134" y="31"/>
                  <a:pt x="123" y="36"/>
                  <a:pt x="114" y="45"/>
                </a:cubicBezTo>
                <a:cubicBezTo>
                  <a:pt x="113" y="46"/>
                  <a:pt x="109" y="39"/>
                  <a:pt x="110" y="38"/>
                </a:cubicBezTo>
                <a:cubicBezTo>
                  <a:pt x="113" y="35"/>
                  <a:pt x="116" y="32"/>
                  <a:pt x="120" y="29"/>
                </a:cubicBezTo>
                <a:cubicBezTo>
                  <a:pt x="119" y="29"/>
                  <a:pt x="119" y="28"/>
                  <a:pt x="116" y="26"/>
                </a:cubicBezTo>
                <a:cubicBezTo>
                  <a:pt x="114" y="22"/>
                  <a:pt x="105" y="20"/>
                  <a:pt x="100" y="21"/>
                </a:cubicBezTo>
                <a:cubicBezTo>
                  <a:pt x="99" y="21"/>
                  <a:pt x="97" y="22"/>
                  <a:pt x="97" y="23"/>
                </a:cubicBezTo>
                <a:cubicBezTo>
                  <a:pt x="96" y="25"/>
                  <a:pt x="100" y="30"/>
                  <a:pt x="101" y="30"/>
                </a:cubicBezTo>
                <a:cubicBezTo>
                  <a:pt x="107" y="37"/>
                  <a:pt x="96" y="41"/>
                  <a:pt x="94" y="32"/>
                </a:cubicBezTo>
                <a:cubicBezTo>
                  <a:pt x="94" y="30"/>
                  <a:pt x="96" y="25"/>
                  <a:pt x="93" y="24"/>
                </a:cubicBezTo>
                <a:cubicBezTo>
                  <a:pt x="89" y="23"/>
                  <a:pt x="86" y="33"/>
                  <a:pt x="86" y="36"/>
                </a:cubicBezTo>
                <a:cubicBezTo>
                  <a:pt x="86" y="38"/>
                  <a:pt x="87" y="39"/>
                  <a:pt x="87" y="41"/>
                </a:cubicBezTo>
                <a:cubicBezTo>
                  <a:pt x="94" y="43"/>
                  <a:pt x="100" y="46"/>
                  <a:pt x="101" y="49"/>
                </a:cubicBezTo>
                <a:cubicBezTo>
                  <a:pt x="101" y="49"/>
                  <a:pt x="101" y="55"/>
                  <a:pt x="99" y="54"/>
                </a:cubicBezTo>
                <a:cubicBezTo>
                  <a:pt x="88" y="48"/>
                  <a:pt x="76" y="45"/>
                  <a:pt x="63" y="45"/>
                </a:cubicBezTo>
                <a:cubicBezTo>
                  <a:pt x="62" y="45"/>
                  <a:pt x="64" y="38"/>
                  <a:pt x="65" y="38"/>
                </a:cubicBezTo>
                <a:cubicBezTo>
                  <a:pt x="70" y="37"/>
                  <a:pt x="75" y="38"/>
                  <a:pt x="81" y="39"/>
                </a:cubicBezTo>
                <a:close/>
                <a:moveTo>
                  <a:pt x="86" y="42"/>
                </a:moveTo>
                <a:cubicBezTo>
                  <a:pt x="86" y="42"/>
                  <a:pt x="86" y="42"/>
                  <a:pt x="86" y="42"/>
                </a:cubicBezTo>
                <a:cubicBezTo>
                  <a:pt x="88" y="42"/>
                  <a:pt x="89" y="43"/>
                  <a:pt x="91" y="43"/>
                </a:cubicBezTo>
                <a:cubicBezTo>
                  <a:pt x="92" y="44"/>
                  <a:pt x="98" y="46"/>
                  <a:pt x="99" y="47"/>
                </a:cubicBezTo>
                <a:cubicBezTo>
                  <a:pt x="97" y="46"/>
                  <a:pt x="92" y="45"/>
                  <a:pt x="90" y="44"/>
                </a:cubicBezTo>
                <a:cubicBezTo>
                  <a:pt x="83" y="41"/>
                  <a:pt x="76" y="40"/>
                  <a:pt x="69" y="39"/>
                </a:cubicBezTo>
                <a:cubicBezTo>
                  <a:pt x="68" y="39"/>
                  <a:pt x="72" y="39"/>
                  <a:pt x="73" y="39"/>
                </a:cubicBezTo>
                <a:cubicBezTo>
                  <a:pt x="77" y="40"/>
                  <a:pt x="80" y="40"/>
                  <a:pt x="84" y="41"/>
                </a:cubicBezTo>
                <a:cubicBezTo>
                  <a:pt x="85" y="42"/>
                  <a:pt x="86" y="42"/>
                  <a:pt x="86" y="42"/>
                </a:cubicBezTo>
                <a:cubicBezTo>
                  <a:pt x="86" y="42"/>
                  <a:pt x="86" y="42"/>
                  <a:pt x="86" y="42"/>
                </a:cubicBezTo>
                <a:close/>
                <a:moveTo>
                  <a:pt x="96" y="28"/>
                </a:moveTo>
                <a:cubicBezTo>
                  <a:pt x="96" y="28"/>
                  <a:pt x="96" y="28"/>
                  <a:pt x="96" y="28"/>
                </a:cubicBezTo>
                <a:cubicBezTo>
                  <a:pt x="96" y="28"/>
                  <a:pt x="100" y="35"/>
                  <a:pt x="99" y="35"/>
                </a:cubicBezTo>
                <a:cubicBezTo>
                  <a:pt x="96" y="34"/>
                  <a:pt x="96" y="30"/>
                  <a:pt x="96" y="28"/>
                </a:cubicBezTo>
                <a:close/>
                <a:moveTo>
                  <a:pt x="88" y="20"/>
                </a:moveTo>
                <a:cubicBezTo>
                  <a:pt x="84" y="17"/>
                  <a:pt x="82" y="15"/>
                  <a:pt x="81" y="18"/>
                </a:cubicBezTo>
                <a:cubicBezTo>
                  <a:pt x="80" y="21"/>
                  <a:pt x="87" y="20"/>
                  <a:pt x="88" y="20"/>
                </a:cubicBezTo>
                <a:cubicBezTo>
                  <a:pt x="88" y="20"/>
                  <a:pt x="88" y="20"/>
                  <a:pt x="88" y="20"/>
                </a:cubicBezTo>
                <a:close/>
                <a:moveTo>
                  <a:pt x="111" y="76"/>
                </a:moveTo>
                <a:cubicBezTo>
                  <a:pt x="111" y="76"/>
                  <a:pt x="111" y="76"/>
                  <a:pt x="111" y="76"/>
                </a:cubicBezTo>
                <a:cubicBezTo>
                  <a:pt x="111" y="78"/>
                  <a:pt x="112" y="79"/>
                  <a:pt x="113" y="81"/>
                </a:cubicBezTo>
                <a:cubicBezTo>
                  <a:pt x="113" y="82"/>
                  <a:pt x="113" y="82"/>
                  <a:pt x="113" y="83"/>
                </a:cubicBezTo>
                <a:cubicBezTo>
                  <a:pt x="112" y="81"/>
                  <a:pt x="111" y="80"/>
                  <a:pt x="110" y="79"/>
                </a:cubicBezTo>
                <a:cubicBezTo>
                  <a:pt x="111" y="78"/>
                  <a:pt x="111" y="77"/>
                  <a:pt x="111" y="76"/>
                </a:cubicBezTo>
                <a:close/>
                <a:moveTo>
                  <a:pt x="118" y="87"/>
                </a:moveTo>
                <a:cubicBezTo>
                  <a:pt x="118" y="87"/>
                  <a:pt x="118" y="87"/>
                  <a:pt x="118" y="87"/>
                </a:cubicBezTo>
                <a:cubicBezTo>
                  <a:pt x="119" y="87"/>
                  <a:pt x="119" y="88"/>
                  <a:pt x="120" y="89"/>
                </a:cubicBezTo>
                <a:cubicBezTo>
                  <a:pt x="120" y="89"/>
                  <a:pt x="120" y="89"/>
                  <a:pt x="120" y="89"/>
                </a:cubicBezTo>
                <a:cubicBezTo>
                  <a:pt x="119" y="89"/>
                  <a:pt x="118" y="88"/>
                  <a:pt x="118" y="88"/>
                </a:cubicBezTo>
                <a:cubicBezTo>
                  <a:pt x="118" y="87"/>
                  <a:pt x="118" y="87"/>
                  <a:pt x="118" y="87"/>
                </a:cubicBezTo>
                <a:close/>
                <a:moveTo>
                  <a:pt x="121" y="89"/>
                </a:moveTo>
                <a:cubicBezTo>
                  <a:pt x="121" y="89"/>
                  <a:pt x="121" y="89"/>
                  <a:pt x="121" y="89"/>
                </a:cubicBezTo>
                <a:cubicBezTo>
                  <a:pt x="122" y="90"/>
                  <a:pt x="123" y="91"/>
                  <a:pt x="124" y="91"/>
                </a:cubicBezTo>
                <a:cubicBezTo>
                  <a:pt x="123" y="91"/>
                  <a:pt x="122" y="90"/>
                  <a:pt x="121" y="90"/>
                </a:cubicBezTo>
                <a:cubicBezTo>
                  <a:pt x="121" y="90"/>
                  <a:pt x="121" y="90"/>
                  <a:pt x="121" y="89"/>
                </a:cubicBezTo>
                <a:close/>
                <a:moveTo>
                  <a:pt x="105" y="95"/>
                </a:moveTo>
                <a:cubicBezTo>
                  <a:pt x="105" y="95"/>
                  <a:pt x="105" y="95"/>
                  <a:pt x="105" y="95"/>
                </a:cubicBezTo>
                <a:cubicBezTo>
                  <a:pt x="105" y="96"/>
                  <a:pt x="106" y="96"/>
                  <a:pt x="106" y="97"/>
                </a:cubicBezTo>
                <a:cubicBezTo>
                  <a:pt x="103" y="101"/>
                  <a:pt x="100" y="105"/>
                  <a:pt x="96" y="108"/>
                </a:cubicBezTo>
                <a:cubicBezTo>
                  <a:pt x="100" y="104"/>
                  <a:pt x="103" y="99"/>
                  <a:pt x="105" y="95"/>
                </a:cubicBezTo>
                <a:close/>
                <a:moveTo>
                  <a:pt x="111" y="101"/>
                </a:moveTo>
                <a:cubicBezTo>
                  <a:pt x="111" y="101"/>
                  <a:pt x="111" y="101"/>
                  <a:pt x="111" y="101"/>
                </a:cubicBezTo>
                <a:cubicBezTo>
                  <a:pt x="111" y="102"/>
                  <a:pt x="111" y="102"/>
                  <a:pt x="112" y="102"/>
                </a:cubicBezTo>
                <a:cubicBezTo>
                  <a:pt x="109" y="105"/>
                  <a:pt x="107" y="107"/>
                  <a:pt x="104" y="109"/>
                </a:cubicBezTo>
                <a:cubicBezTo>
                  <a:pt x="107" y="106"/>
                  <a:pt x="109" y="104"/>
                  <a:pt x="111" y="101"/>
                </a:cubicBezTo>
                <a:close/>
                <a:moveTo>
                  <a:pt x="119" y="100"/>
                </a:moveTo>
                <a:cubicBezTo>
                  <a:pt x="119" y="100"/>
                  <a:pt x="119" y="100"/>
                  <a:pt x="119" y="100"/>
                </a:cubicBezTo>
                <a:cubicBezTo>
                  <a:pt x="119" y="99"/>
                  <a:pt x="119" y="99"/>
                  <a:pt x="119" y="99"/>
                </a:cubicBezTo>
                <a:cubicBezTo>
                  <a:pt x="120" y="99"/>
                  <a:pt x="120" y="100"/>
                  <a:pt x="121" y="100"/>
                </a:cubicBezTo>
                <a:cubicBezTo>
                  <a:pt x="120" y="100"/>
                  <a:pt x="120" y="100"/>
                  <a:pt x="119" y="100"/>
                </a:cubicBezTo>
                <a:close/>
                <a:moveTo>
                  <a:pt x="116" y="96"/>
                </a:moveTo>
                <a:cubicBezTo>
                  <a:pt x="116" y="96"/>
                  <a:pt x="116" y="96"/>
                  <a:pt x="116" y="96"/>
                </a:cubicBezTo>
                <a:cubicBezTo>
                  <a:pt x="116" y="97"/>
                  <a:pt x="116" y="97"/>
                  <a:pt x="115" y="97"/>
                </a:cubicBezTo>
                <a:cubicBezTo>
                  <a:pt x="115" y="97"/>
                  <a:pt x="114" y="97"/>
                  <a:pt x="114" y="96"/>
                </a:cubicBezTo>
                <a:cubicBezTo>
                  <a:pt x="114" y="96"/>
                  <a:pt x="114" y="95"/>
                  <a:pt x="115" y="95"/>
                </a:cubicBezTo>
                <a:cubicBezTo>
                  <a:pt x="115" y="95"/>
                  <a:pt x="116" y="96"/>
                  <a:pt x="116" y="96"/>
                </a:cubicBezTo>
                <a:close/>
                <a:moveTo>
                  <a:pt x="110" y="90"/>
                </a:moveTo>
                <a:cubicBezTo>
                  <a:pt x="110" y="90"/>
                  <a:pt x="110" y="90"/>
                  <a:pt x="110" y="90"/>
                </a:cubicBezTo>
                <a:cubicBezTo>
                  <a:pt x="110" y="90"/>
                  <a:pt x="110" y="91"/>
                  <a:pt x="109" y="91"/>
                </a:cubicBezTo>
                <a:cubicBezTo>
                  <a:pt x="109" y="91"/>
                  <a:pt x="108" y="90"/>
                  <a:pt x="108" y="89"/>
                </a:cubicBezTo>
                <a:cubicBezTo>
                  <a:pt x="108" y="89"/>
                  <a:pt x="108" y="88"/>
                  <a:pt x="108" y="88"/>
                </a:cubicBezTo>
                <a:cubicBezTo>
                  <a:pt x="109" y="88"/>
                  <a:pt x="110" y="89"/>
                  <a:pt x="110" y="90"/>
                </a:cubicBezTo>
                <a:close/>
                <a:moveTo>
                  <a:pt x="59" y="127"/>
                </a:moveTo>
                <a:cubicBezTo>
                  <a:pt x="59" y="127"/>
                  <a:pt x="59" y="127"/>
                  <a:pt x="59" y="127"/>
                </a:cubicBezTo>
                <a:cubicBezTo>
                  <a:pt x="59" y="127"/>
                  <a:pt x="58" y="128"/>
                  <a:pt x="57" y="127"/>
                </a:cubicBezTo>
                <a:cubicBezTo>
                  <a:pt x="57" y="127"/>
                  <a:pt x="56" y="126"/>
                  <a:pt x="55" y="125"/>
                </a:cubicBezTo>
                <a:cubicBezTo>
                  <a:pt x="53" y="124"/>
                  <a:pt x="54" y="122"/>
                  <a:pt x="56" y="124"/>
                </a:cubicBezTo>
                <a:cubicBezTo>
                  <a:pt x="57" y="124"/>
                  <a:pt x="59" y="126"/>
                  <a:pt x="59" y="127"/>
                </a:cubicBezTo>
                <a:close/>
                <a:moveTo>
                  <a:pt x="56" y="132"/>
                </a:moveTo>
                <a:cubicBezTo>
                  <a:pt x="56" y="132"/>
                  <a:pt x="56" y="132"/>
                  <a:pt x="56" y="132"/>
                </a:cubicBezTo>
                <a:cubicBezTo>
                  <a:pt x="56" y="132"/>
                  <a:pt x="49" y="133"/>
                  <a:pt x="51" y="131"/>
                </a:cubicBezTo>
                <a:cubicBezTo>
                  <a:pt x="52" y="130"/>
                  <a:pt x="57" y="128"/>
                  <a:pt x="58" y="130"/>
                </a:cubicBezTo>
                <a:cubicBezTo>
                  <a:pt x="59" y="131"/>
                  <a:pt x="57" y="132"/>
                  <a:pt x="56" y="132"/>
                </a:cubicBezTo>
                <a:close/>
                <a:moveTo>
                  <a:pt x="64" y="120"/>
                </a:moveTo>
                <a:cubicBezTo>
                  <a:pt x="64" y="120"/>
                  <a:pt x="64" y="120"/>
                  <a:pt x="64" y="120"/>
                </a:cubicBezTo>
                <a:cubicBezTo>
                  <a:pt x="74" y="123"/>
                  <a:pt x="82" y="127"/>
                  <a:pt x="81" y="130"/>
                </a:cubicBezTo>
                <a:cubicBezTo>
                  <a:pt x="81" y="132"/>
                  <a:pt x="75" y="133"/>
                  <a:pt x="67" y="132"/>
                </a:cubicBezTo>
                <a:cubicBezTo>
                  <a:pt x="67" y="131"/>
                  <a:pt x="66" y="131"/>
                  <a:pt x="66" y="130"/>
                </a:cubicBezTo>
                <a:cubicBezTo>
                  <a:pt x="62" y="130"/>
                  <a:pt x="69" y="130"/>
                  <a:pt x="70" y="129"/>
                </a:cubicBezTo>
                <a:cubicBezTo>
                  <a:pt x="74" y="127"/>
                  <a:pt x="71" y="124"/>
                  <a:pt x="67" y="125"/>
                </a:cubicBezTo>
                <a:cubicBezTo>
                  <a:pt x="66" y="125"/>
                  <a:pt x="62" y="125"/>
                  <a:pt x="62" y="124"/>
                </a:cubicBezTo>
                <a:cubicBezTo>
                  <a:pt x="62" y="123"/>
                  <a:pt x="62" y="121"/>
                  <a:pt x="64" y="120"/>
                </a:cubicBezTo>
                <a:close/>
                <a:moveTo>
                  <a:pt x="51" y="128"/>
                </a:moveTo>
                <a:cubicBezTo>
                  <a:pt x="51" y="128"/>
                  <a:pt x="51" y="128"/>
                  <a:pt x="51" y="128"/>
                </a:cubicBezTo>
                <a:cubicBezTo>
                  <a:pt x="44" y="126"/>
                  <a:pt x="39" y="123"/>
                  <a:pt x="40" y="120"/>
                </a:cubicBezTo>
                <a:cubicBezTo>
                  <a:pt x="41" y="117"/>
                  <a:pt x="50" y="117"/>
                  <a:pt x="61" y="119"/>
                </a:cubicBezTo>
                <a:cubicBezTo>
                  <a:pt x="61" y="120"/>
                  <a:pt x="61" y="120"/>
                  <a:pt x="61" y="120"/>
                </a:cubicBezTo>
                <a:cubicBezTo>
                  <a:pt x="61" y="120"/>
                  <a:pt x="61" y="120"/>
                  <a:pt x="61" y="120"/>
                </a:cubicBezTo>
                <a:cubicBezTo>
                  <a:pt x="61" y="121"/>
                  <a:pt x="61" y="123"/>
                  <a:pt x="61" y="123"/>
                </a:cubicBezTo>
                <a:cubicBezTo>
                  <a:pt x="58" y="125"/>
                  <a:pt x="56" y="120"/>
                  <a:pt x="53" y="121"/>
                </a:cubicBezTo>
                <a:cubicBezTo>
                  <a:pt x="51" y="121"/>
                  <a:pt x="51" y="125"/>
                  <a:pt x="52" y="126"/>
                </a:cubicBezTo>
                <a:cubicBezTo>
                  <a:pt x="55" y="128"/>
                  <a:pt x="54" y="127"/>
                  <a:pt x="53" y="128"/>
                </a:cubicBezTo>
                <a:cubicBezTo>
                  <a:pt x="52" y="128"/>
                  <a:pt x="52" y="128"/>
                  <a:pt x="51" y="128"/>
                </a:cubicBezTo>
                <a:close/>
                <a:moveTo>
                  <a:pt x="33" y="59"/>
                </a:moveTo>
                <a:cubicBezTo>
                  <a:pt x="33" y="59"/>
                  <a:pt x="33" y="59"/>
                  <a:pt x="33" y="59"/>
                </a:cubicBezTo>
                <a:cubicBezTo>
                  <a:pt x="32" y="61"/>
                  <a:pt x="29" y="73"/>
                  <a:pt x="32" y="86"/>
                </a:cubicBezTo>
                <a:cubicBezTo>
                  <a:pt x="28" y="84"/>
                  <a:pt x="29" y="63"/>
                  <a:pt x="33" y="59"/>
                </a:cubicBezTo>
                <a:close/>
                <a:moveTo>
                  <a:pt x="64" y="88"/>
                </a:moveTo>
                <a:cubicBezTo>
                  <a:pt x="64" y="88"/>
                  <a:pt x="64" y="88"/>
                  <a:pt x="64" y="88"/>
                </a:cubicBezTo>
                <a:cubicBezTo>
                  <a:pt x="64" y="91"/>
                  <a:pt x="63" y="93"/>
                  <a:pt x="64" y="96"/>
                </a:cubicBezTo>
                <a:cubicBezTo>
                  <a:pt x="63" y="94"/>
                  <a:pt x="59" y="87"/>
                  <a:pt x="64" y="88"/>
                </a:cubicBezTo>
                <a:close/>
                <a:moveTo>
                  <a:pt x="67" y="163"/>
                </a:moveTo>
                <a:cubicBezTo>
                  <a:pt x="67" y="163"/>
                  <a:pt x="67" y="163"/>
                  <a:pt x="67" y="163"/>
                </a:cubicBezTo>
                <a:cubicBezTo>
                  <a:pt x="70" y="174"/>
                  <a:pt x="76" y="182"/>
                  <a:pt x="80" y="190"/>
                </a:cubicBezTo>
                <a:cubicBezTo>
                  <a:pt x="80" y="190"/>
                  <a:pt x="80" y="190"/>
                  <a:pt x="79" y="190"/>
                </a:cubicBezTo>
                <a:cubicBezTo>
                  <a:pt x="74" y="182"/>
                  <a:pt x="68" y="173"/>
                  <a:pt x="67" y="163"/>
                </a:cubicBezTo>
                <a:close/>
                <a:moveTo>
                  <a:pt x="77" y="177"/>
                </a:moveTo>
                <a:cubicBezTo>
                  <a:pt x="77" y="177"/>
                  <a:pt x="77" y="177"/>
                  <a:pt x="77" y="177"/>
                </a:cubicBezTo>
                <a:cubicBezTo>
                  <a:pt x="81" y="186"/>
                  <a:pt x="80" y="182"/>
                  <a:pt x="84" y="190"/>
                </a:cubicBezTo>
                <a:cubicBezTo>
                  <a:pt x="84" y="190"/>
                  <a:pt x="83" y="190"/>
                  <a:pt x="83" y="190"/>
                </a:cubicBezTo>
                <a:cubicBezTo>
                  <a:pt x="79" y="183"/>
                  <a:pt x="78" y="184"/>
                  <a:pt x="77" y="177"/>
                </a:cubicBezTo>
                <a:close/>
                <a:moveTo>
                  <a:pt x="75" y="177"/>
                </a:moveTo>
                <a:cubicBezTo>
                  <a:pt x="75" y="177"/>
                  <a:pt x="75" y="177"/>
                  <a:pt x="75" y="177"/>
                </a:cubicBezTo>
                <a:cubicBezTo>
                  <a:pt x="72" y="173"/>
                  <a:pt x="70" y="168"/>
                  <a:pt x="70" y="164"/>
                </a:cubicBezTo>
                <a:cubicBezTo>
                  <a:pt x="72" y="168"/>
                  <a:pt x="73" y="173"/>
                  <a:pt x="75" y="177"/>
                </a:cubicBezTo>
                <a:close/>
                <a:moveTo>
                  <a:pt x="98" y="173"/>
                </a:moveTo>
                <a:cubicBezTo>
                  <a:pt x="98" y="173"/>
                  <a:pt x="98" y="173"/>
                  <a:pt x="98" y="173"/>
                </a:cubicBezTo>
                <a:cubicBezTo>
                  <a:pt x="94" y="173"/>
                  <a:pt x="83" y="169"/>
                  <a:pt x="79" y="166"/>
                </a:cubicBezTo>
                <a:cubicBezTo>
                  <a:pt x="83" y="171"/>
                  <a:pt x="93" y="172"/>
                  <a:pt x="97" y="175"/>
                </a:cubicBezTo>
                <a:cubicBezTo>
                  <a:pt x="93" y="175"/>
                  <a:pt x="80" y="170"/>
                  <a:pt x="79" y="168"/>
                </a:cubicBezTo>
                <a:cubicBezTo>
                  <a:pt x="79" y="168"/>
                  <a:pt x="79" y="167"/>
                  <a:pt x="78" y="166"/>
                </a:cubicBezTo>
                <a:cubicBezTo>
                  <a:pt x="78" y="165"/>
                  <a:pt x="77" y="165"/>
                  <a:pt x="77" y="164"/>
                </a:cubicBezTo>
                <a:cubicBezTo>
                  <a:pt x="77" y="165"/>
                  <a:pt x="75" y="162"/>
                  <a:pt x="76" y="162"/>
                </a:cubicBezTo>
                <a:cubicBezTo>
                  <a:pt x="80" y="168"/>
                  <a:pt x="92" y="170"/>
                  <a:pt x="98" y="173"/>
                </a:cubicBezTo>
                <a:close/>
                <a:moveTo>
                  <a:pt x="79" y="166"/>
                </a:moveTo>
                <a:cubicBezTo>
                  <a:pt x="79" y="166"/>
                  <a:pt x="79" y="166"/>
                  <a:pt x="79" y="166"/>
                </a:cubicBezTo>
                <a:cubicBezTo>
                  <a:pt x="79" y="166"/>
                  <a:pt x="79" y="166"/>
                  <a:pt x="78" y="166"/>
                </a:cubicBezTo>
                <a:cubicBezTo>
                  <a:pt x="78" y="166"/>
                  <a:pt x="78" y="166"/>
                  <a:pt x="78" y="166"/>
                </a:cubicBezTo>
                <a:cubicBezTo>
                  <a:pt x="78" y="166"/>
                  <a:pt x="79" y="166"/>
                  <a:pt x="79" y="166"/>
                </a:cubicBezTo>
                <a:close/>
                <a:moveTo>
                  <a:pt x="94" y="181"/>
                </a:moveTo>
                <a:cubicBezTo>
                  <a:pt x="94" y="181"/>
                  <a:pt x="94" y="181"/>
                  <a:pt x="94" y="181"/>
                </a:cubicBezTo>
                <a:cubicBezTo>
                  <a:pt x="90" y="180"/>
                  <a:pt x="84" y="179"/>
                  <a:pt x="83" y="177"/>
                </a:cubicBezTo>
                <a:cubicBezTo>
                  <a:pt x="83" y="177"/>
                  <a:pt x="81" y="175"/>
                  <a:pt x="82" y="175"/>
                </a:cubicBezTo>
                <a:cubicBezTo>
                  <a:pt x="87" y="179"/>
                  <a:pt x="90" y="178"/>
                  <a:pt x="94" y="181"/>
                </a:cubicBezTo>
                <a:close/>
                <a:moveTo>
                  <a:pt x="93" y="177"/>
                </a:moveTo>
                <a:cubicBezTo>
                  <a:pt x="93" y="177"/>
                  <a:pt x="93" y="177"/>
                  <a:pt x="93" y="177"/>
                </a:cubicBezTo>
                <a:cubicBezTo>
                  <a:pt x="90" y="177"/>
                  <a:pt x="80" y="175"/>
                  <a:pt x="80" y="172"/>
                </a:cubicBezTo>
                <a:cubicBezTo>
                  <a:pt x="80" y="172"/>
                  <a:pt x="79" y="172"/>
                  <a:pt x="80" y="170"/>
                </a:cubicBezTo>
                <a:cubicBezTo>
                  <a:pt x="82" y="175"/>
                  <a:pt x="90" y="175"/>
                  <a:pt x="93" y="177"/>
                </a:cubicBezTo>
                <a:close/>
                <a:moveTo>
                  <a:pt x="68" y="159"/>
                </a:moveTo>
                <a:cubicBezTo>
                  <a:pt x="68" y="159"/>
                  <a:pt x="68" y="159"/>
                  <a:pt x="68" y="159"/>
                </a:cubicBezTo>
                <a:cubicBezTo>
                  <a:pt x="66" y="154"/>
                  <a:pt x="63" y="149"/>
                  <a:pt x="64" y="144"/>
                </a:cubicBezTo>
                <a:cubicBezTo>
                  <a:pt x="64" y="149"/>
                  <a:pt x="68" y="154"/>
                  <a:pt x="68" y="159"/>
                </a:cubicBezTo>
                <a:close/>
                <a:moveTo>
                  <a:pt x="170" y="115"/>
                </a:moveTo>
                <a:cubicBezTo>
                  <a:pt x="170" y="115"/>
                  <a:pt x="170" y="117"/>
                  <a:pt x="168" y="117"/>
                </a:cubicBezTo>
                <a:cubicBezTo>
                  <a:pt x="168" y="117"/>
                  <a:pt x="166" y="117"/>
                  <a:pt x="166" y="117"/>
                </a:cubicBezTo>
                <a:cubicBezTo>
                  <a:pt x="163" y="117"/>
                  <a:pt x="163" y="115"/>
                  <a:pt x="165" y="115"/>
                </a:cubicBezTo>
                <a:cubicBezTo>
                  <a:pt x="166" y="114"/>
                  <a:pt x="169" y="114"/>
                  <a:pt x="170" y="115"/>
                </a:cubicBezTo>
                <a:cubicBezTo>
                  <a:pt x="170" y="115"/>
                  <a:pt x="170" y="115"/>
                  <a:pt x="170" y="115"/>
                </a:cubicBezTo>
                <a:close/>
                <a:moveTo>
                  <a:pt x="171" y="121"/>
                </a:moveTo>
                <a:cubicBezTo>
                  <a:pt x="171" y="121"/>
                  <a:pt x="171" y="121"/>
                  <a:pt x="171" y="121"/>
                </a:cubicBezTo>
                <a:cubicBezTo>
                  <a:pt x="171" y="122"/>
                  <a:pt x="167" y="127"/>
                  <a:pt x="167" y="124"/>
                </a:cubicBezTo>
                <a:cubicBezTo>
                  <a:pt x="166" y="122"/>
                  <a:pt x="169" y="118"/>
                  <a:pt x="171" y="118"/>
                </a:cubicBezTo>
                <a:cubicBezTo>
                  <a:pt x="172" y="119"/>
                  <a:pt x="172" y="121"/>
                  <a:pt x="171" y="121"/>
                </a:cubicBezTo>
                <a:close/>
                <a:moveTo>
                  <a:pt x="168" y="106"/>
                </a:moveTo>
                <a:cubicBezTo>
                  <a:pt x="168" y="106"/>
                  <a:pt x="168" y="106"/>
                  <a:pt x="168" y="106"/>
                </a:cubicBezTo>
                <a:cubicBezTo>
                  <a:pt x="167" y="108"/>
                  <a:pt x="169" y="110"/>
                  <a:pt x="170" y="111"/>
                </a:cubicBezTo>
                <a:cubicBezTo>
                  <a:pt x="170" y="112"/>
                  <a:pt x="173" y="109"/>
                  <a:pt x="174" y="108"/>
                </a:cubicBezTo>
                <a:cubicBezTo>
                  <a:pt x="176" y="105"/>
                  <a:pt x="180" y="105"/>
                  <a:pt x="179" y="109"/>
                </a:cubicBezTo>
                <a:cubicBezTo>
                  <a:pt x="179" y="111"/>
                  <a:pt x="174" y="115"/>
                  <a:pt x="177" y="114"/>
                </a:cubicBezTo>
                <a:cubicBezTo>
                  <a:pt x="178" y="113"/>
                  <a:pt x="178" y="113"/>
                  <a:pt x="179" y="114"/>
                </a:cubicBezTo>
                <a:cubicBezTo>
                  <a:pt x="185" y="109"/>
                  <a:pt x="189" y="104"/>
                  <a:pt x="188" y="102"/>
                </a:cubicBezTo>
                <a:cubicBezTo>
                  <a:pt x="186" y="99"/>
                  <a:pt x="177" y="102"/>
                  <a:pt x="168" y="106"/>
                </a:cubicBezTo>
                <a:close/>
                <a:moveTo>
                  <a:pt x="179" y="115"/>
                </a:moveTo>
                <a:cubicBezTo>
                  <a:pt x="179" y="115"/>
                  <a:pt x="179" y="115"/>
                  <a:pt x="179" y="115"/>
                </a:cubicBezTo>
                <a:cubicBezTo>
                  <a:pt x="186" y="110"/>
                  <a:pt x="190" y="104"/>
                  <a:pt x="189" y="102"/>
                </a:cubicBezTo>
                <a:cubicBezTo>
                  <a:pt x="187" y="98"/>
                  <a:pt x="176" y="101"/>
                  <a:pt x="165" y="107"/>
                </a:cubicBezTo>
                <a:cubicBezTo>
                  <a:pt x="155" y="113"/>
                  <a:pt x="148" y="120"/>
                  <a:pt x="150" y="124"/>
                </a:cubicBezTo>
                <a:cubicBezTo>
                  <a:pt x="152" y="126"/>
                  <a:pt x="157" y="126"/>
                  <a:pt x="164" y="123"/>
                </a:cubicBezTo>
                <a:cubicBezTo>
                  <a:pt x="164" y="123"/>
                  <a:pt x="164" y="124"/>
                  <a:pt x="164" y="124"/>
                </a:cubicBezTo>
                <a:cubicBezTo>
                  <a:pt x="166" y="129"/>
                  <a:pt x="170" y="125"/>
                  <a:pt x="173" y="123"/>
                </a:cubicBezTo>
                <a:cubicBezTo>
                  <a:pt x="173" y="124"/>
                  <a:pt x="174" y="127"/>
                  <a:pt x="172" y="128"/>
                </a:cubicBezTo>
                <a:cubicBezTo>
                  <a:pt x="170" y="134"/>
                  <a:pt x="173" y="135"/>
                  <a:pt x="175" y="136"/>
                </a:cubicBezTo>
                <a:cubicBezTo>
                  <a:pt x="176" y="143"/>
                  <a:pt x="192" y="151"/>
                  <a:pt x="200" y="149"/>
                </a:cubicBezTo>
                <a:cubicBezTo>
                  <a:pt x="201" y="151"/>
                  <a:pt x="215" y="160"/>
                  <a:pt x="230" y="158"/>
                </a:cubicBezTo>
                <a:cubicBezTo>
                  <a:pt x="232" y="154"/>
                  <a:pt x="238" y="148"/>
                  <a:pt x="241" y="147"/>
                </a:cubicBezTo>
                <a:cubicBezTo>
                  <a:pt x="239" y="146"/>
                  <a:pt x="227" y="144"/>
                  <a:pt x="226" y="142"/>
                </a:cubicBezTo>
                <a:cubicBezTo>
                  <a:pt x="224" y="141"/>
                  <a:pt x="230" y="140"/>
                  <a:pt x="235" y="136"/>
                </a:cubicBezTo>
                <a:cubicBezTo>
                  <a:pt x="232" y="126"/>
                  <a:pt x="234" y="126"/>
                  <a:pt x="233" y="120"/>
                </a:cubicBezTo>
                <a:cubicBezTo>
                  <a:pt x="229" y="120"/>
                  <a:pt x="212" y="138"/>
                  <a:pt x="192" y="126"/>
                </a:cubicBezTo>
                <a:cubicBezTo>
                  <a:pt x="191" y="124"/>
                  <a:pt x="189" y="119"/>
                  <a:pt x="187" y="120"/>
                </a:cubicBezTo>
                <a:cubicBezTo>
                  <a:pt x="184" y="120"/>
                  <a:pt x="181" y="122"/>
                  <a:pt x="180" y="119"/>
                </a:cubicBezTo>
                <a:cubicBezTo>
                  <a:pt x="180" y="119"/>
                  <a:pt x="179" y="120"/>
                  <a:pt x="179" y="120"/>
                </a:cubicBezTo>
                <a:cubicBezTo>
                  <a:pt x="179" y="119"/>
                  <a:pt x="180" y="119"/>
                  <a:pt x="180" y="118"/>
                </a:cubicBezTo>
                <a:cubicBezTo>
                  <a:pt x="180" y="117"/>
                  <a:pt x="180" y="116"/>
                  <a:pt x="179" y="115"/>
                </a:cubicBezTo>
                <a:close/>
                <a:moveTo>
                  <a:pt x="165" y="122"/>
                </a:moveTo>
                <a:cubicBezTo>
                  <a:pt x="165" y="122"/>
                  <a:pt x="165" y="122"/>
                  <a:pt x="165" y="122"/>
                </a:cubicBezTo>
                <a:cubicBezTo>
                  <a:pt x="165" y="121"/>
                  <a:pt x="166" y="121"/>
                  <a:pt x="166" y="121"/>
                </a:cubicBezTo>
                <a:cubicBezTo>
                  <a:pt x="166" y="119"/>
                  <a:pt x="167" y="119"/>
                  <a:pt x="164" y="119"/>
                </a:cubicBezTo>
                <a:cubicBezTo>
                  <a:pt x="163" y="120"/>
                  <a:pt x="160" y="116"/>
                  <a:pt x="161" y="115"/>
                </a:cubicBezTo>
                <a:cubicBezTo>
                  <a:pt x="163" y="112"/>
                  <a:pt x="168" y="115"/>
                  <a:pt x="168" y="111"/>
                </a:cubicBezTo>
                <a:cubicBezTo>
                  <a:pt x="169" y="110"/>
                  <a:pt x="167" y="109"/>
                  <a:pt x="166" y="108"/>
                </a:cubicBezTo>
                <a:cubicBezTo>
                  <a:pt x="166" y="108"/>
                  <a:pt x="166" y="108"/>
                  <a:pt x="166" y="108"/>
                </a:cubicBezTo>
                <a:cubicBezTo>
                  <a:pt x="166" y="108"/>
                  <a:pt x="166" y="108"/>
                  <a:pt x="166" y="108"/>
                </a:cubicBezTo>
                <a:cubicBezTo>
                  <a:pt x="156" y="113"/>
                  <a:pt x="149" y="120"/>
                  <a:pt x="151" y="123"/>
                </a:cubicBezTo>
                <a:cubicBezTo>
                  <a:pt x="152" y="125"/>
                  <a:pt x="158" y="125"/>
                  <a:pt x="165" y="122"/>
                </a:cubicBezTo>
                <a:close/>
                <a:moveTo>
                  <a:pt x="141" y="22"/>
                </a:moveTo>
                <a:cubicBezTo>
                  <a:pt x="141" y="22"/>
                  <a:pt x="141" y="22"/>
                  <a:pt x="141" y="22"/>
                </a:cubicBezTo>
                <a:cubicBezTo>
                  <a:pt x="139" y="22"/>
                  <a:pt x="135" y="25"/>
                  <a:pt x="132" y="26"/>
                </a:cubicBezTo>
                <a:cubicBezTo>
                  <a:pt x="125" y="28"/>
                  <a:pt x="120" y="32"/>
                  <a:pt x="114" y="36"/>
                </a:cubicBezTo>
                <a:cubicBezTo>
                  <a:pt x="113" y="37"/>
                  <a:pt x="116" y="34"/>
                  <a:pt x="117" y="33"/>
                </a:cubicBezTo>
                <a:cubicBezTo>
                  <a:pt x="122" y="30"/>
                  <a:pt x="126" y="26"/>
                  <a:pt x="133" y="25"/>
                </a:cubicBezTo>
                <a:cubicBezTo>
                  <a:pt x="134" y="24"/>
                  <a:pt x="140" y="22"/>
                  <a:pt x="141" y="22"/>
                </a:cubicBezTo>
                <a:close/>
                <a:moveTo>
                  <a:pt x="146" y="80"/>
                </a:moveTo>
                <a:cubicBezTo>
                  <a:pt x="147" y="82"/>
                  <a:pt x="148" y="84"/>
                  <a:pt x="151" y="86"/>
                </a:cubicBezTo>
                <a:cubicBezTo>
                  <a:pt x="149" y="86"/>
                  <a:pt x="141" y="82"/>
                  <a:pt x="146" y="80"/>
                </a:cubicBezTo>
                <a:cubicBezTo>
                  <a:pt x="146" y="80"/>
                  <a:pt x="146" y="80"/>
                  <a:pt x="146" y="80"/>
                </a:cubicBezTo>
                <a:close/>
                <a:moveTo>
                  <a:pt x="177" y="122"/>
                </a:moveTo>
                <a:cubicBezTo>
                  <a:pt x="177" y="122"/>
                  <a:pt x="177" y="122"/>
                  <a:pt x="177" y="122"/>
                </a:cubicBezTo>
                <a:cubicBezTo>
                  <a:pt x="179" y="124"/>
                  <a:pt x="179" y="128"/>
                  <a:pt x="179" y="127"/>
                </a:cubicBezTo>
                <a:cubicBezTo>
                  <a:pt x="178" y="126"/>
                  <a:pt x="177" y="126"/>
                  <a:pt x="176" y="126"/>
                </a:cubicBezTo>
                <a:cubicBezTo>
                  <a:pt x="178" y="124"/>
                  <a:pt x="175" y="122"/>
                  <a:pt x="177" y="122"/>
                </a:cubicBezTo>
                <a:close/>
                <a:moveTo>
                  <a:pt x="276" y="99"/>
                </a:moveTo>
                <a:cubicBezTo>
                  <a:pt x="276" y="99"/>
                  <a:pt x="276" y="99"/>
                  <a:pt x="276" y="99"/>
                </a:cubicBezTo>
                <a:cubicBezTo>
                  <a:pt x="276" y="104"/>
                  <a:pt x="289" y="102"/>
                  <a:pt x="292" y="101"/>
                </a:cubicBezTo>
                <a:cubicBezTo>
                  <a:pt x="301" y="95"/>
                  <a:pt x="298" y="100"/>
                  <a:pt x="289" y="100"/>
                </a:cubicBezTo>
                <a:cubicBezTo>
                  <a:pt x="285" y="101"/>
                  <a:pt x="279" y="103"/>
                  <a:pt x="276" y="99"/>
                </a:cubicBezTo>
                <a:close/>
                <a:moveTo>
                  <a:pt x="231" y="60"/>
                </a:moveTo>
                <a:cubicBezTo>
                  <a:pt x="231" y="60"/>
                  <a:pt x="231" y="60"/>
                  <a:pt x="231" y="60"/>
                </a:cubicBezTo>
                <a:cubicBezTo>
                  <a:pt x="232" y="62"/>
                  <a:pt x="233" y="65"/>
                  <a:pt x="232" y="69"/>
                </a:cubicBezTo>
                <a:cubicBezTo>
                  <a:pt x="232" y="70"/>
                  <a:pt x="232" y="70"/>
                  <a:pt x="232" y="70"/>
                </a:cubicBezTo>
                <a:cubicBezTo>
                  <a:pt x="231" y="74"/>
                  <a:pt x="236" y="61"/>
                  <a:pt x="231" y="60"/>
                </a:cubicBezTo>
                <a:close/>
                <a:moveTo>
                  <a:pt x="275" y="116"/>
                </a:moveTo>
                <a:cubicBezTo>
                  <a:pt x="275" y="116"/>
                  <a:pt x="275" y="116"/>
                  <a:pt x="275" y="116"/>
                </a:cubicBezTo>
                <a:cubicBezTo>
                  <a:pt x="278" y="117"/>
                  <a:pt x="262" y="113"/>
                  <a:pt x="258" y="108"/>
                </a:cubicBezTo>
                <a:cubicBezTo>
                  <a:pt x="261" y="113"/>
                  <a:pt x="267" y="116"/>
                  <a:pt x="275" y="116"/>
                </a:cubicBezTo>
                <a:close/>
              </a:path>
            </a:pathLst>
          </a:custGeom>
          <a:solidFill>
            <a:srgbClr val="C10009"/>
          </a:solidFill>
          <a:ln w="9525">
            <a:noFill/>
          </a:ln>
        </p:spPr>
        <p:txBody>
          <a:bodyPr/>
          <a:p>
            <a:endParaRPr lang="zh-CN" altLang="en-US"/>
          </a:p>
        </p:txBody>
      </p:sp>
      <p:sp>
        <p:nvSpPr>
          <p:cNvPr id="9228" name="文本框 8581"/>
          <p:cNvSpPr/>
          <p:nvPr/>
        </p:nvSpPr>
        <p:spPr>
          <a:xfrm>
            <a:off x="1747203" y="2904173"/>
            <a:ext cx="668337" cy="676275"/>
          </a:xfrm>
          <a:prstGeom prst="ellipse">
            <a:avLst/>
          </a:prstGeom>
          <a:noFill/>
          <a:ln w="9525">
            <a:noFill/>
          </a:ln>
        </p:spPr>
        <p:txBody>
          <a:bodyPr vert="eaVert" anchor="ctr"/>
          <a:p>
            <a:pPr algn="ctr"/>
            <a:r>
              <a:rPr lang="zh-CN" altLang="en-US" sz="5400" dirty="0">
                <a:solidFill>
                  <a:srgbClr val="333333"/>
                </a:solidFill>
                <a:latin typeface="经典繁行书" panose="02010609010101010101" charset="-122"/>
                <a:ea typeface="经典繁行书" panose="02010609010101010101" charset="-122"/>
              </a:rPr>
              <a:t>提</a:t>
            </a:r>
            <a:endParaRPr lang="zh-CN" altLang="en-US" sz="5400" dirty="0">
              <a:solidFill>
                <a:srgbClr val="333333"/>
              </a:solidFill>
              <a:latin typeface="经典繁行书" panose="02010609010101010101" charset="-122"/>
              <a:ea typeface="经典繁行书" panose="02010609010101010101" charset="-122"/>
            </a:endParaRPr>
          </a:p>
        </p:txBody>
      </p:sp>
      <p:sp>
        <p:nvSpPr>
          <p:cNvPr id="9229" name="文本框 8581"/>
          <p:cNvSpPr/>
          <p:nvPr/>
        </p:nvSpPr>
        <p:spPr>
          <a:xfrm>
            <a:off x="2166303" y="3594735"/>
            <a:ext cx="669925" cy="676275"/>
          </a:xfrm>
          <a:prstGeom prst="ellipse">
            <a:avLst/>
          </a:prstGeom>
          <a:noFill/>
          <a:ln w="9525">
            <a:noFill/>
          </a:ln>
        </p:spPr>
        <p:txBody>
          <a:bodyPr vert="eaVert" anchor="ctr"/>
          <a:p>
            <a:pPr algn="ctr"/>
            <a:r>
              <a:rPr lang="zh-CN" altLang="en-US" sz="6600" dirty="0">
                <a:solidFill>
                  <a:srgbClr val="333333"/>
                </a:solidFill>
                <a:latin typeface="经典繁行书" panose="02010609010101010101" charset="-122"/>
                <a:ea typeface="经典繁行书" panose="02010609010101010101" charset="-122"/>
              </a:rPr>
              <a:t>纲</a:t>
            </a:r>
            <a:endParaRPr lang="zh-CN" altLang="en-US" sz="6600" dirty="0">
              <a:solidFill>
                <a:srgbClr val="333333"/>
              </a:solidFill>
              <a:latin typeface="经典繁行书" panose="02010609010101010101" charset="-122"/>
              <a:ea typeface="经典繁行书" panose="0201060901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标题 6145"/>
          <p:cNvSpPr>
            <a:spLocks noGrp="1" noRot="1"/>
          </p:cNvSpPr>
          <p:nvPr>
            <p:ph type="title"/>
          </p:nvPr>
        </p:nvSpPr>
        <p:spPr>
          <a:xfrm>
            <a:off x="1635125" y="518160"/>
            <a:ext cx="8540750" cy="1143000"/>
          </a:xfrm>
        </p:spPr>
        <p:txBody>
          <a:bodyPr anchor="ctr"/>
          <a:p>
            <a:pPr marL="685800" indent="-685800"/>
            <a:r>
              <a:rPr lang="zh-CN" altLang="en-US" b="1" u="sng">
                <a:solidFill>
                  <a:srgbClr val="FF0000"/>
                </a:solidFill>
                <a:latin typeface="楷体" panose="02010609060101010101" charset="-122"/>
                <a:ea typeface="楷体" panose="02010609060101010101" charset="-122"/>
                <a:cs typeface="楷体" panose="02010609060101010101" charset="-122"/>
              </a:rPr>
              <a:t>壹  设计总结报告评分标准</a:t>
            </a:r>
            <a:endParaRPr lang="zh-CN" altLang="en-US" b="1" u="sng">
              <a:solidFill>
                <a:srgbClr val="FF0000"/>
              </a:solidFill>
              <a:latin typeface="楷体" panose="02010609060101010101" charset="-122"/>
              <a:ea typeface="楷体" panose="02010609060101010101" charset="-122"/>
              <a:cs typeface="楷体" panose="02010609060101010101" charset="-122"/>
            </a:endParaRPr>
          </a:p>
        </p:txBody>
      </p:sp>
      <p:sp>
        <p:nvSpPr>
          <p:cNvPr id="6147" name="文本占位符 6146"/>
          <p:cNvSpPr>
            <a:spLocks noGrp="1" noRot="1"/>
          </p:cNvSpPr>
          <p:nvPr>
            <p:ph type="body" idx="1"/>
          </p:nvPr>
        </p:nvSpPr>
        <p:spPr>
          <a:xfrm>
            <a:off x="381000" y="1484630"/>
            <a:ext cx="11049635" cy="4544695"/>
          </a:xfrm>
        </p:spPr>
        <p:txBody>
          <a:bodyPr/>
          <a:p>
            <a:pPr>
              <a:lnSpc>
                <a:spcPct val="130000"/>
              </a:lnSpc>
            </a:pPr>
            <a:r>
              <a:rPr lang="zh-CN" altLang="en-US" sz="2800">
                <a:latin typeface="楷体" panose="02010609060101010101" charset="-122"/>
                <a:ea typeface="楷体" panose="02010609060101010101" charset="-122"/>
                <a:cs typeface="楷体" panose="02010609060101010101" charset="-122"/>
              </a:rPr>
              <a:t>全国大学生电子设计竞赛作品由</a:t>
            </a:r>
            <a:r>
              <a:rPr lang="zh-CN" altLang="en-US" sz="2800">
                <a:solidFill>
                  <a:srgbClr val="FF0000"/>
                </a:solidFill>
                <a:latin typeface="楷体" panose="02010609060101010101" charset="-122"/>
                <a:ea typeface="楷体" panose="02010609060101010101" charset="-122"/>
                <a:cs typeface="楷体" panose="02010609060101010101" charset="-122"/>
              </a:rPr>
              <a:t>基本制作</a:t>
            </a:r>
            <a:r>
              <a:rPr lang="zh-CN" altLang="en-US" sz="2800">
                <a:latin typeface="楷体" panose="02010609060101010101" charset="-122"/>
                <a:ea typeface="楷体" panose="02010609060101010101" charset="-122"/>
                <a:cs typeface="楷体" panose="02010609060101010101" charset="-122"/>
              </a:rPr>
              <a:t>部分、</a:t>
            </a:r>
            <a:r>
              <a:rPr lang="zh-CN" altLang="en-US" sz="2800">
                <a:solidFill>
                  <a:srgbClr val="FF0000"/>
                </a:solidFill>
                <a:latin typeface="楷体" panose="02010609060101010101" charset="-122"/>
                <a:ea typeface="楷体" panose="02010609060101010101" charset="-122"/>
                <a:cs typeface="楷体" panose="02010609060101010101" charset="-122"/>
              </a:rPr>
              <a:t>发挥</a:t>
            </a:r>
            <a:r>
              <a:rPr lang="zh-CN" altLang="en-US" sz="2800">
                <a:latin typeface="楷体" panose="02010609060101010101" charset="-122"/>
                <a:ea typeface="楷体" panose="02010609060101010101" charset="-122"/>
                <a:cs typeface="楷体" panose="02010609060101010101" charset="-122"/>
              </a:rPr>
              <a:t>制作部分和</a:t>
            </a:r>
            <a:r>
              <a:rPr lang="zh-CN" altLang="en-US" sz="2800">
                <a:solidFill>
                  <a:srgbClr val="FF0000"/>
                </a:solidFill>
                <a:latin typeface="楷体" panose="02010609060101010101" charset="-122"/>
                <a:ea typeface="楷体" panose="02010609060101010101" charset="-122"/>
                <a:cs typeface="楷体" panose="02010609060101010101" charset="-122"/>
              </a:rPr>
              <a:t>设计总结报</a:t>
            </a:r>
            <a:r>
              <a:rPr lang="zh-CN" altLang="en-US" sz="2800">
                <a:latin typeface="楷体" panose="02010609060101010101" charset="-122"/>
                <a:ea typeface="楷体" panose="02010609060101010101" charset="-122"/>
                <a:cs typeface="楷体" panose="02010609060101010101" charset="-122"/>
              </a:rPr>
              <a:t>告</a:t>
            </a:r>
            <a:r>
              <a:rPr lang="en-US" altLang="zh-CN" sz="2800">
                <a:latin typeface="楷体" panose="02010609060101010101" charset="-122"/>
                <a:ea typeface="楷体" panose="02010609060101010101" charset="-122"/>
                <a:cs typeface="楷体" panose="02010609060101010101" charset="-122"/>
              </a:rPr>
              <a:t>3</a:t>
            </a:r>
            <a:r>
              <a:rPr lang="zh-CN" altLang="en-US" sz="2800">
                <a:latin typeface="楷体" panose="02010609060101010101" charset="-122"/>
                <a:ea typeface="楷体" panose="02010609060101010101" charset="-122"/>
                <a:cs typeface="楷体" panose="02010609060101010101" charset="-122"/>
              </a:rPr>
              <a:t>部分组成，总计</a:t>
            </a:r>
            <a:r>
              <a:rPr lang="en-US" altLang="zh-CN" sz="2800">
                <a:latin typeface="楷体" panose="02010609060101010101" charset="-122"/>
                <a:ea typeface="楷体" panose="02010609060101010101" charset="-122"/>
                <a:cs typeface="楷体" panose="02010609060101010101" charset="-122"/>
              </a:rPr>
              <a:t>150/120</a:t>
            </a:r>
            <a:r>
              <a:rPr lang="zh-CN" altLang="en-US" sz="2800">
                <a:latin typeface="楷体" panose="02010609060101010101" charset="-122"/>
                <a:ea typeface="楷体" panose="02010609060101010101" charset="-122"/>
                <a:cs typeface="楷体" panose="02010609060101010101" charset="-122"/>
              </a:rPr>
              <a:t>分。</a:t>
            </a:r>
            <a:endParaRPr lang="zh-CN" altLang="en-US" sz="2800">
              <a:latin typeface="楷体" panose="02010609060101010101" charset="-122"/>
              <a:ea typeface="楷体" panose="02010609060101010101" charset="-122"/>
              <a:cs typeface="楷体" panose="02010609060101010101" charset="-122"/>
            </a:endParaRPr>
          </a:p>
          <a:p>
            <a:pPr>
              <a:lnSpc>
                <a:spcPct val="130000"/>
              </a:lnSpc>
            </a:pPr>
            <a:r>
              <a:rPr lang="zh-CN" altLang="en-US" sz="2800">
                <a:latin typeface="楷体" panose="02010609060101010101" charset="-122"/>
                <a:ea typeface="楷体" panose="02010609060101010101" charset="-122"/>
                <a:cs typeface="楷体" panose="02010609060101010101" charset="-122"/>
              </a:rPr>
              <a:t>设计总结报告的评分是一个独立环节，评分过程是在作品通过专家测试前或后进行。</a:t>
            </a:r>
            <a:endParaRPr lang="zh-CN" altLang="en-US" sz="2800">
              <a:latin typeface="楷体" panose="02010609060101010101" charset="-122"/>
              <a:ea typeface="楷体" panose="02010609060101010101" charset="-122"/>
              <a:cs typeface="楷体" panose="02010609060101010101" charset="-122"/>
            </a:endParaRPr>
          </a:p>
          <a:p>
            <a:pPr>
              <a:lnSpc>
                <a:spcPct val="130000"/>
              </a:lnSpc>
            </a:pPr>
            <a:r>
              <a:rPr lang="zh-CN" altLang="en-US" sz="2800">
                <a:latin typeface="楷体" panose="02010609060101010101" charset="-122"/>
                <a:ea typeface="楷体" panose="02010609060101010101" charset="-122"/>
                <a:cs typeface="楷体" panose="02010609060101010101" charset="-122"/>
              </a:rPr>
              <a:t>设计总结报告以密封的形式提供给专家组，参照全国大学生电子设计竞赛组委会的评分标准进行评分。</a:t>
            </a:r>
            <a:endParaRPr lang="zh-CN" altLang="en-US" sz="2800">
              <a:latin typeface="楷体" panose="02010609060101010101" charset="-122"/>
              <a:ea typeface="楷体" panose="02010609060101010101" charset="-122"/>
              <a:cs typeface="楷体" panose="02010609060101010101" charset="-122"/>
            </a:endParaRPr>
          </a:p>
          <a:p>
            <a:pPr>
              <a:lnSpc>
                <a:spcPct val="130000"/>
              </a:lnSpc>
            </a:pPr>
            <a:r>
              <a:rPr lang="zh-CN" altLang="en-US" sz="2800">
                <a:latin typeface="楷体" panose="02010609060101010101" charset="-122"/>
                <a:ea typeface="楷体" panose="02010609060101010101" charset="-122"/>
                <a:cs typeface="楷体" panose="02010609060101010101" charset="-122"/>
              </a:rPr>
              <a:t>设计报告中应包含</a:t>
            </a:r>
            <a:r>
              <a:rPr lang="zh-CN" altLang="en-US" sz="2800" u="sng">
                <a:solidFill>
                  <a:srgbClr val="FF0000"/>
                </a:solidFill>
                <a:latin typeface="楷体" panose="02010609060101010101" charset="-122"/>
                <a:ea typeface="楷体" panose="02010609060101010101" charset="-122"/>
                <a:cs typeface="楷体" panose="02010609060101010101" charset="-122"/>
              </a:rPr>
              <a:t>题目</a:t>
            </a:r>
            <a:r>
              <a:rPr lang="zh-CN" altLang="en-US" sz="2800" u="sng">
                <a:latin typeface="楷体" panose="02010609060101010101" charset="-122"/>
                <a:ea typeface="楷体" panose="02010609060101010101" charset="-122"/>
                <a:cs typeface="楷体" panose="02010609060101010101" charset="-122"/>
              </a:rPr>
              <a:t>名称、</a:t>
            </a:r>
            <a:r>
              <a:rPr lang="zh-CN" altLang="en-US" sz="2800" u="sng">
                <a:solidFill>
                  <a:srgbClr val="FF0000"/>
                </a:solidFill>
                <a:latin typeface="楷体" panose="02010609060101010101" charset="-122"/>
                <a:ea typeface="楷体" panose="02010609060101010101" charset="-122"/>
                <a:cs typeface="楷体" panose="02010609060101010101" charset="-122"/>
              </a:rPr>
              <a:t>摘要</a:t>
            </a:r>
            <a:r>
              <a:rPr lang="zh-CN" altLang="en-US" sz="2800" u="sng">
                <a:latin typeface="楷体" panose="02010609060101010101" charset="-122"/>
                <a:ea typeface="楷体" panose="02010609060101010101" charset="-122"/>
                <a:cs typeface="楷体" panose="02010609060101010101" charset="-122"/>
              </a:rPr>
              <a:t>、</a:t>
            </a:r>
            <a:r>
              <a:rPr lang="zh-CN" altLang="en-US" sz="2800" u="sng">
                <a:solidFill>
                  <a:srgbClr val="FF0000"/>
                </a:solidFill>
                <a:latin typeface="楷体" panose="02010609060101010101" charset="-122"/>
                <a:ea typeface="楷体" panose="02010609060101010101" charset="-122"/>
                <a:cs typeface="楷体" panose="02010609060101010101" charset="-122"/>
              </a:rPr>
              <a:t>目录</a:t>
            </a:r>
            <a:r>
              <a:rPr lang="zh-CN" altLang="en-US" sz="2800">
                <a:latin typeface="楷体" panose="02010609060101010101" charset="-122"/>
                <a:ea typeface="楷体" panose="02010609060101010101" charset="-122"/>
                <a:cs typeface="楷体" panose="02010609060101010101" charset="-122"/>
              </a:rPr>
              <a:t>等</a:t>
            </a:r>
            <a:r>
              <a:rPr lang="en-US" altLang="zh-CN" sz="2800">
                <a:latin typeface="楷体" panose="02010609060101010101" charset="-122"/>
                <a:ea typeface="楷体" panose="02010609060101010101" charset="-122"/>
                <a:cs typeface="楷体" panose="02010609060101010101" charset="-122"/>
              </a:rPr>
              <a:t>10</a:t>
            </a:r>
            <a:r>
              <a:rPr lang="zh-CN" altLang="en-US" sz="2800">
                <a:latin typeface="楷体" panose="02010609060101010101" charset="-122"/>
                <a:ea typeface="楷体" panose="02010609060101010101" charset="-122"/>
                <a:cs typeface="楷体" panose="02010609060101010101" charset="-122"/>
              </a:rPr>
              <a:t>多个内容。</a:t>
            </a:r>
            <a:endParaRPr lang="zh-CN" altLang="en-US" sz="2800">
              <a:latin typeface="楷体" panose="02010609060101010101" charset="-122"/>
              <a:ea typeface="楷体" panose="02010609060101010101" charset="-122"/>
              <a:cs typeface="楷体" panose="02010609060101010101" charset="-122"/>
            </a:endParaRPr>
          </a:p>
        </p:txBody>
      </p:sp>
    </p:spTree>
  </p:cSld>
  <p:clrMapOvr>
    <a:masterClrMapping/>
  </p:clrMapOvr>
  <p:transition>
    <p:pull dir="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1" name="矩形 7170" descr="MCS-48单片机"/>
          <p:cNvSpPr>
            <a:spLocks noChangeAspect="1"/>
          </p:cNvSpPr>
          <p:nvPr/>
        </p:nvSpPr>
        <p:spPr>
          <a:xfrm>
            <a:off x="2890838" y="2806700"/>
            <a:ext cx="1714500" cy="1292225"/>
          </a:xfrm>
          <a:prstGeom prst="rect">
            <a:avLst/>
          </a:prstGeom>
          <a:noFill/>
          <a:ln w="9525">
            <a:noFill/>
          </a:ln>
        </p:spPr>
        <p:txBody>
          <a:bodyPr/>
          <a:p>
            <a:endParaRPr lang="zh-CN" altLang="en-US"/>
          </a:p>
        </p:txBody>
      </p:sp>
      <p:sp>
        <p:nvSpPr>
          <p:cNvPr id="7172" name="矩形 7171"/>
          <p:cNvSpPr/>
          <p:nvPr/>
        </p:nvSpPr>
        <p:spPr>
          <a:xfrm>
            <a:off x="731520" y="694055"/>
            <a:ext cx="749935" cy="4168775"/>
          </a:xfrm>
          <a:prstGeom prst="rect">
            <a:avLst/>
          </a:prstGeom>
          <a:noFill/>
          <a:ln w="9525">
            <a:noFill/>
          </a:ln>
          <a:scene3d>
            <a:camera prst="legacyObliqueTopRight">
              <a:rot lat="0" lon="0" rev="0"/>
            </a:camera>
            <a:lightRig rig="legacyFlat3" dir="b"/>
          </a:scene3d>
          <a:sp3d extrusionH="430200" prstMaterial="legacyMatte">
            <a:bevelT w="13500" h="13500" prst="angle"/>
            <a:bevelB w="13500" h="13500" prst="angle"/>
          </a:sp3d>
        </p:spPr>
        <p:txBody>
          <a:bodyPr vert="eaVert" wrap="square" lIns="228528" bIns="0" anchor="ctr">
            <a:spAutoFit/>
          </a:bodyPr>
          <a:p>
            <a:pPr algn="ctr"/>
            <a:r>
              <a:rPr lang="zh-CN" altLang="en-US" sz="2800">
                <a:solidFill>
                  <a:srgbClr val="FF0000"/>
                </a:solidFill>
                <a:effectLst>
                  <a:outerShdw blurRad="38100" dist="19050" dir="2700000" algn="tl" rotWithShape="0">
                    <a:schemeClr val="dk1">
                      <a:alpha val="40000"/>
                    </a:schemeClr>
                  </a:outerShdw>
                </a:effectLst>
                <a:latin typeface="华文新魏" panose="02010800040101010101" pitchFamily="2" charset="-122"/>
                <a:ea typeface="华文新魏" panose="02010800040101010101" pitchFamily="2" charset="-122"/>
              </a:rPr>
              <a:t>设计总结报告的评分表</a:t>
            </a:r>
            <a:endParaRPr lang="zh-CN" altLang="en-US" sz="2800">
              <a:solidFill>
                <a:srgbClr val="FF0000"/>
              </a:solidFill>
              <a:effectLst>
                <a:outerShdw blurRad="38100" dist="19050" dir="2700000" algn="tl" rotWithShape="0">
                  <a:schemeClr val="dk1">
                    <a:alpha val="40000"/>
                  </a:schemeClr>
                </a:outerShdw>
              </a:effectLst>
              <a:latin typeface="华文新魏" panose="02010800040101010101" pitchFamily="2" charset="-122"/>
              <a:ea typeface="华文新魏" panose="02010800040101010101" pitchFamily="2" charset="-122"/>
            </a:endParaRPr>
          </a:p>
        </p:txBody>
      </p:sp>
      <p:graphicFrame>
        <p:nvGraphicFramePr>
          <p:cNvPr id="7173" name="表格 7172"/>
          <p:cNvGraphicFramePr/>
          <p:nvPr>
            <p:custDataLst>
              <p:tags r:id="rId1"/>
            </p:custDataLst>
          </p:nvPr>
        </p:nvGraphicFramePr>
        <p:xfrm>
          <a:off x="2208213" y="364808"/>
          <a:ext cx="7991475" cy="5127625"/>
        </p:xfrm>
        <a:graphic>
          <a:graphicData uri="http://schemas.openxmlformats.org/drawingml/2006/table">
            <a:tbl>
              <a:tblPr/>
              <a:tblGrid>
                <a:gridCol w="3746500"/>
                <a:gridCol w="2679700"/>
                <a:gridCol w="1565275"/>
              </a:tblGrid>
              <a:tr h="36576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b="1">
                          <a:latin typeface="华文新魏" panose="02010800040101010101" pitchFamily="2" charset="-122"/>
                          <a:ea typeface="华文新魏" panose="02010800040101010101" pitchFamily="2" charset="-122"/>
                        </a:rPr>
                        <a:t>项目</a:t>
                      </a:r>
                      <a:endParaRPr lang="zh-CN" altLang="en-US"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b="1">
                          <a:latin typeface="华文新魏" panose="02010800040101010101" pitchFamily="2" charset="-122"/>
                          <a:ea typeface="华文新魏" panose="02010800040101010101" pitchFamily="2" charset="-122"/>
                        </a:rPr>
                        <a:t>内容</a:t>
                      </a:r>
                      <a:endParaRPr lang="zh-CN" altLang="en-US"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b="1">
                          <a:latin typeface="华文新魏" panose="02010800040101010101" pitchFamily="2" charset="-122"/>
                          <a:ea typeface="华文新魏" panose="02010800040101010101" pitchFamily="2" charset="-122"/>
                        </a:rPr>
                        <a:t>满分</a:t>
                      </a:r>
                      <a:endParaRPr lang="zh-CN" altLang="en-US"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8300">
                <a:tc rowSpan="3">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b="1">
                          <a:latin typeface="华文新魏" panose="02010800040101010101" pitchFamily="2" charset="-122"/>
                          <a:ea typeface="华文新魏" panose="02010800040101010101" pitchFamily="2" charset="-122"/>
                          <a:cs typeface="华文新魏" panose="02010800040101010101" pitchFamily="2" charset="-122"/>
                        </a:rPr>
                        <a:t>方案比较设计与论证</a:t>
                      </a:r>
                      <a:r>
                        <a:rPr lang="en-US" altLang="zh-CN" sz="2000" b="1">
                          <a:latin typeface="华文新魏" panose="02010800040101010101" pitchFamily="2" charset="-122"/>
                          <a:ea typeface="华文新魏" panose="02010800040101010101" pitchFamily="2" charset="-122"/>
                          <a:cs typeface="华文新魏" panose="02010800040101010101" pitchFamily="2" charset="-122"/>
                        </a:rPr>
                        <a:t>（</a:t>
                      </a:r>
                      <a:r>
                        <a:rPr lang="en-US" altLang="zh-CN" sz="2000" b="1">
                          <a:latin typeface="华文新魏" panose="02010800040101010101" pitchFamily="2" charset="-122"/>
                          <a:ea typeface="华文新魏" panose="02010800040101010101" pitchFamily="2" charset="-122"/>
                          <a:cs typeface="华文新魏" panose="02010800040101010101" pitchFamily="2" charset="-122"/>
                        </a:rPr>
                        <a:t>14</a:t>
                      </a:r>
                      <a:r>
                        <a:rPr lang="zh-CN" altLang="en-US" sz="2000" b="1">
                          <a:latin typeface="华文新魏" panose="02010800040101010101" pitchFamily="2" charset="-122"/>
                          <a:ea typeface="华文新魏" panose="02010800040101010101" pitchFamily="2" charset="-122"/>
                          <a:cs typeface="华文新魏" panose="02010800040101010101" pitchFamily="2" charset="-122"/>
                        </a:rPr>
                        <a:t>分</a:t>
                      </a:r>
                      <a:r>
                        <a:rPr lang="en-US" altLang="zh-CN" sz="2000" b="1">
                          <a:latin typeface="华文新魏" panose="02010800040101010101" pitchFamily="2" charset="-122"/>
                          <a:ea typeface="华文新魏" panose="02010800040101010101" pitchFamily="2" charset="-122"/>
                          <a:cs typeface="华文新魏" panose="02010800040101010101" pitchFamily="2" charset="-122"/>
                        </a:rPr>
                        <a:t>）</a:t>
                      </a:r>
                      <a:endParaRPr lang="zh-CN" altLang="en-US" sz="2000" b="1">
                        <a:latin typeface="华文新魏" panose="02010800040101010101" pitchFamily="2" charset="-122"/>
                        <a:ea typeface="华文新魏" panose="02010800040101010101" pitchFamily="2" charset="-122"/>
                        <a:cs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b="1">
                          <a:latin typeface="华文新魏" panose="02010800040101010101" pitchFamily="2" charset="-122"/>
                          <a:ea typeface="华文新魏" panose="02010800040101010101" pitchFamily="2" charset="-122"/>
                        </a:rPr>
                        <a:t>方案比较</a:t>
                      </a:r>
                      <a:endParaRPr lang="zh-CN" altLang="en-US"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000" b="1">
                          <a:latin typeface="华文新魏" panose="02010800040101010101" pitchFamily="2" charset="-122"/>
                          <a:ea typeface="华文新魏" panose="02010800040101010101" pitchFamily="2" charset="-122"/>
                        </a:rPr>
                        <a:t>4</a:t>
                      </a:r>
                      <a:endParaRPr lang="en-US" altLang="zh-CN"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76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b="1">
                          <a:latin typeface="华文新魏" panose="02010800040101010101" pitchFamily="2" charset="-122"/>
                          <a:ea typeface="华文新魏" panose="02010800040101010101" pitchFamily="2" charset="-122"/>
                        </a:rPr>
                        <a:t>正确性</a:t>
                      </a:r>
                      <a:endParaRPr lang="zh-CN" altLang="en-US"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000" b="1">
                          <a:latin typeface="华文新魏" panose="02010800040101010101" pitchFamily="2" charset="-122"/>
                          <a:ea typeface="华文新魏" panose="02010800040101010101" pitchFamily="2" charset="-122"/>
                        </a:rPr>
                        <a:t>6</a:t>
                      </a:r>
                      <a:endParaRPr lang="en-US" altLang="zh-CN"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76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b="1">
                          <a:latin typeface="华文新魏" panose="02010800040101010101" pitchFamily="2" charset="-122"/>
                          <a:ea typeface="华文新魏" panose="02010800040101010101" pitchFamily="2" charset="-122"/>
                        </a:rPr>
                        <a:t>优良程度</a:t>
                      </a:r>
                      <a:endParaRPr lang="zh-CN" altLang="en-US"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000" b="1">
                          <a:latin typeface="华文新魏" panose="02010800040101010101" pitchFamily="2" charset="-122"/>
                          <a:ea typeface="华文新魏" panose="02010800040101010101" pitchFamily="2" charset="-122"/>
                        </a:rPr>
                        <a:t>4</a:t>
                      </a:r>
                      <a:endParaRPr lang="en-US" altLang="zh-CN"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6395">
                <a:tc rowSpan="2">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b="1">
                          <a:latin typeface="华文新魏" panose="02010800040101010101" pitchFamily="2" charset="-122"/>
                          <a:ea typeface="华文新魏" panose="02010800040101010101" pitchFamily="2" charset="-122"/>
                          <a:cs typeface="华文新魏" panose="02010800040101010101" pitchFamily="2" charset="-122"/>
                        </a:rPr>
                        <a:t>理论分析与计算</a:t>
                      </a:r>
                      <a:r>
                        <a:rPr lang="en-US" altLang="zh-CN" sz="2000" b="1">
                          <a:latin typeface="华文新魏" panose="02010800040101010101" pitchFamily="2" charset="-122"/>
                          <a:ea typeface="华文新魏" panose="02010800040101010101" pitchFamily="2" charset="-122"/>
                          <a:cs typeface="华文新魏" panose="02010800040101010101" pitchFamily="2" charset="-122"/>
                        </a:rPr>
                        <a:t>（</a:t>
                      </a:r>
                      <a:r>
                        <a:rPr lang="en-US" altLang="zh-CN" sz="2000" b="1">
                          <a:latin typeface="华文新魏" panose="02010800040101010101" pitchFamily="2" charset="-122"/>
                          <a:ea typeface="华文新魏" panose="02010800040101010101" pitchFamily="2" charset="-122"/>
                          <a:cs typeface="华文新魏" panose="02010800040101010101" pitchFamily="2" charset="-122"/>
                        </a:rPr>
                        <a:t>14</a:t>
                      </a:r>
                      <a:r>
                        <a:rPr lang="zh-CN" altLang="en-US" sz="2000" b="1">
                          <a:latin typeface="华文新魏" panose="02010800040101010101" pitchFamily="2" charset="-122"/>
                          <a:ea typeface="华文新魏" panose="02010800040101010101" pitchFamily="2" charset="-122"/>
                          <a:cs typeface="华文新魏" panose="02010800040101010101" pitchFamily="2" charset="-122"/>
                        </a:rPr>
                        <a:t>分</a:t>
                      </a:r>
                      <a:r>
                        <a:rPr lang="en-US" altLang="zh-CN" sz="2000" b="1">
                          <a:latin typeface="华文新魏" panose="02010800040101010101" pitchFamily="2" charset="-122"/>
                          <a:ea typeface="华文新魏" panose="02010800040101010101" pitchFamily="2" charset="-122"/>
                          <a:cs typeface="华文新魏" panose="02010800040101010101" pitchFamily="2" charset="-122"/>
                        </a:rPr>
                        <a:t>）</a:t>
                      </a:r>
                      <a:endParaRPr lang="zh-CN" altLang="en-US" sz="2000" b="1">
                        <a:latin typeface="华文新魏" panose="02010800040101010101" pitchFamily="2" charset="-122"/>
                        <a:ea typeface="华文新魏" panose="02010800040101010101" pitchFamily="2" charset="-122"/>
                        <a:cs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b="1">
                          <a:latin typeface="华文新魏" panose="02010800040101010101" pitchFamily="2" charset="-122"/>
                          <a:ea typeface="华文新魏" panose="02010800040101010101" pitchFamily="2" charset="-122"/>
                        </a:rPr>
                        <a:t>完成程度</a:t>
                      </a:r>
                      <a:endParaRPr lang="zh-CN" altLang="en-US"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000" b="1">
                          <a:latin typeface="华文新魏" panose="02010800040101010101" pitchFamily="2" charset="-122"/>
                          <a:ea typeface="华文新魏" panose="02010800040101010101" pitchFamily="2" charset="-122"/>
                        </a:rPr>
                        <a:t>8</a:t>
                      </a:r>
                      <a:endParaRPr lang="en-US" altLang="zh-CN"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76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b="1">
                          <a:latin typeface="华文新魏" panose="02010800040101010101" pitchFamily="2" charset="-122"/>
                          <a:ea typeface="华文新魏" panose="02010800040101010101" pitchFamily="2" charset="-122"/>
                        </a:rPr>
                        <a:t>正确性</a:t>
                      </a:r>
                      <a:endParaRPr lang="zh-CN" altLang="en-US"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000" b="1">
                          <a:latin typeface="华文新魏" panose="02010800040101010101" pitchFamily="2" charset="-122"/>
                          <a:ea typeface="华文新魏" panose="02010800040101010101" pitchFamily="2" charset="-122"/>
                        </a:rPr>
                        <a:t>6</a:t>
                      </a:r>
                      <a:endParaRPr lang="en-US" altLang="zh-CN"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760">
                <a:tc rowSpan="2">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b="1">
                          <a:latin typeface="华文新魏" panose="02010800040101010101" pitchFamily="2" charset="-122"/>
                          <a:ea typeface="华文新魏" panose="02010800040101010101" pitchFamily="2" charset="-122"/>
                          <a:cs typeface="华文新魏" panose="02010800040101010101" pitchFamily="2" charset="-122"/>
                        </a:rPr>
                        <a:t>电路图及设计文件</a:t>
                      </a:r>
                      <a:r>
                        <a:rPr lang="en-US" altLang="zh-CN" sz="2000" b="1">
                          <a:latin typeface="华文新魏" panose="02010800040101010101" pitchFamily="2" charset="-122"/>
                          <a:ea typeface="华文新魏" panose="02010800040101010101" pitchFamily="2" charset="-122"/>
                          <a:cs typeface="华文新魏" panose="02010800040101010101" pitchFamily="2" charset="-122"/>
                        </a:rPr>
                        <a:t>（</a:t>
                      </a:r>
                      <a:r>
                        <a:rPr lang="en-US" altLang="zh-CN" sz="2000" b="1">
                          <a:latin typeface="华文新魏" panose="02010800040101010101" pitchFamily="2" charset="-122"/>
                          <a:ea typeface="华文新魏" panose="02010800040101010101" pitchFamily="2" charset="-122"/>
                          <a:cs typeface="华文新魏" panose="02010800040101010101" pitchFamily="2" charset="-122"/>
                        </a:rPr>
                        <a:t>6</a:t>
                      </a:r>
                      <a:r>
                        <a:rPr lang="zh-CN" altLang="en-US" sz="2000" b="1">
                          <a:latin typeface="华文新魏" panose="02010800040101010101" pitchFamily="2" charset="-122"/>
                          <a:ea typeface="华文新魏" panose="02010800040101010101" pitchFamily="2" charset="-122"/>
                          <a:cs typeface="华文新魏" panose="02010800040101010101" pitchFamily="2" charset="-122"/>
                        </a:rPr>
                        <a:t>分</a:t>
                      </a:r>
                      <a:r>
                        <a:rPr lang="en-US" altLang="zh-CN" sz="2000" b="1">
                          <a:latin typeface="华文新魏" panose="02010800040101010101" pitchFamily="2" charset="-122"/>
                          <a:ea typeface="华文新魏" panose="02010800040101010101" pitchFamily="2" charset="-122"/>
                          <a:cs typeface="华文新魏" panose="02010800040101010101" pitchFamily="2" charset="-122"/>
                        </a:rPr>
                        <a:t>）</a:t>
                      </a:r>
                      <a:endParaRPr lang="zh-CN" altLang="en-US" sz="2000" b="1">
                        <a:latin typeface="华文新魏" panose="02010800040101010101" pitchFamily="2" charset="-122"/>
                        <a:ea typeface="华文新魏" panose="02010800040101010101" pitchFamily="2" charset="-122"/>
                        <a:cs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b="1">
                          <a:latin typeface="华文新魏" panose="02010800040101010101" pitchFamily="2" charset="-122"/>
                          <a:ea typeface="华文新魏" panose="02010800040101010101" pitchFamily="2" charset="-122"/>
                        </a:rPr>
                        <a:t>完整性</a:t>
                      </a:r>
                      <a:endParaRPr lang="zh-CN" altLang="en-US"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000" b="1">
                          <a:latin typeface="华文新魏" panose="02010800040101010101" pitchFamily="2" charset="-122"/>
                          <a:ea typeface="华文新魏" panose="02010800040101010101" pitchFamily="2" charset="-122"/>
                        </a:rPr>
                        <a:t>4</a:t>
                      </a:r>
                      <a:endParaRPr lang="en-US" altLang="zh-CN"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639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b="1">
                          <a:latin typeface="华文新魏" panose="02010800040101010101" pitchFamily="2" charset="-122"/>
                          <a:ea typeface="华文新魏" panose="02010800040101010101" pitchFamily="2" charset="-122"/>
                        </a:rPr>
                        <a:t>规范程度</a:t>
                      </a:r>
                      <a:endParaRPr lang="zh-CN" altLang="en-US"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000" b="1">
                          <a:latin typeface="华文新魏" panose="02010800040101010101" pitchFamily="2" charset="-122"/>
                          <a:ea typeface="华文新魏" panose="02010800040101010101" pitchFamily="2" charset="-122"/>
                        </a:rPr>
                        <a:t>2</a:t>
                      </a:r>
                      <a:endParaRPr lang="en-US" altLang="zh-CN"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6395">
                <a:tc rowSpan="3">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b="1">
                          <a:latin typeface="华文新魏" panose="02010800040101010101" pitchFamily="2" charset="-122"/>
                          <a:ea typeface="华文新魏" panose="02010800040101010101" pitchFamily="2" charset="-122"/>
                          <a:cs typeface="华文新魏" panose="02010800040101010101" pitchFamily="2" charset="-122"/>
                        </a:rPr>
                        <a:t>测试方法与数据</a:t>
                      </a:r>
                      <a:r>
                        <a:rPr lang="en-US" altLang="zh-CN" sz="2000" b="1">
                          <a:latin typeface="华文新魏" panose="02010800040101010101" pitchFamily="2" charset="-122"/>
                          <a:ea typeface="华文新魏" panose="02010800040101010101" pitchFamily="2" charset="-122"/>
                          <a:cs typeface="华文新魏" panose="02010800040101010101" pitchFamily="2" charset="-122"/>
                        </a:rPr>
                        <a:t>（</a:t>
                      </a:r>
                      <a:r>
                        <a:rPr lang="en-US" altLang="zh-CN" sz="2000" b="1">
                          <a:latin typeface="华文新魏" panose="02010800040101010101" pitchFamily="2" charset="-122"/>
                          <a:ea typeface="华文新魏" panose="02010800040101010101" pitchFamily="2" charset="-122"/>
                          <a:cs typeface="华文新魏" panose="02010800040101010101" pitchFamily="2" charset="-122"/>
                        </a:rPr>
                        <a:t>9</a:t>
                      </a:r>
                      <a:r>
                        <a:rPr lang="zh-CN" altLang="en-US" sz="2000" b="1">
                          <a:latin typeface="华文新魏" panose="02010800040101010101" pitchFamily="2" charset="-122"/>
                          <a:ea typeface="华文新魏" panose="02010800040101010101" pitchFamily="2" charset="-122"/>
                          <a:cs typeface="华文新魏" panose="02010800040101010101" pitchFamily="2" charset="-122"/>
                        </a:rPr>
                        <a:t>分</a:t>
                      </a:r>
                      <a:r>
                        <a:rPr lang="en-US" altLang="zh-CN" sz="2000" b="1">
                          <a:latin typeface="华文新魏" panose="02010800040101010101" pitchFamily="2" charset="-122"/>
                          <a:ea typeface="华文新魏" panose="02010800040101010101" pitchFamily="2" charset="-122"/>
                          <a:cs typeface="华文新魏" panose="02010800040101010101" pitchFamily="2" charset="-122"/>
                        </a:rPr>
                        <a:t>）</a:t>
                      </a:r>
                      <a:endParaRPr lang="zh-CN" altLang="en-US" sz="2000" b="1">
                        <a:latin typeface="华文新魏" panose="02010800040101010101" pitchFamily="2" charset="-122"/>
                        <a:ea typeface="华文新魏" panose="02010800040101010101" pitchFamily="2" charset="-122"/>
                        <a:cs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b="1">
                          <a:latin typeface="华文新魏" panose="02010800040101010101" pitchFamily="2" charset="-122"/>
                          <a:ea typeface="华文新魏" panose="02010800040101010101" pitchFamily="2" charset="-122"/>
                        </a:rPr>
                        <a:t>方法正确性</a:t>
                      </a:r>
                      <a:endParaRPr lang="zh-CN" altLang="en-US"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000" b="1">
                          <a:latin typeface="华文新魏" panose="02010800040101010101" pitchFamily="2" charset="-122"/>
                          <a:ea typeface="华文新魏" panose="02010800040101010101" pitchFamily="2" charset="-122"/>
                        </a:rPr>
                        <a:t>4</a:t>
                      </a:r>
                      <a:endParaRPr lang="en-US" altLang="zh-CN"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76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b="1">
                          <a:latin typeface="华文新魏" panose="02010800040101010101" pitchFamily="2" charset="-122"/>
                          <a:ea typeface="华文新魏" panose="02010800040101010101" pitchFamily="2" charset="-122"/>
                        </a:rPr>
                        <a:t>数据完整性</a:t>
                      </a:r>
                      <a:endParaRPr lang="zh-CN" altLang="en-US"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000" b="1">
                          <a:latin typeface="华文新魏" panose="02010800040101010101" pitchFamily="2" charset="-122"/>
                          <a:ea typeface="华文新魏" panose="02010800040101010101" pitchFamily="2" charset="-122"/>
                        </a:rPr>
                        <a:t>4</a:t>
                      </a:r>
                      <a:endParaRPr lang="en-US" altLang="zh-CN"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76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b="1">
                          <a:latin typeface="华文新魏" panose="02010800040101010101" pitchFamily="2" charset="-122"/>
                          <a:ea typeface="华文新魏" panose="02010800040101010101" pitchFamily="2" charset="-122"/>
                          <a:cs typeface="华文新魏" panose="02010800040101010101" pitchFamily="2" charset="-122"/>
                        </a:rPr>
                        <a:t>测试仪器</a:t>
                      </a:r>
                      <a:r>
                        <a:rPr lang="en-US" altLang="zh-CN" sz="2000" b="1">
                          <a:latin typeface="华文新魏" panose="02010800040101010101" pitchFamily="2" charset="-122"/>
                          <a:ea typeface="华文新魏" panose="02010800040101010101" pitchFamily="2" charset="-122"/>
                          <a:cs typeface="华文新魏" panose="02010800040101010101" pitchFamily="2" charset="-122"/>
                        </a:rPr>
                        <a:t>（</a:t>
                      </a:r>
                      <a:r>
                        <a:rPr lang="zh-CN" altLang="en-US" sz="2000" b="1">
                          <a:latin typeface="华文新魏" panose="02010800040101010101" pitchFamily="2" charset="-122"/>
                          <a:ea typeface="华文新魏" panose="02010800040101010101" pitchFamily="2" charset="-122"/>
                          <a:cs typeface="华文新魏" panose="02010800040101010101" pitchFamily="2" charset="-122"/>
                        </a:rPr>
                        <a:t>型号</a:t>
                      </a:r>
                      <a:r>
                        <a:rPr lang="en-US" altLang="zh-CN" sz="2000" b="1">
                          <a:latin typeface="华文新魏" panose="02010800040101010101" pitchFamily="2" charset="-122"/>
                          <a:ea typeface="华文新魏" panose="02010800040101010101" pitchFamily="2" charset="-122"/>
                          <a:cs typeface="华文新魏" panose="02010800040101010101" pitchFamily="2" charset="-122"/>
                        </a:rPr>
                        <a:t>）</a:t>
                      </a:r>
                      <a:endParaRPr lang="zh-CN" altLang="en-US" sz="2000" b="1">
                        <a:latin typeface="华文新魏" panose="02010800040101010101" pitchFamily="2" charset="-122"/>
                        <a:ea typeface="华文新魏" panose="02010800040101010101" pitchFamily="2" charset="-122"/>
                        <a:cs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000" b="1">
                          <a:latin typeface="华文新魏" panose="02010800040101010101" pitchFamily="2" charset="-122"/>
                          <a:ea typeface="华文新魏" panose="02010800040101010101" pitchFamily="2" charset="-122"/>
                        </a:rPr>
                        <a:t>l</a:t>
                      </a:r>
                      <a:endParaRPr lang="en-US" altLang="zh-CN"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7665">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b="1">
                          <a:latin typeface="华文新魏" panose="02010800040101010101" pitchFamily="2" charset="-122"/>
                          <a:ea typeface="华文新魏" panose="02010800040101010101" pitchFamily="2" charset="-122"/>
                          <a:cs typeface="华文新魏" panose="02010800040101010101" pitchFamily="2" charset="-122"/>
                        </a:rPr>
                        <a:t>测试结果分析</a:t>
                      </a:r>
                      <a:r>
                        <a:rPr lang="en-US" altLang="zh-CN" sz="2000" b="1">
                          <a:latin typeface="华文新魏" panose="02010800040101010101" pitchFamily="2" charset="-122"/>
                          <a:ea typeface="华文新魏" panose="02010800040101010101" pitchFamily="2" charset="-122"/>
                          <a:cs typeface="华文新魏" panose="02010800040101010101" pitchFamily="2" charset="-122"/>
                        </a:rPr>
                        <a:t>（</a:t>
                      </a:r>
                      <a:r>
                        <a:rPr lang="en-US" altLang="zh-CN" sz="2000" b="1">
                          <a:latin typeface="华文新魏" panose="02010800040101010101" pitchFamily="2" charset="-122"/>
                          <a:ea typeface="华文新魏" panose="02010800040101010101" pitchFamily="2" charset="-122"/>
                          <a:cs typeface="华文新魏" panose="02010800040101010101" pitchFamily="2" charset="-122"/>
                        </a:rPr>
                        <a:t>4</a:t>
                      </a:r>
                      <a:r>
                        <a:rPr lang="zh-CN" altLang="en-US" sz="2000" b="1">
                          <a:latin typeface="华文新魏" panose="02010800040101010101" pitchFamily="2" charset="-122"/>
                          <a:ea typeface="华文新魏" panose="02010800040101010101" pitchFamily="2" charset="-122"/>
                          <a:cs typeface="华文新魏" panose="02010800040101010101" pitchFamily="2" charset="-122"/>
                        </a:rPr>
                        <a:t>分</a:t>
                      </a:r>
                      <a:r>
                        <a:rPr lang="en-US" altLang="zh-CN" sz="2000" b="1">
                          <a:latin typeface="华文新魏" panose="02010800040101010101" pitchFamily="2" charset="-122"/>
                          <a:ea typeface="华文新魏" panose="02010800040101010101" pitchFamily="2" charset="-122"/>
                          <a:cs typeface="华文新魏" panose="02010800040101010101" pitchFamily="2" charset="-122"/>
                        </a:rPr>
                        <a:t>）</a:t>
                      </a:r>
                      <a:endParaRPr lang="zh-CN" altLang="en-US" sz="2000" b="1">
                        <a:latin typeface="华文新魏" panose="02010800040101010101" pitchFamily="2" charset="-122"/>
                        <a:ea typeface="华文新魏" panose="02010800040101010101" pitchFamily="2" charset="-122"/>
                        <a:cs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endParaRPr lang="zh-CN" altLang="en-US"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000" b="1">
                          <a:latin typeface="华文新魏" panose="02010800040101010101" pitchFamily="2" charset="-122"/>
                          <a:ea typeface="华文新魏" panose="02010800040101010101" pitchFamily="2" charset="-122"/>
                        </a:rPr>
                        <a:t>4</a:t>
                      </a:r>
                      <a:endParaRPr lang="en-US" altLang="zh-CN"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76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b="1">
                          <a:latin typeface="华文新魏" panose="02010800040101010101" pitchFamily="2" charset="-122"/>
                          <a:ea typeface="华文新魏" panose="02010800040101010101" pitchFamily="2" charset="-122"/>
                          <a:cs typeface="华文新魏" panose="02010800040101010101" pitchFamily="2" charset="-122"/>
                        </a:rPr>
                        <a:t>设计总结报告的工整性</a:t>
                      </a:r>
                      <a:r>
                        <a:rPr lang="en-US" altLang="zh-CN" sz="2000" b="1">
                          <a:latin typeface="华文新魏" panose="02010800040101010101" pitchFamily="2" charset="-122"/>
                          <a:ea typeface="华文新魏" panose="02010800040101010101" pitchFamily="2" charset="-122"/>
                          <a:cs typeface="华文新魏" panose="02010800040101010101" pitchFamily="2" charset="-122"/>
                        </a:rPr>
                        <a:t>（</a:t>
                      </a:r>
                      <a:r>
                        <a:rPr lang="en-US" altLang="zh-CN" sz="2000" b="1">
                          <a:latin typeface="华文新魏" panose="02010800040101010101" pitchFamily="2" charset="-122"/>
                          <a:ea typeface="华文新魏" panose="02010800040101010101" pitchFamily="2" charset="-122"/>
                          <a:cs typeface="华文新魏" panose="02010800040101010101" pitchFamily="2" charset="-122"/>
                        </a:rPr>
                        <a:t>3</a:t>
                      </a:r>
                      <a:r>
                        <a:rPr lang="zh-CN" altLang="en-US" sz="2000" b="1">
                          <a:latin typeface="华文新魏" panose="02010800040101010101" pitchFamily="2" charset="-122"/>
                          <a:ea typeface="华文新魏" panose="02010800040101010101" pitchFamily="2" charset="-122"/>
                          <a:cs typeface="华文新魏" panose="02010800040101010101" pitchFamily="2" charset="-122"/>
                        </a:rPr>
                        <a:t>分</a:t>
                      </a:r>
                      <a:r>
                        <a:rPr lang="en-US" altLang="zh-CN" sz="2000" b="1">
                          <a:latin typeface="华文新魏" panose="02010800040101010101" pitchFamily="2" charset="-122"/>
                          <a:ea typeface="华文新魏" panose="02010800040101010101" pitchFamily="2" charset="-122"/>
                          <a:cs typeface="华文新魏" panose="02010800040101010101" pitchFamily="2" charset="-122"/>
                        </a:rPr>
                        <a:t>）</a:t>
                      </a:r>
                      <a:endParaRPr lang="zh-CN" altLang="en-US" sz="2000" b="1">
                        <a:latin typeface="华文新魏" panose="02010800040101010101" pitchFamily="2" charset="-122"/>
                        <a:ea typeface="华文新魏" panose="02010800040101010101" pitchFamily="2" charset="-122"/>
                        <a:cs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endParaRPr lang="zh-CN" altLang="en-US"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000" b="1">
                          <a:latin typeface="华文新魏" panose="02010800040101010101" pitchFamily="2" charset="-122"/>
                          <a:ea typeface="华文新魏" panose="02010800040101010101" pitchFamily="2" charset="-122"/>
                        </a:rPr>
                        <a:t>3</a:t>
                      </a:r>
                      <a:endParaRPr lang="en-US" altLang="zh-CN"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6395">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b="1">
                          <a:latin typeface="华文新魏" panose="02010800040101010101" pitchFamily="2" charset="-122"/>
                          <a:ea typeface="华文新魏" panose="02010800040101010101" pitchFamily="2" charset="-122"/>
                        </a:rPr>
                        <a:t>总分</a:t>
                      </a:r>
                      <a:endParaRPr lang="zh-CN" altLang="en-US"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endParaRPr lang="zh-CN" altLang="en-US"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000" b="1">
                          <a:latin typeface="华文新魏" panose="02010800040101010101" pitchFamily="2" charset="-122"/>
                          <a:ea typeface="华文新魏" panose="02010800040101010101" pitchFamily="2" charset="-122"/>
                        </a:rPr>
                        <a:t>50</a:t>
                      </a:r>
                      <a:endParaRPr lang="en-US" altLang="zh-CN" sz="2000" b="1">
                        <a:latin typeface="华文新魏" panose="02010800040101010101" pitchFamily="2" charset="-122"/>
                        <a:ea typeface="华文新魏" panose="0201080004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p:pull dir="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noRot="1"/>
          </p:cNvSpPr>
          <p:nvPr>
            <p:ph type="title"/>
          </p:nvPr>
        </p:nvSpPr>
        <p:spPr>
          <a:xfrm>
            <a:off x="624205" y="692785"/>
            <a:ext cx="7468870" cy="647700"/>
          </a:xfrm>
        </p:spPr>
        <p:txBody>
          <a:bodyPr anchor="ctr"/>
          <a:p>
            <a:r>
              <a:rPr lang="zh-CN" altLang="en-US" sz="4000" b="1" u="sng">
                <a:solidFill>
                  <a:srgbClr val="FF0000"/>
                </a:solidFill>
                <a:latin typeface="楷体" panose="02010609060101010101" charset="-122"/>
                <a:ea typeface="楷体" panose="02010609060101010101" charset="-122"/>
                <a:cs typeface="楷体" panose="02010609060101010101" charset="-122"/>
              </a:rPr>
              <a:t>贰  </a:t>
            </a:r>
            <a:r>
              <a:rPr lang="zh-CN" altLang="en-US" sz="4000" u="sng">
                <a:latin typeface="楷体" panose="02010609060101010101" charset="-122"/>
                <a:ea typeface="楷体" panose="02010609060101010101" charset="-122"/>
                <a:cs typeface="楷体" panose="02010609060101010101" charset="-122"/>
                <a:sym typeface="+mn-ea"/>
              </a:rPr>
              <a:t>设计总结报告架构</a:t>
            </a:r>
            <a:r>
              <a:rPr lang="zh-CN" altLang="en-US" sz="4000">
                <a:solidFill>
                  <a:srgbClr val="FF0000"/>
                </a:solidFill>
              </a:rPr>
              <a:t> </a:t>
            </a:r>
            <a:endParaRPr lang="zh-CN" altLang="en-US" sz="4000">
              <a:solidFill>
                <a:srgbClr val="FF0000"/>
              </a:solidFill>
            </a:endParaRPr>
          </a:p>
        </p:txBody>
      </p:sp>
      <p:sp>
        <p:nvSpPr>
          <p:cNvPr id="8195" name="文本占位符 8194"/>
          <p:cNvSpPr>
            <a:spLocks noGrp="1" noRot="1"/>
          </p:cNvSpPr>
          <p:nvPr>
            <p:ph type="body" idx="1"/>
          </p:nvPr>
        </p:nvSpPr>
        <p:spPr>
          <a:xfrm>
            <a:off x="1125855" y="1729105"/>
            <a:ext cx="9970135" cy="2863215"/>
          </a:xfrm>
        </p:spPr>
        <p:txBody>
          <a:bodyPr/>
          <a:p>
            <a:pPr>
              <a:lnSpc>
                <a:spcPct val="120000"/>
              </a:lnSpc>
            </a:pPr>
            <a:r>
              <a:rPr lang="zh-CN" altLang="en-US" sz="3600">
                <a:latin typeface="楷体" panose="02010609060101010101" charset="-122"/>
                <a:ea typeface="楷体" panose="02010609060101010101" charset="-122"/>
                <a:cs typeface="楷体" panose="02010609060101010101" charset="-122"/>
                <a:sym typeface="+mn-ea"/>
              </a:rPr>
              <a:t>完整、规范的电子设计报告应包含</a:t>
            </a:r>
            <a:r>
              <a:rPr lang="zh-CN" altLang="en-US" sz="3600" u="sng">
                <a:solidFill>
                  <a:srgbClr val="FF0000"/>
                </a:solidFill>
                <a:latin typeface="楷体" panose="02010609060101010101" charset="-122"/>
                <a:ea typeface="楷体" panose="02010609060101010101" charset="-122"/>
                <a:cs typeface="楷体" panose="02010609060101010101" charset="-122"/>
                <a:sym typeface="+mn-ea"/>
              </a:rPr>
              <a:t>题目</a:t>
            </a:r>
            <a:r>
              <a:rPr lang="zh-CN" altLang="en-US" sz="3600" u="sng">
                <a:latin typeface="楷体" panose="02010609060101010101" charset="-122"/>
                <a:ea typeface="楷体" panose="02010609060101010101" charset="-122"/>
                <a:cs typeface="楷体" panose="02010609060101010101" charset="-122"/>
                <a:sym typeface="+mn-ea"/>
              </a:rPr>
              <a:t>名称、</a:t>
            </a:r>
            <a:r>
              <a:rPr lang="zh-CN" altLang="en-US" sz="3600" u="sng">
                <a:solidFill>
                  <a:srgbClr val="FF0000"/>
                </a:solidFill>
                <a:latin typeface="楷体" panose="02010609060101010101" charset="-122"/>
                <a:ea typeface="楷体" panose="02010609060101010101" charset="-122"/>
                <a:cs typeface="楷体" panose="02010609060101010101" charset="-122"/>
                <a:sym typeface="+mn-ea"/>
              </a:rPr>
              <a:t>摘要</a:t>
            </a:r>
            <a:r>
              <a:rPr lang="zh-CN" altLang="en-US" sz="3600" u="sng">
                <a:latin typeface="楷体" panose="02010609060101010101" charset="-122"/>
                <a:ea typeface="楷体" panose="02010609060101010101" charset="-122"/>
                <a:cs typeface="楷体" panose="02010609060101010101" charset="-122"/>
                <a:sym typeface="+mn-ea"/>
              </a:rPr>
              <a:t>、</a:t>
            </a:r>
            <a:r>
              <a:rPr lang="zh-CN" altLang="en-US" sz="3600" u="sng">
                <a:solidFill>
                  <a:srgbClr val="FF0000"/>
                </a:solidFill>
                <a:latin typeface="楷体" panose="02010609060101010101" charset="-122"/>
                <a:ea typeface="楷体" panose="02010609060101010101" charset="-122"/>
                <a:cs typeface="楷体" panose="02010609060101010101" charset="-122"/>
                <a:sym typeface="+mn-ea"/>
              </a:rPr>
              <a:t>目录</a:t>
            </a:r>
            <a:r>
              <a:rPr lang="zh-CN" altLang="en-US" sz="3600" u="sng">
                <a:latin typeface="楷体" panose="02010609060101010101" charset="-122"/>
                <a:ea typeface="楷体" panose="02010609060101010101" charset="-122"/>
                <a:cs typeface="楷体" panose="02010609060101010101" charset="-122"/>
                <a:sym typeface="+mn-ea"/>
              </a:rPr>
              <a:t>、</a:t>
            </a:r>
            <a:r>
              <a:rPr lang="zh-CN" altLang="en-US" sz="3600" u="sng">
                <a:solidFill>
                  <a:srgbClr val="FF0000"/>
                </a:solidFill>
                <a:latin typeface="楷体" panose="02010609060101010101" charset="-122"/>
                <a:ea typeface="楷体" panose="02010609060101010101" charset="-122"/>
                <a:cs typeface="楷体" panose="02010609060101010101" charset="-122"/>
                <a:sym typeface="+mn-ea"/>
              </a:rPr>
              <a:t>系统设计</a:t>
            </a:r>
            <a:r>
              <a:rPr lang="zh-CN" altLang="en-US" sz="3600" u="sng">
                <a:latin typeface="楷体" panose="02010609060101010101" charset="-122"/>
                <a:ea typeface="楷体" panose="02010609060101010101" charset="-122"/>
                <a:cs typeface="楷体" panose="02010609060101010101" charset="-122"/>
                <a:sym typeface="+mn-ea"/>
              </a:rPr>
              <a:t>、</a:t>
            </a:r>
            <a:r>
              <a:rPr lang="zh-CN" altLang="en-US" sz="3600" u="sng">
                <a:solidFill>
                  <a:srgbClr val="FF0000"/>
                </a:solidFill>
                <a:latin typeface="楷体" panose="02010609060101010101" charset="-122"/>
                <a:ea typeface="楷体" panose="02010609060101010101" charset="-122"/>
                <a:cs typeface="楷体" panose="02010609060101010101" charset="-122"/>
                <a:sym typeface="+mn-ea"/>
              </a:rPr>
              <a:t>单元电路设计</a:t>
            </a:r>
            <a:r>
              <a:rPr lang="zh-CN" altLang="en-US" sz="3600" u="sng">
                <a:latin typeface="楷体" panose="02010609060101010101" charset="-122"/>
                <a:ea typeface="楷体" panose="02010609060101010101" charset="-122"/>
                <a:cs typeface="楷体" panose="02010609060101010101" charset="-122"/>
                <a:sym typeface="+mn-ea"/>
              </a:rPr>
              <a:t>、</a:t>
            </a:r>
            <a:r>
              <a:rPr lang="zh-CN" altLang="en-US" sz="3600" u="sng">
                <a:solidFill>
                  <a:srgbClr val="FF0000"/>
                </a:solidFill>
                <a:latin typeface="楷体" panose="02010609060101010101" charset="-122"/>
                <a:ea typeface="楷体" panose="02010609060101010101" charset="-122"/>
                <a:cs typeface="楷体" panose="02010609060101010101" charset="-122"/>
                <a:sym typeface="+mn-ea"/>
              </a:rPr>
              <a:t>软件设计</a:t>
            </a:r>
            <a:r>
              <a:rPr lang="zh-CN" altLang="en-US" sz="3600" u="sng">
                <a:latin typeface="楷体" panose="02010609060101010101" charset="-122"/>
                <a:ea typeface="楷体" panose="02010609060101010101" charset="-122"/>
                <a:cs typeface="楷体" panose="02010609060101010101" charset="-122"/>
                <a:sym typeface="+mn-ea"/>
              </a:rPr>
              <a:t>、</a:t>
            </a:r>
            <a:r>
              <a:rPr lang="zh-CN" altLang="en-US" sz="3600" u="sng">
                <a:solidFill>
                  <a:srgbClr val="FF0000"/>
                </a:solidFill>
                <a:latin typeface="楷体" panose="02010609060101010101" charset="-122"/>
                <a:ea typeface="楷体" panose="02010609060101010101" charset="-122"/>
                <a:cs typeface="楷体" panose="02010609060101010101" charset="-122"/>
                <a:sym typeface="+mn-ea"/>
              </a:rPr>
              <a:t>系统测试</a:t>
            </a:r>
            <a:r>
              <a:rPr lang="zh-CN" altLang="en-US" sz="3600" u="sng">
                <a:latin typeface="楷体" panose="02010609060101010101" charset="-122"/>
                <a:ea typeface="楷体" panose="02010609060101010101" charset="-122"/>
                <a:cs typeface="楷体" panose="02010609060101010101" charset="-122"/>
                <a:sym typeface="+mn-ea"/>
              </a:rPr>
              <a:t>、</a:t>
            </a:r>
            <a:r>
              <a:rPr lang="zh-CN" altLang="en-US" sz="3600" u="sng">
                <a:solidFill>
                  <a:srgbClr val="FF0000"/>
                </a:solidFill>
                <a:latin typeface="楷体" panose="02010609060101010101" charset="-122"/>
                <a:ea typeface="楷体" panose="02010609060101010101" charset="-122"/>
                <a:cs typeface="楷体" panose="02010609060101010101" charset="-122"/>
                <a:sym typeface="+mn-ea"/>
              </a:rPr>
              <a:t>结论</a:t>
            </a:r>
            <a:r>
              <a:rPr lang="zh-CN" altLang="en-US" sz="3600" u="sng">
                <a:latin typeface="楷体" panose="02010609060101010101" charset="-122"/>
                <a:ea typeface="楷体" panose="02010609060101010101" charset="-122"/>
                <a:cs typeface="楷体" panose="02010609060101010101" charset="-122"/>
                <a:sym typeface="+mn-ea"/>
              </a:rPr>
              <a:t>、</a:t>
            </a:r>
            <a:r>
              <a:rPr lang="zh-CN" altLang="en-US" sz="3600" u="sng">
                <a:solidFill>
                  <a:srgbClr val="FF0000"/>
                </a:solidFill>
                <a:latin typeface="楷体" panose="02010609060101010101" charset="-122"/>
                <a:ea typeface="楷体" panose="02010609060101010101" charset="-122"/>
                <a:cs typeface="楷体" panose="02010609060101010101" charset="-122"/>
                <a:sym typeface="+mn-ea"/>
              </a:rPr>
              <a:t>参考文献</a:t>
            </a:r>
            <a:r>
              <a:rPr lang="zh-CN" altLang="en-US" sz="3600" u="sng">
                <a:latin typeface="楷体" panose="02010609060101010101" charset="-122"/>
                <a:ea typeface="楷体" panose="02010609060101010101" charset="-122"/>
                <a:cs typeface="楷体" panose="02010609060101010101" charset="-122"/>
                <a:sym typeface="+mn-ea"/>
              </a:rPr>
              <a:t>、</a:t>
            </a:r>
            <a:r>
              <a:rPr lang="zh-CN" altLang="en-US" sz="3600" u="sng">
                <a:solidFill>
                  <a:srgbClr val="FF0000"/>
                </a:solidFill>
                <a:latin typeface="楷体" panose="02010609060101010101" charset="-122"/>
                <a:ea typeface="楷体" panose="02010609060101010101" charset="-122"/>
                <a:cs typeface="楷体" panose="02010609060101010101" charset="-122"/>
                <a:sym typeface="+mn-ea"/>
              </a:rPr>
              <a:t>附录</a:t>
            </a:r>
            <a:r>
              <a:rPr lang="zh-CN" altLang="en-US" sz="3600">
                <a:latin typeface="楷体" panose="02010609060101010101" charset="-122"/>
                <a:ea typeface="楷体" panose="02010609060101010101" charset="-122"/>
                <a:cs typeface="楷体" panose="02010609060101010101" charset="-122"/>
                <a:sym typeface="+mn-ea"/>
              </a:rPr>
              <a:t>等</a:t>
            </a:r>
            <a:r>
              <a:rPr lang="en-US" altLang="zh-CN" sz="3600">
                <a:latin typeface="楷体" panose="02010609060101010101" charset="-122"/>
                <a:ea typeface="楷体" panose="02010609060101010101" charset="-122"/>
                <a:cs typeface="楷体" panose="02010609060101010101" charset="-122"/>
                <a:sym typeface="+mn-ea"/>
              </a:rPr>
              <a:t>10</a:t>
            </a:r>
            <a:r>
              <a:rPr lang="zh-CN" altLang="en-US" sz="3600">
                <a:latin typeface="楷体" panose="02010609060101010101" charset="-122"/>
                <a:ea typeface="楷体" panose="02010609060101010101" charset="-122"/>
                <a:cs typeface="楷体" panose="02010609060101010101" charset="-122"/>
                <a:sym typeface="+mn-ea"/>
              </a:rPr>
              <a:t>多个内容。</a:t>
            </a:r>
            <a:endParaRPr lang="zh-CN" altLang="en-US" sz="3600">
              <a:ea typeface="Arial Unicode MS" panose="020B0604020202020204" charset="-122"/>
            </a:endParaRPr>
          </a:p>
        </p:txBody>
      </p:sp>
    </p:spTree>
  </p:cSld>
  <p:clrMapOvr>
    <a:masterClrMapping/>
  </p:clrMapOvr>
  <p:transition>
    <p:pull dir="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noRot="1"/>
          </p:cNvSpPr>
          <p:nvPr>
            <p:ph type="body" idx="1"/>
          </p:nvPr>
        </p:nvSpPr>
        <p:spPr>
          <a:xfrm>
            <a:off x="782955" y="850265"/>
            <a:ext cx="9342120" cy="3867150"/>
          </a:xfrm>
        </p:spPr>
        <p:txBody>
          <a:bodyPr/>
          <a:p>
            <a:pPr marL="0" indent="0">
              <a:lnSpc>
                <a:spcPct val="120000"/>
              </a:lnSpc>
              <a:buNone/>
            </a:pPr>
            <a:r>
              <a:rPr lang="en-US" altLang="zh-CN" sz="3200" u="sng">
                <a:solidFill>
                  <a:srgbClr val="FF0000"/>
                </a:solidFill>
                <a:sym typeface="+mn-ea"/>
              </a:rPr>
              <a:t>2.1  </a:t>
            </a:r>
            <a:r>
              <a:rPr lang="zh-CN" altLang="en-US" sz="3200" u="sng">
                <a:solidFill>
                  <a:srgbClr val="FF0000"/>
                </a:solidFill>
                <a:sym typeface="+mn-ea"/>
              </a:rPr>
              <a:t>题目</a:t>
            </a:r>
            <a:r>
              <a:rPr lang="zh-CN" altLang="en-US" sz="3200" u="sng">
                <a:sym typeface="+mn-ea"/>
              </a:rPr>
              <a:t>名称</a:t>
            </a:r>
            <a:endParaRPr lang="zh-CN" altLang="en-US" sz="3200" u="sng"/>
          </a:p>
          <a:p>
            <a:pPr>
              <a:lnSpc>
                <a:spcPct val="150000"/>
              </a:lnSpc>
            </a:pPr>
            <a:r>
              <a:rPr lang="zh-CN" altLang="en-US"/>
              <a:t>题目名称必须</a:t>
            </a:r>
            <a:r>
              <a:rPr lang="zh-CN" altLang="en-US">
                <a:solidFill>
                  <a:srgbClr val="FF0000"/>
                </a:solidFill>
              </a:rPr>
              <a:t>与全国大学生电子设计竞赛组委会发给的题目名称相同，不能改变</a:t>
            </a:r>
            <a:r>
              <a:rPr lang="zh-CN" altLang="en-US"/>
              <a:t>。</a:t>
            </a:r>
            <a:endParaRPr lang="zh-CN" altLang="en-US"/>
          </a:p>
          <a:p>
            <a:pPr>
              <a:lnSpc>
                <a:spcPct val="150000"/>
              </a:lnSpc>
            </a:pPr>
            <a:r>
              <a:rPr lang="zh-CN" altLang="en-US"/>
              <a:t>题目名称后面</a:t>
            </a:r>
            <a:r>
              <a:rPr lang="zh-CN" altLang="en-US">
                <a:solidFill>
                  <a:srgbClr val="FF0000"/>
                </a:solidFill>
              </a:rPr>
              <a:t>不能提供参赛设计者的姓名、学校的名称和指导教师的姓名以及相关的标记</a:t>
            </a:r>
            <a:r>
              <a:rPr lang="zh-CN" altLang="en-US"/>
              <a:t>。</a:t>
            </a:r>
            <a:endParaRPr lang="zh-CN" altLang="en-US" sz="2400">
              <a:ea typeface="Arial Unicode MS" panose="020B0604020202020204" charset="-122"/>
            </a:endParaRPr>
          </a:p>
        </p:txBody>
      </p:sp>
    </p:spTree>
  </p:cSld>
  <p:clrMapOvr>
    <a:masterClrMapping/>
  </p:clrMapOvr>
  <p:transition>
    <p:pull dir="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9217"/>
          <p:cNvSpPr>
            <a:spLocks noGrp="1" noRot="1"/>
          </p:cNvSpPr>
          <p:nvPr>
            <p:ph type="title"/>
          </p:nvPr>
        </p:nvSpPr>
        <p:spPr>
          <a:xfrm>
            <a:off x="1873250" y="142875"/>
            <a:ext cx="8540750" cy="838200"/>
          </a:xfrm>
        </p:spPr>
        <p:txBody>
          <a:bodyPr anchor="ctr">
            <a:scene3d>
              <a:camera prst="orthographicFront"/>
              <a:lightRig rig="threePt" dir="t"/>
            </a:scene3d>
          </a:bodyPr>
          <a:p>
            <a:pPr marL="685800" indent="-685800"/>
            <a:r>
              <a:rPr lang="en-US" altLang="zh-CN" sz="3600" b="1" u="sng">
                <a:solidFill>
                  <a:schemeClr val="tx1"/>
                </a:solidFill>
                <a:effectLst>
                  <a:outerShdw blurRad="38100" dist="19050" dir="2700000" algn="tl" rotWithShape="0">
                    <a:schemeClr val="dk1">
                      <a:alpha val="40000"/>
                    </a:schemeClr>
                  </a:outerShdw>
                </a:effectLst>
                <a:latin typeface="华文新魏" panose="02010800040101010101" pitchFamily="2" charset="-122"/>
                <a:ea typeface="华文新魏" panose="02010800040101010101" pitchFamily="2" charset="-122"/>
                <a:cs typeface="华文新魏" panose="02010800040101010101" pitchFamily="2" charset="-122"/>
              </a:rPr>
              <a:t>2.2 </a:t>
            </a:r>
            <a:r>
              <a:rPr lang="zh-CN" altLang="en-US" sz="3600" b="1" u="sng">
                <a:solidFill>
                  <a:schemeClr val="tx1"/>
                </a:solidFill>
                <a:effectLst>
                  <a:outerShdw blurRad="38100" dist="19050" dir="2700000" algn="tl" rotWithShape="0">
                    <a:schemeClr val="dk1">
                      <a:alpha val="40000"/>
                    </a:schemeClr>
                  </a:outerShdw>
                </a:effectLst>
                <a:latin typeface="华文新魏" panose="02010800040101010101" pitchFamily="2" charset="-122"/>
                <a:ea typeface="华文新魏" panose="02010800040101010101" pitchFamily="2" charset="-122"/>
                <a:cs typeface="华文新魏" panose="02010800040101010101" pitchFamily="2" charset="-122"/>
              </a:rPr>
              <a:t>摘要</a:t>
            </a:r>
            <a:r>
              <a:rPr lang="zh-CN" altLang="en-US" sz="3600" b="1" u="sng">
                <a:solidFill>
                  <a:srgbClr val="FF0000"/>
                </a:solidFill>
                <a:effectLst>
                  <a:outerShdw blurRad="38100" dist="19050" dir="2700000" algn="tl" rotWithShape="0">
                    <a:schemeClr val="dk1">
                      <a:alpha val="40000"/>
                    </a:schemeClr>
                  </a:outerShdw>
                </a:effectLst>
                <a:latin typeface="华文新魏" panose="02010800040101010101" pitchFamily="2" charset="-122"/>
                <a:ea typeface="华文新魏" panose="02010800040101010101" pitchFamily="2" charset="-122"/>
                <a:cs typeface="华文新魏" panose="02010800040101010101" pitchFamily="2" charset="-122"/>
              </a:rPr>
              <a:t>（写好摘要的关键）</a:t>
            </a:r>
            <a:endParaRPr lang="zh-CN" altLang="en-US" sz="3600" b="1" u="sng">
              <a:solidFill>
                <a:srgbClr val="FF0000"/>
              </a:solidFill>
              <a:effectLst>
                <a:outerShdw blurRad="38100" dist="19050" dir="2700000" algn="tl" rotWithShape="0">
                  <a:schemeClr val="dk1">
                    <a:alpha val="40000"/>
                  </a:schemeClr>
                </a:outerShdw>
              </a:effectLst>
              <a:latin typeface="华文新魏" panose="02010800040101010101" pitchFamily="2" charset="-122"/>
              <a:ea typeface="华文新魏" panose="02010800040101010101" pitchFamily="2" charset="-122"/>
              <a:cs typeface="华文新魏" panose="02010800040101010101" pitchFamily="2" charset="-122"/>
            </a:endParaRPr>
          </a:p>
        </p:txBody>
      </p:sp>
      <p:sp>
        <p:nvSpPr>
          <p:cNvPr id="9219" name="文本占位符 9218"/>
          <p:cNvSpPr>
            <a:spLocks noGrp="1" noRot="1"/>
          </p:cNvSpPr>
          <p:nvPr>
            <p:ph type="body" idx="1"/>
          </p:nvPr>
        </p:nvSpPr>
        <p:spPr>
          <a:xfrm>
            <a:off x="229235" y="981075"/>
            <a:ext cx="11828780" cy="5550535"/>
          </a:xfrm>
        </p:spPr>
        <p:txBody>
          <a:bodyPr/>
          <a:p>
            <a:pPr>
              <a:lnSpc>
                <a:spcPct val="120000"/>
              </a:lnSpc>
            </a:pPr>
            <a:r>
              <a:rPr lang="zh-CN" altLang="en-US" sz="2400" b="1">
                <a:latin typeface="华文新魏" panose="02010800040101010101" pitchFamily="2" charset="-122"/>
                <a:ea typeface="华文新魏" panose="02010800040101010101" pitchFamily="2" charset="-122"/>
                <a:cs typeface="华文新魏" panose="02010800040101010101" pitchFamily="2" charset="-122"/>
              </a:rPr>
              <a:t>摘要一般在</a:t>
            </a:r>
            <a:r>
              <a:rPr lang="en-US" altLang="zh-CN" sz="2400" b="1">
                <a:latin typeface="华文新魏" panose="02010800040101010101" pitchFamily="2" charset="-122"/>
                <a:ea typeface="华文新魏" panose="02010800040101010101" pitchFamily="2" charset="-122"/>
                <a:cs typeface="华文新魏" panose="02010800040101010101" pitchFamily="2" charset="-122"/>
              </a:rPr>
              <a:t>100</a:t>
            </a:r>
            <a:r>
              <a:rPr lang="zh-CN" altLang="en-US" sz="2400" b="1">
                <a:latin typeface="华文新魏" panose="02010800040101010101" pitchFamily="2" charset="-122"/>
                <a:ea typeface="华文新魏" panose="02010800040101010101" pitchFamily="2" charset="-122"/>
                <a:cs typeface="华文新魏" panose="02010800040101010101" pitchFamily="2" charset="-122"/>
                <a:sym typeface="+mn-ea"/>
              </a:rPr>
              <a:t>～</a:t>
            </a:r>
            <a:r>
              <a:rPr lang="en-US" altLang="zh-CN" sz="2400" b="1">
                <a:latin typeface="华文新魏" panose="02010800040101010101" pitchFamily="2" charset="-122"/>
                <a:ea typeface="华文新魏" panose="02010800040101010101" pitchFamily="2" charset="-122"/>
                <a:cs typeface="华文新魏" panose="02010800040101010101" pitchFamily="2" charset="-122"/>
              </a:rPr>
              <a:t>300</a:t>
            </a:r>
            <a:r>
              <a:rPr lang="zh-CN" altLang="en-US" sz="2400" b="1">
                <a:latin typeface="华文新魏" panose="02010800040101010101" pitchFamily="2" charset="-122"/>
                <a:ea typeface="华文新魏" panose="02010800040101010101" pitchFamily="2" charset="-122"/>
                <a:cs typeface="华文新魏" panose="02010800040101010101" pitchFamily="2" charset="-122"/>
                <a:sym typeface="+mn-ea"/>
              </a:rPr>
              <a:t>字左右</a:t>
            </a:r>
            <a:r>
              <a:rPr lang="zh-CN" altLang="en-US" sz="2400" b="1">
                <a:latin typeface="华文新魏" panose="02010800040101010101" pitchFamily="2" charset="-122"/>
                <a:ea typeface="华文新魏" panose="02010800040101010101" pitchFamily="2" charset="-122"/>
                <a:cs typeface="华文新魏" panose="02010800040101010101" pitchFamily="2" charset="-122"/>
              </a:rPr>
              <a:t>（最多不超过</a:t>
            </a:r>
            <a:r>
              <a:rPr lang="en-US" altLang="zh-CN" sz="2400" b="1">
                <a:latin typeface="华文新魏" panose="02010800040101010101" pitchFamily="2" charset="-122"/>
                <a:ea typeface="华文新魏" panose="02010800040101010101" pitchFamily="2" charset="-122"/>
                <a:cs typeface="华文新魏" panose="02010800040101010101" pitchFamily="2" charset="-122"/>
              </a:rPr>
              <a:t>500</a:t>
            </a:r>
            <a:r>
              <a:rPr lang="zh-CN" altLang="en-US" sz="2400" b="1">
                <a:latin typeface="华文新魏" panose="02010800040101010101" pitchFamily="2" charset="-122"/>
                <a:ea typeface="华文新魏" panose="02010800040101010101" pitchFamily="2" charset="-122"/>
                <a:cs typeface="华文新魏" panose="02010800040101010101" pitchFamily="2" charset="-122"/>
              </a:rPr>
              <a:t>字）。</a:t>
            </a:r>
            <a:endParaRPr lang="zh-CN" altLang="en-US" sz="2400" b="1">
              <a:latin typeface="华文新魏" panose="02010800040101010101" pitchFamily="2" charset="-122"/>
              <a:ea typeface="华文新魏" panose="02010800040101010101" pitchFamily="2" charset="-122"/>
              <a:cs typeface="华文新魏" panose="02010800040101010101" pitchFamily="2" charset="-122"/>
            </a:endParaRPr>
          </a:p>
          <a:p>
            <a:pPr>
              <a:lnSpc>
                <a:spcPct val="120000"/>
              </a:lnSpc>
            </a:pPr>
            <a:r>
              <a:rPr lang="zh-CN" altLang="en-US" sz="2400" b="1">
                <a:latin typeface="华文新魏" panose="02010800040101010101" pitchFamily="2" charset="-122"/>
                <a:ea typeface="华文新魏" panose="02010800040101010101" pitchFamily="2" charset="-122"/>
                <a:cs typeface="华文新魏" panose="02010800040101010101" pitchFamily="2" charset="-122"/>
              </a:rPr>
              <a:t>摘要的内容应包括</a:t>
            </a:r>
            <a:r>
              <a:rPr lang="zh-CN" altLang="en-US" sz="2400" b="1">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目的</a:t>
            </a:r>
            <a:r>
              <a:rPr lang="zh-CN" altLang="en-US" sz="2400" b="1">
                <a:latin typeface="华文新魏" panose="02010800040101010101" pitchFamily="2" charset="-122"/>
                <a:ea typeface="华文新魏" panose="02010800040101010101" pitchFamily="2" charset="-122"/>
                <a:cs typeface="华文新魏" panose="02010800040101010101" pitchFamily="2" charset="-122"/>
              </a:rPr>
              <a:t>、</a:t>
            </a:r>
            <a:r>
              <a:rPr lang="zh-CN" altLang="en-US" sz="2400" b="1">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方法</a:t>
            </a:r>
            <a:r>
              <a:rPr lang="zh-CN" altLang="en-US" sz="2400" b="1">
                <a:latin typeface="华文新魏" panose="02010800040101010101" pitchFamily="2" charset="-122"/>
                <a:ea typeface="华文新魏" panose="02010800040101010101" pitchFamily="2" charset="-122"/>
                <a:cs typeface="华文新魏" panose="02010800040101010101" pitchFamily="2" charset="-122"/>
              </a:rPr>
              <a:t>、</a:t>
            </a:r>
            <a:r>
              <a:rPr lang="zh-CN" altLang="en-US" sz="2400" b="1">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结果和结论</a:t>
            </a:r>
            <a:r>
              <a:rPr lang="zh-CN" altLang="en-US" sz="2400" b="1">
                <a:latin typeface="华文新魏" panose="02010800040101010101" pitchFamily="2" charset="-122"/>
                <a:ea typeface="华文新魏" panose="02010800040101010101" pitchFamily="2" charset="-122"/>
                <a:cs typeface="华文新魏" panose="02010800040101010101" pitchFamily="2" charset="-122"/>
              </a:rPr>
              <a:t>，</a:t>
            </a:r>
            <a:r>
              <a:rPr lang="zh-CN" altLang="en-US" sz="2400" b="1">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包含设计的主要内容</a:t>
            </a:r>
            <a:r>
              <a:rPr lang="zh-CN" altLang="en-US" sz="2400" b="1">
                <a:latin typeface="华文新魏" panose="02010800040101010101" pitchFamily="2" charset="-122"/>
                <a:ea typeface="华文新魏" panose="02010800040101010101" pitchFamily="2" charset="-122"/>
                <a:cs typeface="华文新魏" panose="02010800040101010101" pitchFamily="2" charset="-122"/>
              </a:rPr>
              <a:t>、</a:t>
            </a:r>
            <a:r>
              <a:rPr lang="zh-CN" altLang="en-US" sz="2400" b="1">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设计的主要方法</a:t>
            </a:r>
            <a:r>
              <a:rPr lang="zh-CN" altLang="en-US" sz="2400" b="1">
                <a:latin typeface="华文新魏" panose="02010800040101010101" pitchFamily="2" charset="-122"/>
                <a:ea typeface="华文新魏" panose="02010800040101010101" pitchFamily="2" charset="-122"/>
                <a:cs typeface="华文新魏" panose="02010800040101010101" pitchFamily="2" charset="-122"/>
              </a:rPr>
              <a:t>。</a:t>
            </a:r>
            <a:endParaRPr lang="zh-CN" altLang="en-US" sz="2400" b="1">
              <a:latin typeface="华文新魏" panose="02010800040101010101" pitchFamily="2" charset="-122"/>
              <a:ea typeface="华文新魏" panose="02010800040101010101" pitchFamily="2" charset="-122"/>
              <a:cs typeface="华文新魏" panose="02010800040101010101" pitchFamily="2" charset="-122"/>
            </a:endParaRPr>
          </a:p>
          <a:p>
            <a:pPr>
              <a:lnSpc>
                <a:spcPct val="120000"/>
              </a:lnSpc>
            </a:pPr>
            <a:r>
              <a:rPr lang="zh-CN" altLang="en-US" sz="2400" b="1">
                <a:latin typeface="华文新魏" panose="02010800040101010101" pitchFamily="2" charset="-122"/>
                <a:ea typeface="华文新魏" panose="02010800040101010101" pitchFamily="2" charset="-122"/>
                <a:cs typeface="华文新魏" panose="02010800040101010101" pitchFamily="2" charset="-122"/>
              </a:rPr>
              <a:t>突出特色（如理论性、创新性、可靠性），是胜出或获奖的重要因素。</a:t>
            </a:r>
            <a:endParaRPr lang="zh-CN" altLang="en-US" sz="2400" b="1">
              <a:latin typeface="华文新魏" panose="02010800040101010101" pitchFamily="2" charset="-122"/>
              <a:ea typeface="华文新魏" panose="02010800040101010101" pitchFamily="2" charset="-122"/>
              <a:cs typeface="华文新魏" panose="02010800040101010101" pitchFamily="2" charset="-122"/>
            </a:endParaRPr>
          </a:p>
          <a:p>
            <a:pPr>
              <a:lnSpc>
                <a:spcPct val="120000"/>
              </a:lnSpc>
            </a:pPr>
            <a:r>
              <a:rPr lang="zh-CN" altLang="en-US" sz="2400" b="1">
                <a:latin typeface="华文新魏" panose="02010800040101010101" pitchFamily="2" charset="-122"/>
                <a:ea typeface="华文新魏" panose="02010800040101010101" pitchFamily="2" charset="-122"/>
                <a:cs typeface="华文新魏" panose="02010800040101010101" pitchFamily="2" charset="-122"/>
              </a:rPr>
              <a:t>摘要中用</a:t>
            </a:r>
            <a:r>
              <a:rPr lang="zh-CN" altLang="en-US" sz="2400" b="1">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第三人称</a:t>
            </a:r>
            <a:r>
              <a:rPr lang="zh-CN" altLang="en-US" sz="2400" b="1">
                <a:latin typeface="华文新魏" panose="02010800040101010101" pitchFamily="2" charset="-122"/>
                <a:ea typeface="华文新魏" panose="02010800040101010101" pitchFamily="2" charset="-122"/>
                <a:cs typeface="华文新魏" panose="02010800040101010101" pitchFamily="2" charset="-122"/>
              </a:rPr>
              <a:t>，不应出现“</a:t>
            </a:r>
            <a:r>
              <a:rPr lang="zh-CN" altLang="en-US" sz="2400" b="1">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本文</a:t>
            </a:r>
            <a:r>
              <a:rPr lang="zh-CN" altLang="en-US" sz="2400" b="1">
                <a:latin typeface="华文新魏" panose="02010800040101010101" pitchFamily="2" charset="-122"/>
                <a:ea typeface="华文新魏" panose="02010800040101010101" pitchFamily="2" charset="-122"/>
                <a:cs typeface="华文新魏" panose="02010800040101010101" pitchFamily="2" charset="-122"/>
              </a:rPr>
              <a:t>、</a:t>
            </a:r>
            <a:r>
              <a:rPr lang="zh-CN" altLang="en-US" sz="2400" b="1">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我们</a:t>
            </a:r>
            <a:r>
              <a:rPr lang="zh-CN" altLang="en-US" sz="2400" b="1">
                <a:latin typeface="华文新魏" panose="02010800040101010101" pitchFamily="2" charset="-122"/>
                <a:ea typeface="华文新魏" panose="02010800040101010101" pitchFamily="2" charset="-122"/>
                <a:cs typeface="华文新魏" panose="02010800040101010101" pitchFamily="2" charset="-122"/>
              </a:rPr>
              <a:t>、</a:t>
            </a:r>
            <a:r>
              <a:rPr lang="zh-CN" altLang="en-US" sz="2400" b="1">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作者</a:t>
            </a:r>
            <a:r>
              <a:rPr lang="zh-CN" altLang="en-US" sz="2400" b="1">
                <a:latin typeface="华文新魏" panose="02010800040101010101" pitchFamily="2" charset="-122"/>
                <a:ea typeface="华文新魏" panose="02010800040101010101" pitchFamily="2" charset="-122"/>
                <a:cs typeface="华文新魏" panose="02010800040101010101" pitchFamily="2" charset="-122"/>
              </a:rPr>
              <a:t>”之类的词语。</a:t>
            </a:r>
            <a:endParaRPr lang="zh-CN" altLang="en-US" sz="2400" b="1">
              <a:latin typeface="华文新魏" panose="02010800040101010101" pitchFamily="2" charset="-122"/>
              <a:ea typeface="华文新魏" panose="02010800040101010101" pitchFamily="2" charset="-122"/>
              <a:cs typeface="华文新魏" panose="02010800040101010101" pitchFamily="2" charset="-122"/>
            </a:endParaRPr>
          </a:p>
          <a:p>
            <a:pPr>
              <a:lnSpc>
                <a:spcPct val="120000"/>
              </a:lnSpc>
            </a:pPr>
            <a:r>
              <a:rPr lang="zh-CN" altLang="en-US" sz="2400" b="1">
                <a:latin typeface="华文新魏" panose="02010800040101010101" pitchFamily="2" charset="-122"/>
                <a:ea typeface="华文新魏" panose="02010800040101010101" pitchFamily="2" charset="-122"/>
                <a:cs typeface="华文新魏" panose="02010800040101010101" pitchFamily="2" charset="-122"/>
              </a:rPr>
              <a:t>英文摘要内容应与中文相对应，一般用第三人称和被动式，已完成的工作用过去时。竞赛时英文摘要可以不要。</a:t>
            </a:r>
            <a:endParaRPr lang="zh-CN" altLang="en-US" sz="2400" b="1">
              <a:latin typeface="华文新魏" panose="02010800040101010101" pitchFamily="2" charset="-122"/>
              <a:ea typeface="华文新魏" panose="02010800040101010101" pitchFamily="2" charset="-122"/>
              <a:cs typeface="华文新魏" panose="02010800040101010101" pitchFamily="2" charset="-122"/>
            </a:endParaRPr>
          </a:p>
          <a:p>
            <a:pPr>
              <a:lnSpc>
                <a:spcPct val="120000"/>
              </a:lnSpc>
            </a:pPr>
            <a:r>
              <a:rPr lang="zh-CN" altLang="en-US" sz="2400" b="1">
                <a:latin typeface="华文新魏" panose="02010800040101010101" pitchFamily="2" charset="-122"/>
                <a:ea typeface="华文新魏" panose="02010800040101010101" pitchFamily="2" charset="-122"/>
                <a:cs typeface="华文新魏" panose="02010800040101010101" pitchFamily="2" charset="-122"/>
              </a:rPr>
              <a:t>关键词按</a:t>
            </a:r>
            <a:r>
              <a:rPr lang="en-US" altLang="zh-CN" sz="2400" b="1">
                <a:latin typeface="华文新魏" panose="02010800040101010101" pitchFamily="2" charset="-122"/>
                <a:ea typeface="华文新魏" panose="02010800040101010101" pitchFamily="2" charset="-122"/>
                <a:cs typeface="华文新魏" panose="02010800040101010101" pitchFamily="2" charset="-122"/>
              </a:rPr>
              <a:t>GB/T 3860</a:t>
            </a:r>
            <a:r>
              <a:rPr lang="zh-CN" altLang="en-US" sz="2400" b="1">
                <a:latin typeface="华文新魏" panose="02010800040101010101" pitchFamily="2" charset="-122"/>
                <a:ea typeface="华文新魏" panose="02010800040101010101" pitchFamily="2" charset="-122"/>
                <a:cs typeface="华文新魏" panose="02010800040101010101" pitchFamily="2" charset="-122"/>
              </a:rPr>
              <a:t>的原则和方法选取。一般选</a:t>
            </a:r>
            <a:r>
              <a:rPr lang="zh-CN" altLang="en-US" sz="2400" b="1">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3～8个关键词</a:t>
            </a:r>
            <a:r>
              <a:rPr lang="zh-CN" altLang="en-US" sz="2400" b="1">
                <a:latin typeface="华文新魏" panose="02010800040101010101" pitchFamily="2" charset="-122"/>
                <a:ea typeface="华文新魏" panose="02010800040101010101" pitchFamily="2" charset="-122"/>
                <a:cs typeface="华文新魏" panose="02010800040101010101" pitchFamily="2" charset="-122"/>
              </a:rPr>
              <a:t>。中、英文关键词应一一对应。</a:t>
            </a:r>
            <a:endParaRPr lang="zh-CN" altLang="en-US" sz="2400" b="1">
              <a:latin typeface="华文新魏" panose="02010800040101010101" pitchFamily="2" charset="-122"/>
              <a:ea typeface="华文新魏" panose="02010800040101010101" pitchFamily="2" charset="-122"/>
              <a:cs typeface="华文新魏" panose="02010800040101010101" pitchFamily="2" charset="-122"/>
            </a:endParaRPr>
          </a:p>
          <a:p>
            <a:pPr>
              <a:lnSpc>
                <a:spcPct val="120000"/>
              </a:lnSpc>
            </a:pPr>
            <a:r>
              <a:rPr lang="zh-CN" altLang="en-US" sz="2400" b="1">
                <a:latin typeface="华文新魏" panose="02010800040101010101" pitchFamily="2" charset="-122"/>
                <a:ea typeface="华文新魏" panose="02010800040101010101" pitchFamily="2" charset="-122"/>
                <a:cs typeface="华文新魏" panose="02010800040101010101" pitchFamily="2" charset="-122"/>
                <a:sym typeface="+mn-ea"/>
              </a:rPr>
              <a:t>中文摘要前加“摘要”，英文摘要前加“</a:t>
            </a:r>
            <a:r>
              <a:rPr lang="en-US" altLang="zh-CN" sz="2400" b="1">
                <a:latin typeface="华文新魏" panose="02010800040101010101" pitchFamily="2" charset="-122"/>
                <a:ea typeface="华文新魏" panose="02010800040101010101" pitchFamily="2" charset="-122"/>
                <a:cs typeface="华文新魏" panose="02010800040101010101" pitchFamily="2" charset="-122"/>
                <a:sym typeface="+mn-ea"/>
              </a:rPr>
              <a:t>Abstract”</a:t>
            </a:r>
            <a:r>
              <a:rPr lang="zh-CN" altLang="en-US" sz="2400" b="1">
                <a:latin typeface="华文新魏" panose="02010800040101010101" pitchFamily="2" charset="-122"/>
                <a:ea typeface="华文新魏" panose="02010800040101010101" pitchFamily="2" charset="-122"/>
                <a:cs typeface="华文新魏" panose="02010800040101010101" pitchFamily="2" charset="-122"/>
                <a:sym typeface="+mn-ea"/>
              </a:rPr>
              <a:t>；</a:t>
            </a:r>
            <a:r>
              <a:rPr lang="zh-CN" altLang="en-US" sz="2400" b="1">
                <a:latin typeface="华文新魏" panose="02010800040101010101" pitchFamily="2" charset="-122"/>
                <a:ea typeface="华文新魏" panose="02010800040101010101" pitchFamily="2" charset="-122"/>
                <a:cs typeface="华文新魏" panose="02010800040101010101" pitchFamily="2" charset="-122"/>
                <a:sym typeface="+mn-ea"/>
              </a:rPr>
              <a:t>中</a:t>
            </a:r>
            <a:r>
              <a:rPr lang="zh-CN" altLang="en-US" sz="2400" b="1">
                <a:latin typeface="华文新魏" panose="02010800040101010101" pitchFamily="2" charset="-122"/>
                <a:ea typeface="华文新魏" panose="02010800040101010101" pitchFamily="2" charset="-122"/>
                <a:cs typeface="华文新魏" panose="02010800040101010101" pitchFamily="2" charset="-122"/>
              </a:rPr>
              <a:t>文前加“关键词：”，英文前加“</a:t>
            </a:r>
            <a:r>
              <a:rPr lang="en-US" altLang="zh-CN" sz="2400" b="1">
                <a:latin typeface="华文新魏" panose="02010800040101010101" pitchFamily="2" charset="-122"/>
                <a:ea typeface="华文新魏" panose="02010800040101010101" pitchFamily="2" charset="-122"/>
                <a:cs typeface="华文新魏" panose="02010800040101010101" pitchFamily="2" charset="-122"/>
              </a:rPr>
              <a:t>key words</a:t>
            </a:r>
            <a:r>
              <a:rPr lang="zh-CN" altLang="en-US" sz="2400" b="1">
                <a:latin typeface="华文新魏" panose="02010800040101010101" pitchFamily="2" charset="-122"/>
                <a:ea typeface="华文新魏" panose="02010800040101010101" pitchFamily="2" charset="-122"/>
                <a:cs typeface="华文新魏" panose="02010800040101010101" pitchFamily="2" charset="-122"/>
              </a:rPr>
              <a:t>：”。</a:t>
            </a:r>
            <a:endParaRPr lang="zh-CN" altLang="en-US" sz="2400" b="1">
              <a:latin typeface="华文新魏" panose="02010800040101010101" pitchFamily="2" charset="-122"/>
              <a:ea typeface="华文新魏" panose="02010800040101010101" pitchFamily="2" charset="-122"/>
              <a:cs typeface="华文新魏" panose="02010800040101010101" pitchFamily="2" charset="-122"/>
            </a:endParaRPr>
          </a:p>
        </p:txBody>
      </p:sp>
    </p:spTree>
  </p:cSld>
  <p:clrMapOvr>
    <a:masterClrMapping/>
  </p:clrMapOvr>
  <p:transition>
    <p:pull dir="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0241"/>
          <p:cNvSpPr>
            <a:spLocks noGrp="1" noRot="1"/>
          </p:cNvSpPr>
          <p:nvPr>
            <p:ph type="title"/>
          </p:nvPr>
        </p:nvSpPr>
        <p:spPr>
          <a:xfrm>
            <a:off x="431800" y="1020445"/>
            <a:ext cx="652780" cy="4803140"/>
          </a:xfrm>
        </p:spPr>
        <p:txBody>
          <a:bodyPr vert="eaVert" anchor="ctr"/>
          <a:p>
            <a:pPr algn="ct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 </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 </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摘要</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a:t>
            </a:r>
            <a:r>
              <a:rPr lang="zh-CN" altLang="en-US" b="1">
                <a:solidFill>
                  <a:srgbClr val="FF0000"/>
                </a:solidFill>
                <a:latin typeface="Times New Roman" panose="02020603050405020304" pitchFamily="18" charset="0"/>
                <a:ea typeface="楷体" panose="02010609060101010101" charset="-122"/>
                <a:cs typeface="Times New Roman" panose="02020603050405020304" pitchFamily="18" charset="0"/>
              </a:rPr>
              <a:t>案例</a:t>
            </a:r>
            <a:endParaRPr lang="zh-CN" altLang="en-US" b="1">
              <a:solidFill>
                <a:srgbClr val="FF0000"/>
              </a:solidFill>
              <a:latin typeface="Times New Roman" panose="02020603050405020304" pitchFamily="18" charset="0"/>
              <a:ea typeface="楷体" panose="02010609060101010101" charset="-122"/>
              <a:cs typeface="Times New Roman" panose="02020603050405020304" pitchFamily="18" charset="0"/>
            </a:endParaRPr>
          </a:p>
        </p:txBody>
      </p:sp>
      <p:sp>
        <p:nvSpPr>
          <p:cNvPr id="10243" name="文本占位符 10242"/>
          <p:cNvSpPr>
            <a:spLocks noGrp="1" noRot="1"/>
          </p:cNvSpPr>
          <p:nvPr>
            <p:ph type="body" idx="1"/>
          </p:nvPr>
        </p:nvSpPr>
        <p:spPr>
          <a:xfrm>
            <a:off x="1233805" y="779780"/>
            <a:ext cx="10500360" cy="5563235"/>
          </a:xfrm>
        </p:spPr>
        <p:txBody>
          <a:bodyPr/>
          <a:p>
            <a:pPr marL="0" indent="657860" eaLnBrk="1">
              <a:lnSpc>
                <a:spcPct val="130000"/>
              </a:lnSpc>
              <a:spcBef>
                <a:spcPts val="0"/>
              </a:spcBef>
              <a:buNone/>
            </a:pPr>
            <a:r>
              <a:rPr lang="zh-CN" altLang="en-US">
                <a:solidFill>
                  <a:srgbClr val="FF0000"/>
                </a:solidFill>
                <a:latin typeface="+mj-lt"/>
                <a:ea typeface="楷体" panose="02010609060101010101" charset="-122"/>
                <a:cs typeface="+mj-lt"/>
              </a:rPr>
              <a:t>摘要：</a:t>
            </a:r>
            <a:r>
              <a:rPr lang="zh-CN" altLang="en-US">
                <a:latin typeface="+mj-lt"/>
                <a:ea typeface="楷体" panose="02010609060101010101" charset="-122"/>
                <a:cs typeface="+mj-lt"/>
              </a:rPr>
              <a:t>单工无线呼叫系统分发射和接收两大部分。发射部分采用锁相环式频率合成器技术，</a:t>
            </a:r>
            <a:r>
              <a:rPr lang="en-US" altLang="zh-CN">
                <a:latin typeface="+mj-lt"/>
                <a:ea typeface="楷体" panose="02010609060101010101" charset="-122"/>
                <a:cs typeface="+mj-lt"/>
              </a:rPr>
              <a:t>MCl45152</a:t>
            </a:r>
            <a:r>
              <a:rPr lang="zh-CN" altLang="en-US">
                <a:latin typeface="+mj-lt"/>
                <a:ea typeface="楷体" panose="02010609060101010101" charset="-122"/>
                <a:cs typeface="+mj-lt"/>
              </a:rPr>
              <a:t>和</a:t>
            </a:r>
            <a:r>
              <a:rPr lang="en-US" altLang="zh-CN">
                <a:latin typeface="+mj-lt"/>
                <a:ea typeface="楷体" panose="02010609060101010101" charset="-122"/>
                <a:cs typeface="+mj-lt"/>
              </a:rPr>
              <a:t>MCl2022</a:t>
            </a:r>
            <a:r>
              <a:rPr lang="zh-CN" altLang="en-US">
                <a:latin typeface="+mj-lt"/>
                <a:ea typeface="楷体" panose="02010609060101010101" charset="-122"/>
                <a:cs typeface="+mj-lt"/>
              </a:rPr>
              <a:t>芯片组成锁相环，将载波频率精确锁定在</a:t>
            </a:r>
            <a:r>
              <a:rPr lang="en-US" altLang="zh-CN">
                <a:latin typeface="+mj-lt"/>
                <a:ea typeface="楷体" panose="02010609060101010101" charset="-122"/>
                <a:cs typeface="+mj-lt"/>
              </a:rPr>
              <a:t>35 MHz</a:t>
            </a:r>
            <a:r>
              <a:rPr lang="zh-CN" altLang="en-US">
                <a:latin typeface="+mj-lt"/>
                <a:ea typeface="楷体" panose="02010609060101010101" charset="-122"/>
                <a:cs typeface="+mj-lt"/>
              </a:rPr>
              <a:t>，输出载波的稳定度达到</a:t>
            </a:r>
            <a:r>
              <a:rPr lang="en-US" altLang="zh-CN">
                <a:latin typeface="+mj-lt"/>
                <a:ea typeface="楷体" panose="02010609060101010101" charset="-122"/>
                <a:cs typeface="+mj-lt"/>
              </a:rPr>
              <a:t>4×10</a:t>
            </a:r>
            <a:r>
              <a:rPr lang="en-US" altLang="zh-CN" baseline="30000">
                <a:latin typeface="+mj-lt"/>
                <a:ea typeface="楷体" panose="02010609060101010101" charset="-122"/>
                <a:cs typeface="+mj-lt"/>
              </a:rPr>
              <a:t>-5</a:t>
            </a:r>
            <a:r>
              <a:rPr lang="zh-CN" altLang="en-US">
                <a:latin typeface="+mj-lt"/>
                <a:ea typeface="楷体" panose="02010609060101010101" charset="-122"/>
                <a:cs typeface="+mj-lt"/>
              </a:rPr>
              <a:t>，准确度达到</a:t>
            </a:r>
            <a:r>
              <a:rPr lang="en-US" altLang="zh-CN">
                <a:latin typeface="+mj-lt"/>
                <a:ea typeface="楷体" panose="02010609060101010101" charset="-122"/>
                <a:cs typeface="+mj-lt"/>
              </a:rPr>
              <a:t>3×10</a:t>
            </a:r>
            <a:r>
              <a:rPr lang="en-US" altLang="zh-CN" baseline="30000">
                <a:latin typeface="+mj-lt"/>
                <a:ea typeface="楷体" panose="02010609060101010101" charset="-122"/>
                <a:cs typeface="+mj-lt"/>
              </a:rPr>
              <a:t>-5</a:t>
            </a:r>
            <a:r>
              <a:rPr lang="zh-CN" altLang="en-US">
                <a:latin typeface="+mj-lt"/>
                <a:ea typeface="楷体" panose="02010609060101010101" charset="-122"/>
                <a:cs typeface="+mj-lt"/>
              </a:rPr>
              <a:t>，由变容二极管</a:t>
            </a:r>
            <a:r>
              <a:rPr lang="en-US" altLang="zh-CN">
                <a:latin typeface="+mj-lt"/>
                <a:ea typeface="楷体" panose="02010609060101010101" charset="-122"/>
                <a:cs typeface="+mj-lt"/>
              </a:rPr>
              <a:t>V149</a:t>
            </a:r>
            <a:r>
              <a:rPr lang="zh-CN" altLang="en-US">
                <a:latin typeface="+mj-lt"/>
                <a:ea typeface="楷体" panose="02010609060101010101" charset="-122"/>
                <a:cs typeface="+mj-lt"/>
              </a:rPr>
              <a:t>和集成压控振荡器芯片</a:t>
            </a:r>
            <a:r>
              <a:rPr lang="en-US" altLang="zh-CN">
                <a:latin typeface="+mj-lt"/>
                <a:ea typeface="楷体" panose="02010609060101010101" charset="-122"/>
                <a:cs typeface="+mj-lt"/>
              </a:rPr>
              <a:t>MCl648</a:t>
            </a:r>
            <a:r>
              <a:rPr lang="zh-CN" altLang="en-US">
                <a:latin typeface="+mj-lt"/>
                <a:ea typeface="楷体" panose="02010609060101010101" charset="-122"/>
                <a:cs typeface="+mj-lt"/>
              </a:rPr>
              <a:t>实现对载波的调频调制；末级功放选用三极管</a:t>
            </a:r>
            <a:r>
              <a:rPr lang="en-US" altLang="zh-CN">
                <a:latin typeface="+mj-lt"/>
                <a:ea typeface="楷体" panose="02010609060101010101" charset="-122"/>
                <a:cs typeface="+mj-lt"/>
              </a:rPr>
              <a:t>2SCl970</a:t>
            </a:r>
            <a:r>
              <a:rPr lang="zh-CN" altLang="en-US">
                <a:latin typeface="+mj-lt"/>
                <a:ea typeface="楷体" panose="02010609060101010101" charset="-122"/>
                <a:cs typeface="+mj-lt"/>
              </a:rPr>
              <a:t>，使其工作在丙类放大状态，提高了放大器的效率，输出功率达到设计要求。接收部分以超大规模</a:t>
            </a:r>
            <a:r>
              <a:rPr lang="en-US" altLang="zh-CN">
                <a:latin typeface="+mj-lt"/>
                <a:ea typeface="楷体" panose="02010609060101010101" charset="-122"/>
                <a:cs typeface="+mj-lt"/>
              </a:rPr>
              <a:t>AM</a:t>
            </a:r>
            <a:r>
              <a:rPr lang="zh-CN" altLang="en-US">
                <a:latin typeface="+mj-lt"/>
                <a:ea typeface="楷体" panose="02010609060101010101" charset="-122"/>
                <a:cs typeface="+mj-lt"/>
              </a:rPr>
              <a:t>／</a:t>
            </a:r>
            <a:r>
              <a:rPr lang="en-US" altLang="zh-CN">
                <a:latin typeface="+mj-lt"/>
                <a:ea typeface="楷体" panose="02010609060101010101" charset="-122"/>
                <a:cs typeface="+mj-lt"/>
              </a:rPr>
              <a:t>FM</a:t>
            </a:r>
            <a:r>
              <a:rPr lang="zh-CN" altLang="en-US">
                <a:latin typeface="+mj-lt"/>
                <a:ea typeface="楷体" panose="02010609060101010101" charset="-122"/>
                <a:cs typeface="+mj-lt"/>
              </a:rPr>
              <a:t>立体声收音集成芯片</a:t>
            </a:r>
            <a:r>
              <a:rPr lang="en-US" altLang="zh-CN">
                <a:latin typeface="+mj-lt"/>
                <a:ea typeface="楷体" panose="02010609060101010101" charset="-122"/>
                <a:cs typeface="+mj-lt"/>
              </a:rPr>
              <a:t>CXA1238S</a:t>
            </a:r>
            <a:r>
              <a:rPr lang="zh-CN" altLang="en-US">
                <a:latin typeface="+mj-lt"/>
                <a:ea typeface="楷体" panose="02010609060101010101" charset="-122"/>
                <a:cs typeface="+mj-lt"/>
              </a:rPr>
              <a:t>为主体；音频功率放大器采用集成芯片</a:t>
            </a:r>
            <a:r>
              <a:rPr lang="en-US" altLang="zh-CN">
                <a:latin typeface="+mj-lt"/>
                <a:ea typeface="楷体" panose="02010609060101010101" charset="-122"/>
                <a:cs typeface="+mj-lt"/>
              </a:rPr>
              <a:t>LM386</a:t>
            </a:r>
            <a:r>
              <a:rPr lang="zh-CN" altLang="en-US">
                <a:latin typeface="+mj-lt"/>
                <a:ea typeface="楷体" panose="02010609060101010101" charset="-122"/>
                <a:cs typeface="+mj-lt"/>
              </a:rPr>
              <a:t>，电压放大倍数最大为</a:t>
            </a:r>
            <a:r>
              <a:rPr lang="en-US" altLang="zh-CN">
                <a:latin typeface="+mj-lt"/>
                <a:ea typeface="楷体" panose="02010609060101010101" charset="-122"/>
                <a:cs typeface="+mj-lt"/>
              </a:rPr>
              <a:t>200</a:t>
            </a:r>
            <a:r>
              <a:rPr lang="zh-CN" altLang="en-US">
                <a:latin typeface="+mj-lt"/>
                <a:ea typeface="楷体" panose="02010609060101010101" charset="-122"/>
                <a:cs typeface="+mj-lt"/>
              </a:rPr>
              <a:t>，接收波形稳定，无明显失真。</a:t>
            </a:r>
            <a:endParaRPr lang="zh-CN" altLang="en-US">
              <a:solidFill>
                <a:srgbClr val="FF0000"/>
              </a:solidFill>
              <a:latin typeface="+mj-lt"/>
              <a:ea typeface="楷体" panose="02010609060101010101" charset="-122"/>
              <a:cs typeface="+mj-lt"/>
            </a:endParaRPr>
          </a:p>
        </p:txBody>
      </p:sp>
    </p:spTree>
  </p:cSld>
  <p:clrMapOvr>
    <a:masterClrMapping/>
  </p:clrMapOvr>
  <p:transition>
    <p:pull dir="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文本占位符 11266"/>
          <p:cNvSpPr>
            <a:spLocks noGrp="1" noRot="1"/>
          </p:cNvSpPr>
          <p:nvPr>
            <p:ph type="body" idx="1"/>
          </p:nvPr>
        </p:nvSpPr>
        <p:spPr>
          <a:xfrm>
            <a:off x="342265" y="695960"/>
            <a:ext cx="11397615" cy="5198745"/>
          </a:xfrm>
        </p:spPr>
        <p:txBody>
          <a:bodyPr/>
          <a:p>
            <a:pPr marL="0" indent="731520" eaLnBrk="1">
              <a:lnSpc>
                <a:spcPct val="160000"/>
              </a:lnSpc>
              <a:spcBef>
                <a:spcPts val="0"/>
              </a:spcBef>
              <a:buNone/>
            </a:pPr>
            <a:r>
              <a:rPr lang="zh-CN" altLang="en-US" sz="2800">
                <a:latin typeface="+mj-lt"/>
                <a:ea typeface="楷体" panose="02010609060101010101" charset="-122"/>
                <a:cs typeface="+mj-lt"/>
              </a:rPr>
              <a:t>采用</a:t>
            </a:r>
            <a:r>
              <a:rPr lang="en-US" altLang="zh-CN" sz="2800">
                <a:latin typeface="+mj-lt"/>
                <a:ea typeface="楷体" panose="02010609060101010101" charset="-122"/>
                <a:cs typeface="+mj-lt"/>
              </a:rPr>
              <a:t>PT2262/2272</a:t>
            </a:r>
            <a:r>
              <a:rPr lang="zh-CN" altLang="en-US" sz="2800">
                <a:latin typeface="+mj-lt"/>
                <a:ea typeface="楷体" panose="02010609060101010101" charset="-122"/>
                <a:cs typeface="+mj-lt"/>
              </a:rPr>
              <a:t>编码／解码电路实现了数据传输业务以及对台号的选择等功能；音频输入和数据输入可自动转换；</a:t>
            </a:r>
            <a:r>
              <a:rPr lang="en-US" altLang="zh-CN" sz="2800">
                <a:latin typeface="+mj-lt"/>
                <a:ea typeface="楷体" panose="02010609060101010101" charset="-122"/>
                <a:cs typeface="+mj-lt"/>
              </a:rPr>
              <a:t>AT89S52</a:t>
            </a:r>
            <a:r>
              <a:rPr lang="zh-CN" altLang="en-US" sz="2800">
                <a:latin typeface="+mj-lt"/>
                <a:ea typeface="楷体" panose="02010609060101010101" charset="-122"/>
                <a:cs typeface="+mj-lt"/>
              </a:rPr>
              <a:t>作为整个系统的控制部分，程序设计采用</a:t>
            </a:r>
            <a:r>
              <a:rPr lang="en-US" altLang="zh-CN" sz="2800">
                <a:latin typeface="+mj-lt"/>
                <a:ea typeface="楷体" panose="02010609060101010101" charset="-122"/>
                <a:cs typeface="+mj-lt"/>
              </a:rPr>
              <a:t>C</a:t>
            </a:r>
            <a:r>
              <a:rPr lang="zh-CN" altLang="en-US" sz="2800">
                <a:latin typeface="+mj-lt"/>
                <a:ea typeface="楷体" panose="02010609060101010101" charset="-122"/>
                <a:cs typeface="+mj-lt"/>
              </a:rPr>
              <a:t>语言在</a:t>
            </a:r>
            <a:r>
              <a:rPr lang="en-US" altLang="zh-CN" sz="2800">
                <a:latin typeface="+mj-lt"/>
                <a:ea typeface="楷体" panose="02010609060101010101" charset="-122"/>
                <a:cs typeface="+mj-lt"/>
              </a:rPr>
              <a:t>Keil 51</a:t>
            </a:r>
            <a:r>
              <a:rPr lang="zh-CN" altLang="en-US" sz="2800">
                <a:latin typeface="+mj-lt"/>
                <a:ea typeface="楷体" panose="02010609060101010101" charset="-122"/>
                <a:cs typeface="+mj-lt"/>
              </a:rPr>
              <a:t>。的编译器上编程实现；显示采用</a:t>
            </a:r>
            <a:r>
              <a:rPr lang="en-US" altLang="zh-CN" sz="2800">
                <a:latin typeface="+mj-lt"/>
                <a:ea typeface="楷体" panose="02010609060101010101" charset="-122"/>
                <a:cs typeface="+mj-lt"/>
              </a:rPr>
              <a:t>128×64</a:t>
            </a:r>
            <a:r>
              <a:rPr lang="zh-CN" altLang="en-US" sz="2800">
                <a:latin typeface="+mj-lt"/>
                <a:ea typeface="楷体" panose="02010609060101010101" charset="-122"/>
                <a:cs typeface="+mj-lt"/>
              </a:rPr>
              <a:t>点阵型液晶显示。经测试，整机功能齐全，灵敏度、镜像抑制、信噪比等各项性能指标均达到设计要求。</a:t>
            </a:r>
            <a:endParaRPr lang="zh-CN" altLang="en-US" sz="2800">
              <a:latin typeface="+mj-lt"/>
              <a:ea typeface="楷体" panose="02010609060101010101" charset="-122"/>
              <a:cs typeface="+mj-lt"/>
            </a:endParaRPr>
          </a:p>
          <a:p>
            <a:pPr marL="0" indent="731520" eaLnBrk="1">
              <a:lnSpc>
                <a:spcPct val="160000"/>
              </a:lnSpc>
              <a:spcBef>
                <a:spcPts val="0"/>
              </a:spcBef>
              <a:buNone/>
            </a:pPr>
            <a:r>
              <a:rPr lang="zh-CN" altLang="en-US">
                <a:solidFill>
                  <a:srgbClr val="FF0000"/>
                </a:solidFill>
                <a:latin typeface="+mj-lt"/>
                <a:ea typeface="楷体" panose="02010609060101010101" charset="-122"/>
                <a:cs typeface="+mj-lt"/>
                <a:sym typeface="+mn-ea"/>
              </a:rPr>
              <a:t>核心：</a:t>
            </a:r>
            <a:r>
              <a:rPr lang="zh-CN" altLang="en-US" u="sng">
                <a:solidFill>
                  <a:srgbClr val="FF0000"/>
                </a:solidFill>
                <a:latin typeface="+mj-lt"/>
                <a:ea typeface="楷体" panose="02010609060101010101" charset="-122"/>
                <a:cs typeface="+mj-lt"/>
                <a:sym typeface="+mn-ea"/>
              </a:rPr>
              <a:t>做什么，怎么做，用啥做，做的咋样</a:t>
            </a:r>
            <a:endParaRPr lang="zh-CN" altLang="en-US">
              <a:solidFill>
                <a:srgbClr val="FF0000"/>
              </a:solidFill>
              <a:latin typeface="+mj-lt"/>
              <a:ea typeface="楷体" panose="02010609060101010101" charset="-122"/>
              <a:cs typeface="+mj-lt"/>
            </a:endParaRPr>
          </a:p>
          <a:p>
            <a:pPr marL="0" indent="731520" eaLnBrk="1">
              <a:lnSpc>
                <a:spcPct val="160000"/>
              </a:lnSpc>
              <a:spcBef>
                <a:spcPts val="0"/>
              </a:spcBef>
              <a:buNone/>
            </a:pPr>
            <a:r>
              <a:rPr lang="zh-CN" altLang="en-US" sz="2800" b="1">
                <a:latin typeface="+mj-lt"/>
                <a:ea typeface="楷体" panose="02010609060101010101" charset="-122"/>
                <a:cs typeface="+mj-lt"/>
              </a:rPr>
              <a:t>关键词：无线收发技术，锁相环，压控振荡器，编码器，解码器</a:t>
            </a:r>
            <a:r>
              <a:rPr lang="zh-CN" altLang="en-US" sz="2800">
                <a:latin typeface="+mj-lt"/>
                <a:ea typeface="楷体" panose="02010609060101010101" charset="-122"/>
                <a:cs typeface="+mj-lt"/>
              </a:rPr>
              <a:t>。</a:t>
            </a:r>
            <a:endParaRPr lang="zh-CN" altLang="en-US" sz="2800">
              <a:latin typeface="+mj-lt"/>
              <a:ea typeface="楷体" panose="02010609060101010101" charset="-122"/>
              <a:cs typeface="+mj-lt"/>
            </a:endParaRPr>
          </a:p>
          <a:p>
            <a:pPr marL="0" indent="731520"/>
            <a:endParaRPr lang="zh-CN" altLang="en-US" sz="2800">
              <a:latin typeface="+mj-lt"/>
              <a:ea typeface="楷体" panose="02010609060101010101" charset="-122"/>
              <a:cs typeface="+mj-lt"/>
            </a:endParaRPr>
          </a:p>
        </p:txBody>
      </p:sp>
    </p:spTree>
  </p:cSld>
  <p:clrMapOvr>
    <a:masterClrMapping/>
  </p:clrMapOvr>
  <p:transition>
    <p:pull dir="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标题 12289"/>
          <p:cNvSpPr>
            <a:spLocks noGrp="1" noRot="1"/>
          </p:cNvSpPr>
          <p:nvPr>
            <p:ph type="title"/>
          </p:nvPr>
        </p:nvSpPr>
        <p:spPr>
          <a:xfrm>
            <a:off x="913765" y="543560"/>
            <a:ext cx="8540750" cy="1143000"/>
          </a:xfrm>
        </p:spPr>
        <p:txBody>
          <a:bodyPr anchor="ctr"/>
          <a:p>
            <a:pPr marL="685800" indent="-685800"/>
            <a:r>
              <a:rPr lang="en-US" altLang="zh-CN" b="1" u="sng" dirty="0">
                <a:solidFill>
                  <a:srgbClr val="FF0000"/>
                </a:solidFill>
                <a:latin typeface="Times New Roman" panose="02020603050405020304" pitchFamily="18" charset="0"/>
              </a:rPr>
              <a:t>2.3</a:t>
            </a:r>
            <a:r>
              <a:rPr lang="zh-CN" altLang="en-US" b="1" u="sng" dirty="0">
                <a:solidFill>
                  <a:schemeClr val="hlink"/>
                </a:solidFill>
                <a:latin typeface="Times New Roman" panose="02020603050405020304" pitchFamily="18" charset="0"/>
              </a:rPr>
              <a:t>  </a:t>
            </a:r>
            <a:r>
              <a:rPr lang="zh-CN" altLang="en-US" b="1" u="sng" dirty="0">
                <a:solidFill>
                  <a:schemeClr val="hlink"/>
                </a:solidFill>
              </a:rPr>
              <a:t>目 录</a:t>
            </a:r>
            <a:endParaRPr lang="en-US" altLang="zh-CN" b="1" u="sng" dirty="0">
              <a:solidFill>
                <a:schemeClr val="hlink"/>
              </a:solidFill>
            </a:endParaRPr>
          </a:p>
        </p:txBody>
      </p:sp>
      <p:sp>
        <p:nvSpPr>
          <p:cNvPr id="12291" name="文本占位符 12290"/>
          <p:cNvSpPr>
            <a:spLocks noGrp="1" noRot="1"/>
          </p:cNvSpPr>
          <p:nvPr>
            <p:ph type="body" idx="1"/>
          </p:nvPr>
        </p:nvSpPr>
        <p:spPr>
          <a:xfrm>
            <a:off x="535305" y="1613535"/>
            <a:ext cx="11263630" cy="4794885"/>
          </a:xfrm>
          <a:solidFill>
            <a:schemeClr val="bg1"/>
          </a:solidFill>
        </p:spPr>
        <p:txBody>
          <a:bodyPr/>
          <a:p>
            <a:pPr marL="0" indent="701675" eaLnBrk="1">
              <a:lnSpc>
                <a:spcPct val="100000"/>
              </a:lnSpc>
              <a:spcBef>
                <a:spcPts val="0"/>
              </a:spcBef>
              <a:buNone/>
            </a:pPr>
            <a:r>
              <a:rPr lang="zh-CN" altLang="en-US">
                <a:latin typeface="+mj-lt"/>
                <a:ea typeface="楷体" panose="02010609060101010101" charset="-122"/>
                <a:cs typeface="+mj-lt"/>
              </a:rPr>
              <a:t>目录包括设计总结报告的章节标题、附录的内容，以及章节标题、附录的内容所对应的页码。</a:t>
            </a:r>
            <a:endParaRPr lang="zh-CN" altLang="en-US">
              <a:latin typeface="+mj-lt"/>
              <a:ea typeface="楷体" panose="02010609060101010101" charset="-122"/>
              <a:cs typeface="+mj-lt"/>
            </a:endParaRPr>
          </a:p>
          <a:p>
            <a:pPr marL="0" indent="701675" eaLnBrk="1">
              <a:lnSpc>
                <a:spcPct val="100000"/>
              </a:lnSpc>
              <a:spcBef>
                <a:spcPts val="0"/>
              </a:spcBef>
              <a:buNone/>
            </a:pPr>
            <a:r>
              <a:rPr lang="zh-CN" altLang="en-US">
                <a:latin typeface="+mj-lt"/>
                <a:ea typeface="楷体" panose="02010609060101010101" charset="-122"/>
                <a:cs typeface="+mj-lt"/>
              </a:rPr>
              <a:t>目录需要单独编制页码 </a:t>
            </a:r>
            <a:endParaRPr lang="zh-CN" altLang="en-US">
              <a:latin typeface="+mj-lt"/>
              <a:ea typeface="楷体" panose="02010609060101010101" charset="-122"/>
              <a:cs typeface="+mj-lt"/>
            </a:endParaRPr>
          </a:p>
          <a:p>
            <a:pPr marL="0" indent="701675" eaLnBrk="1">
              <a:lnSpc>
                <a:spcPct val="100000"/>
              </a:lnSpc>
              <a:spcBef>
                <a:spcPts val="0"/>
              </a:spcBef>
              <a:buNone/>
            </a:pPr>
            <a:r>
              <a:rPr lang="zh-CN" altLang="en-US">
                <a:latin typeface="+mj-lt"/>
                <a:ea typeface="楷体" panose="02010609060101010101" charset="-122"/>
                <a:cs typeface="+mj-lt"/>
              </a:rPr>
              <a:t>章节标题格式：</a:t>
            </a:r>
            <a:r>
              <a:rPr lang="zh-CN" altLang="en-US" sz="2000">
                <a:solidFill>
                  <a:srgbClr val="FF0000"/>
                </a:solidFill>
                <a:latin typeface="+mj-lt"/>
                <a:ea typeface="楷体" panose="02010609060101010101" charset="-122"/>
                <a:cs typeface="+mj-lt"/>
              </a:rPr>
              <a:t>（</a:t>
            </a:r>
            <a:r>
              <a:rPr lang="zh-CN" altLang="en-US" sz="2000">
                <a:solidFill>
                  <a:srgbClr val="FF0000"/>
                </a:solidFill>
                <a:latin typeface="+mj-lt"/>
                <a:ea typeface="楷体" panose="02010609060101010101" charset="-122"/>
                <a:cs typeface="+mj-lt"/>
              </a:rPr>
              <a:t>目录可以利用</a:t>
            </a:r>
            <a:r>
              <a:rPr lang="en-US" altLang="zh-CN" sz="2000">
                <a:solidFill>
                  <a:srgbClr val="FF0000"/>
                </a:solidFill>
                <a:latin typeface="+mj-lt"/>
                <a:ea typeface="楷体" panose="02010609060101010101" charset="-122"/>
                <a:cs typeface="+mj-lt"/>
              </a:rPr>
              <a:t>word</a:t>
            </a:r>
            <a:r>
              <a:rPr lang="zh-CN" altLang="en-US" sz="2000">
                <a:solidFill>
                  <a:srgbClr val="FF0000"/>
                </a:solidFill>
                <a:latin typeface="+mj-lt"/>
                <a:ea typeface="楷体" panose="02010609060101010101" charset="-122"/>
                <a:cs typeface="+mj-lt"/>
              </a:rPr>
              <a:t>引用自动生成并可设置目录级数）</a:t>
            </a:r>
            <a:endParaRPr lang="zh-CN" altLang="en-US" sz="2000">
              <a:solidFill>
                <a:srgbClr val="FF0000"/>
              </a:solidFill>
              <a:latin typeface="+mj-lt"/>
              <a:ea typeface="楷体" panose="02010609060101010101" charset="-122"/>
              <a:cs typeface="+mj-lt"/>
            </a:endParaRPr>
          </a:p>
          <a:p>
            <a:pPr marL="0" indent="701675" eaLnBrk="1">
              <a:lnSpc>
                <a:spcPct val="100000"/>
              </a:lnSpc>
              <a:spcBef>
                <a:spcPts val="0"/>
              </a:spcBef>
              <a:buNone/>
            </a:pPr>
            <a:r>
              <a:rPr lang="zh-CN" altLang="en-US">
                <a:latin typeface="+mj-lt"/>
                <a:ea typeface="楷体" panose="02010609060101010101" charset="-122"/>
                <a:cs typeface="+mj-lt"/>
              </a:rPr>
              <a:t>    </a:t>
            </a:r>
            <a:r>
              <a:rPr lang="en-US" altLang="zh-CN">
                <a:latin typeface="+mj-lt"/>
                <a:ea typeface="楷体" panose="02010609060101010101" charset="-122"/>
                <a:cs typeface="+mj-lt"/>
              </a:rPr>
              <a:t>1</a:t>
            </a:r>
            <a:endParaRPr lang="en-US" altLang="zh-CN">
              <a:latin typeface="+mj-lt"/>
              <a:ea typeface="楷体" panose="02010609060101010101" charset="-122"/>
              <a:cs typeface="+mj-lt"/>
            </a:endParaRPr>
          </a:p>
          <a:p>
            <a:pPr marL="0" indent="701675" eaLnBrk="1">
              <a:lnSpc>
                <a:spcPct val="100000"/>
              </a:lnSpc>
              <a:spcBef>
                <a:spcPts val="0"/>
              </a:spcBef>
              <a:buNone/>
            </a:pPr>
            <a:r>
              <a:rPr lang="en-US" altLang="zh-CN">
                <a:latin typeface="+mj-lt"/>
                <a:ea typeface="楷体" panose="02010609060101010101" charset="-122"/>
                <a:cs typeface="+mj-lt"/>
              </a:rPr>
              <a:t>    1.1</a:t>
            </a:r>
            <a:endParaRPr lang="en-US" altLang="zh-CN">
              <a:latin typeface="+mj-lt"/>
              <a:ea typeface="楷体" panose="02010609060101010101" charset="-122"/>
              <a:cs typeface="+mj-lt"/>
            </a:endParaRPr>
          </a:p>
          <a:p>
            <a:pPr marL="0" indent="701675" eaLnBrk="1">
              <a:lnSpc>
                <a:spcPct val="100000"/>
              </a:lnSpc>
              <a:spcBef>
                <a:spcPts val="0"/>
              </a:spcBef>
              <a:buNone/>
            </a:pPr>
            <a:r>
              <a:rPr lang="en-US" altLang="zh-CN">
                <a:latin typeface="+mj-lt"/>
                <a:ea typeface="楷体" panose="02010609060101010101" charset="-122"/>
                <a:cs typeface="+mj-lt"/>
              </a:rPr>
              <a:t>    1.1.1</a:t>
            </a:r>
            <a:endParaRPr lang="en-US" altLang="zh-CN">
              <a:latin typeface="+mj-lt"/>
              <a:ea typeface="楷体" panose="02010609060101010101" charset="-122"/>
              <a:cs typeface="+mj-lt"/>
            </a:endParaRPr>
          </a:p>
          <a:p>
            <a:pPr marL="0" indent="701675" eaLnBrk="1">
              <a:lnSpc>
                <a:spcPct val="100000"/>
              </a:lnSpc>
              <a:spcBef>
                <a:spcPts val="0"/>
              </a:spcBef>
              <a:buNone/>
            </a:pPr>
            <a:r>
              <a:rPr lang="en-US" altLang="zh-CN">
                <a:latin typeface="+mj-lt"/>
                <a:ea typeface="楷体" panose="02010609060101010101" charset="-122"/>
                <a:cs typeface="+mj-lt"/>
              </a:rPr>
              <a:t>    （1）</a:t>
            </a:r>
            <a:endParaRPr lang="en-US" altLang="zh-CN">
              <a:latin typeface="+mj-lt"/>
              <a:ea typeface="楷体" panose="02010609060101010101" charset="-122"/>
              <a:cs typeface="+mj-lt"/>
            </a:endParaRPr>
          </a:p>
          <a:p>
            <a:pPr marL="0" indent="701675" eaLnBrk="1">
              <a:lnSpc>
                <a:spcPct val="100000"/>
              </a:lnSpc>
              <a:spcBef>
                <a:spcPts val="0"/>
              </a:spcBef>
              <a:buNone/>
            </a:pPr>
            <a:r>
              <a:rPr lang="en-US" altLang="zh-CN">
                <a:latin typeface="+mj-lt"/>
                <a:ea typeface="楷体" panose="02010609060101010101" charset="-122"/>
                <a:cs typeface="+mj-lt"/>
              </a:rPr>
              <a:t>    ①</a:t>
            </a:r>
            <a:endParaRPr lang="en-US" altLang="zh-CN">
              <a:latin typeface="+mj-lt"/>
              <a:ea typeface="楷体" panose="02010609060101010101" charset="-122"/>
              <a:cs typeface="+mj-lt"/>
            </a:endParaRPr>
          </a:p>
          <a:p>
            <a:pPr marL="0" indent="701675" eaLnBrk="1">
              <a:lnSpc>
                <a:spcPct val="100000"/>
              </a:lnSpc>
              <a:spcBef>
                <a:spcPts val="0"/>
              </a:spcBef>
              <a:buNone/>
            </a:pPr>
            <a:r>
              <a:rPr lang="en-US" altLang="zh-CN">
                <a:latin typeface="+mj-lt"/>
                <a:ea typeface="楷体" panose="02010609060101010101" charset="-122"/>
                <a:cs typeface="+mj-lt"/>
              </a:rPr>
              <a:t>    a</a:t>
            </a:r>
            <a:endParaRPr lang="en-US" altLang="zh-CN">
              <a:latin typeface="+mj-lt"/>
              <a:ea typeface="楷体" panose="02010609060101010101" charset="-122"/>
              <a:cs typeface="+mj-lt"/>
            </a:endParaRPr>
          </a:p>
          <a:p>
            <a:pPr marL="0" indent="701675" eaLnBrk="1">
              <a:lnSpc>
                <a:spcPct val="100000"/>
              </a:lnSpc>
              <a:spcBef>
                <a:spcPts val="0"/>
              </a:spcBef>
              <a:buNone/>
            </a:pPr>
            <a:r>
              <a:rPr lang="zh-CN" altLang="en-US">
                <a:solidFill>
                  <a:srgbClr val="FF0000"/>
                </a:solidFill>
                <a:latin typeface="+mj-lt"/>
                <a:ea typeface="楷体" panose="02010609060101010101" charset="-122"/>
                <a:cs typeface="+mj-lt"/>
              </a:rPr>
              <a:t>报告的</a:t>
            </a:r>
            <a:r>
              <a:rPr lang="zh-CN" altLang="en-US">
                <a:solidFill>
                  <a:srgbClr val="FF0000"/>
                </a:solidFill>
                <a:latin typeface="+mj-lt"/>
                <a:ea typeface="楷体" panose="02010609060101010101" charset="-122"/>
                <a:cs typeface="+mj-lt"/>
                <a:sym typeface="+mn-ea"/>
              </a:rPr>
              <a:t>结构、内容、框架一目了然，便于检查、阅读</a:t>
            </a:r>
            <a:endParaRPr lang="zh-CN" altLang="en-US">
              <a:solidFill>
                <a:srgbClr val="FF0000"/>
              </a:solidFill>
              <a:latin typeface="+mj-lt"/>
              <a:ea typeface="楷体" panose="02010609060101010101" charset="-122"/>
              <a:cs typeface="+mj-lt"/>
              <a:sym typeface="+mn-ea"/>
            </a:endParaRPr>
          </a:p>
        </p:txBody>
      </p:sp>
    </p:spTree>
  </p:cSld>
  <p:clrMapOvr>
    <a:masterClrMapping/>
  </p:clrMapOvr>
  <p:transition>
    <p:pull dir="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标题 13313"/>
          <p:cNvSpPr>
            <a:spLocks noGrp="1" noRot="1"/>
          </p:cNvSpPr>
          <p:nvPr>
            <p:ph type="title"/>
          </p:nvPr>
        </p:nvSpPr>
        <p:spPr>
          <a:xfrm>
            <a:off x="2267585" y="203835"/>
            <a:ext cx="8540750" cy="925195"/>
          </a:xfrm>
        </p:spPr>
        <p:txBody>
          <a:bodyPr anchor="ctr"/>
          <a:p>
            <a:pPr marL="685800" indent="-685800" algn="ctr" eaLnBrk="0" fontAlgn="base" hangingPunct="0">
              <a:lnSpc>
                <a:spcPct val="100000"/>
              </a:lnSpc>
            </a:pPr>
            <a:r>
              <a:rPr lang="zh-CN" altLang="en-US" sz="3600" b="1" dirty="0">
                <a:solidFill>
                  <a:schemeClr val="hlink"/>
                </a:solidFill>
                <a:latin typeface="华文隶书" panose="02010800040101010101" charset="-122"/>
                <a:ea typeface="华文隶书" panose="02010800040101010101" charset="-122"/>
                <a:cs typeface="华文隶书" panose="02010800040101010101" charset="-122"/>
              </a:rPr>
              <a:t> 目  录</a:t>
            </a:r>
            <a:r>
              <a:rPr lang="zh-CN" altLang="en-US" sz="2800" b="1" dirty="0">
                <a:solidFill>
                  <a:srgbClr val="FF0000"/>
                </a:solidFill>
                <a:latin typeface="楷体" panose="02010609060101010101" charset="-122"/>
                <a:ea typeface="楷体" panose="02010609060101010101" charset="-122"/>
                <a:cs typeface="华文隶书" panose="02010800040101010101" charset="-122"/>
              </a:rPr>
              <a:t>（案例）</a:t>
            </a:r>
            <a:endParaRPr lang="zh-CN" altLang="en-US" sz="2800" b="1" dirty="0">
              <a:solidFill>
                <a:srgbClr val="FF0000"/>
              </a:solidFill>
              <a:latin typeface="楷体" panose="02010609060101010101" charset="-122"/>
              <a:ea typeface="楷体" panose="02010609060101010101" charset="-122"/>
              <a:cs typeface="华文隶书" panose="02010800040101010101" charset="-122"/>
            </a:endParaRPr>
          </a:p>
        </p:txBody>
      </p:sp>
      <p:sp>
        <p:nvSpPr>
          <p:cNvPr id="2" name="文本占位符 13314"/>
          <p:cNvSpPr>
            <a:spLocks noGrp="1" noRot="1"/>
          </p:cNvSpPr>
          <p:nvPr/>
        </p:nvSpPr>
        <p:spPr>
          <a:xfrm>
            <a:off x="6097905" y="1252220"/>
            <a:ext cx="5393690" cy="4944745"/>
          </a:xfrm>
          <a:prstGeom prst="rect">
            <a:avLst/>
          </a:prstGeom>
          <a:ln w="47625" cmpd="thickThin">
            <a:solidFill>
              <a:srgbClr val="C0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2000"/>
              </a:spcBef>
              <a:buNone/>
            </a:pPr>
            <a:endParaRPr lang="en-US" altLang="zh-CN" sz="1400">
              <a:latin typeface="华文楷体" panose="02010600040101010101" charset="-122"/>
              <a:ea typeface="华文楷体" panose="02010600040101010101" charset="-122"/>
              <a:cs typeface="华文楷体" panose="02010600040101010101" charset="-122"/>
            </a:endParaRPr>
          </a:p>
          <a:p>
            <a:pPr>
              <a:lnSpc>
                <a:spcPct val="100000"/>
              </a:lnSpc>
              <a:spcBef>
                <a:spcPts val="2000"/>
              </a:spcBef>
              <a:buNone/>
            </a:pPr>
            <a:r>
              <a:rPr lang="en-US" altLang="zh-CN" sz="1400">
                <a:latin typeface="华文楷体" panose="02010600040101010101" charset="-122"/>
                <a:ea typeface="华文楷体" panose="02010600040101010101" charset="-122"/>
                <a:cs typeface="华文楷体" panose="02010600040101010101" charset="-122"/>
              </a:rPr>
              <a:t>6</a:t>
            </a:r>
            <a:r>
              <a:rPr lang="zh-CN" altLang="en-US" sz="1400">
                <a:latin typeface="华文楷体" panose="02010600040101010101" charset="-122"/>
                <a:ea typeface="华文楷体" panose="02010600040101010101" charset="-122"/>
                <a:cs typeface="华文楷体" panose="02010600040101010101" charset="-122"/>
              </a:rPr>
              <a:t>．系统测试</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rPr>
              <a:t>………………………………………………21</a:t>
            </a:r>
            <a:endParaRPr lang="en-US" altLang="zh-CN" sz="1400">
              <a:latin typeface="华文楷体" panose="02010600040101010101" charset="-122"/>
              <a:ea typeface="华文楷体" panose="02010600040101010101" charset="-122"/>
              <a:cs typeface="华文楷体" panose="02010600040101010101" charset="-122"/>
            </a:endParaRPr>
          </a:p>
          <a:p>
            <a:pPr>
              <a:lnSpc>
                <a:spcPct val="100000"/>
              </a:lnSpc>
              <a:buNone/>
            </a:pPr>
            <a:r>
              <a:rPr lang="en-US" altLang="zh-CN" sz="1400">
                <a:latin typeface="华文楷体" panose="02010600040101010101" charset="-122"/>
                <a:ea typeface="华文楷体" panose="02010600040101010101" charset="-122"/>
                <a:cs typeface="华文楷体" panose="02010600040101010101" charset="-122"/>
              </a:rPr>
              <a:t>    6</a:t>
            </a:r>
            <a:r>
              <a:rPr lang="zh-CN" altLang="en-US" sz="1400">
                <a:latin typeface="华文楷体" panose="02010600040101010101" charset="-122"/>
                <a:ea typeface="华文楷体" panose="02010600040101010101" charset="-122"/>
                <a:cs typeface="华文楷体" panose="02010600040101010101" charset="-122"/>
              </a:rPr>
              <a:t>．</a:t>
            </a:r>
            <a:r>
              <a:rPr lang="en-US" altLang="zh-CN" sz="1400">
                <a:latin typeface="华文楷体" panose="02010600040101010101" charset="-122"/>
                <a:ea typeface="华文楷体" panose="02010600040101010101" charset="-122"/>
                <a:cs typeface="华文楷体" panose="02010600040101010101" charset="-122"/>
              </a:rPr>
              <a:t>1  </a:t>
            </a:r>
            <a:r>
              <a:rPr lang="zh-CN" altLang="en-US" sz="1400">
                <a:latin typeface="华文楷体" panose="02010600040101010101" charset="-122"/>
                <a:ea typeface="华文楷体" panose="02010600040101010101" charset="-122"/>
                <a:cs typeface="华文楷体" panose="02010600040101010101" charset="-122"/>
              </a:rPr>
              <a:t>测试方案</a:t>
            </a:r>
            <a:r>
              <a:rPr lang="en-US" altLang="zh-CN" sz="1400">
                <a:latin typeface="华文楷体" panose="02010600040101010101" charset="-122"/>
                <a:ea typeface="华文楷体" panose="02010600040101010101" charset="-122"/>
                <a:cs typeface="华文楷体" panose="02010600040101010101" charset="-122"/>
              </a:rPr>
              <a:t>……………………………………………21</a:t>
            </a:r>
            <a:endParaRPr lang="en-US" altLang="zh-CN" sz="1400">
              <a:latin typeface="华文楷体" panose="02010600040101010101" charset="-122"/>
              <a:ea typeface="华文楷体" panose="02010600040101010101" charset="-122"/>
              <a:cs typeface="华文楷体" panose="02010600040101010101" charset="-122"/>
            </a:endParaRPr>
          </a:p>
          <a:p>
            <a:pPr>
              <a:lnSpc>
                <a:spcPct val="100000"/>
              </a:lnSpc>
              <a:buNone/>
            </a:pPr>
            <a:r>
              <a:rPr lang="en-US" altLang="zh-CN" sz="1400">
                <a:latin typeface="华文楷体" panose="02010600040101010101" charset="-122"/>
                <a:ea typeface="华文楷体" panose="02010600040101010101" charset="-122"/>
                <a:cs typeface="华文楷体" panose="02010600040101010101" charset="-122"/>
              </a:rPr>
              <a:t>    6</a:t>
            </a:r>
            <a:r>
              <a:rPr lang="zh-CN" altLang="en-US" sz="1400">
                <a:latin typeface="华文楷体" panose="02010600040101010101" charset="-122"/>
                <a:ea typeface="华文楷体" panose="02010600040101010101" charset="-122"/>
                <a:cs typeface="华文楷体" panose="02010600040101010101" charset="-122"/>
              </a:rPr>
              <a:t>．</a:t>
            </a:r>
            <a:r>
              <a:rPr lang="en-US" altLang="zh-CN" sz="1400">
                <a:latin typeface="华文楷体" panose="02010600040101010101" charset="-122"/>
                <a:ea typeface="华文楷体" panose="02010600040101010101" charset="-122"/>
                <a:cs typeface="华文楷体" panose="02010600040101010101" charset="-122"/>
              </a:rPr>
              <a:t>2  </a:t>
            </a:r>
            <a:r>
              <a:rPr lang="zh-CN" altLang="en-US" sz="1400">
                <a:latin typeface="华文楷体" panose="02010600040101010101" charset="-122"/>
                <a:ea typeface="华文楷体" panose="02010600040101010101" charset="-122"/>
                <a:cs typeface="华文楷体" panose="02010600040101010101" charset="-122"/>
              </a:rPr>
              <a:t>测试使用的仪器</a:t>
            </a:r>
            <a:r>
              <a:rPr lang="en-US" altLang="zh-CN" sz="1400">
                <a:latin typeface="华文楷体" panose="02010600040101010101" charset="-122"/>
                <a:ea typeface="华文楷体" panose="02010600040101010101" charset="-122"/>
                <a:cs typeface="华文楷体" panose="02010600040101010101" charset="-122"/>
              </a:rPr>
              <a:t>……………………………………22</a:t>
            </a:r>
            <a:endParaRPr lang="en-US" altLang="zh-CN" sz="1400">
              <a:latin typeface="华文楷体" panose="02010600040101010101" charset="-122"/>
              <a:ea typeface="华文楷体" panose="02010600040101010101" charset="-122"/>
              <a:cs typeface="华文楷体" panose="02010600040101010101" charset="-122"/>
            </a:endParaRPr>
          </a:p>
          <a:p>
            <a:pPr>
              <a:lnSpc>
                <a:spcPct val="100000"/>
              </a:lnSpc>
              <a:buNone/>
            </a:pPr>
            <a:r>
              <a:rPr lang="en-US" altLang="zh-CN" sz="1400">
                <a:latin typeface="华文楷体" panose="02010600040101010101" charset="-122"/>
                <a:ea typeface="华文楷体" panose="02010600040101010101" charset="-122"/>
                <a:cs typeface="华文楷体" panose="02010600040101010101" charset="-122"/>
              </a:rPr>
              <a:t>    6</a:t>
            </a:r>
            <a:r>
              <a:rPr lang="zh-CN" altLang="en-US" sz="1400">
                <a:latin typeface="华文楷体" panose="02010600040101010101" charset="-122"/>
                <a:ea typeface="华文楷体" panose="02010600040101010101" charset="-122"/>
                <a:cs typeface="华文楷体" panose="02010600040101010101" charset="-122"/>
              </a:rPr>
              <a:t>．</a:t>
            </a:r>
            <a:r>
              <a:rPr lang="en-US" altLang="zh-CN" sz="1400">
                <a:latin typeface="华文楷体" panose="02010600040101010101" charset="-122"/>
                <a:ea typeface="华文楷体" panose="02010600040101010101" charset="-122"/>
                <a:cs typeface="华文楷体" panose="02010600040101010101" charset="-122"/>
              </a:rPr>
              <a:t>3  </a:t>
            </a:r>
            <a:r>
              <a:rPr lang="zh-CN" altLang="en-US" sz="1400">
                <a:latin typeface="华文楷体" panose="02010600040101010101" charset="-122"/>
                <a:ea typeface="华文楷体" panose="02010600040101010101" charset="-122"/>
                <a:cs typeface="华文楷体" panose="02010600040101010101" charset="-122"/>
              </a:rPr>
              <a:t>指标测试和测试结果</a:t>
            </a:r>
            <a:r>
              <a:rPr lang="en-US" altLang="zh-CN" sz="1400">
                <a:latin typeface="华文楷体" panose="02010600040101010101" charset="-122"/>
                <a:ea typeface="华文楷体" panose="02010600040101010101" charset="-122"/>
                <a:cs typeface="华文楷体" panose="02010600040101010101" charset="-122"/>
              </a:rPr>
              <a:t>………………………………23</a:t>
            </a:r>
            <a:endParaRPr lang="en-US" altLang="zh-CN" sz="1400">
              <a:latin typeface="华文楷体" panose="02010600040101010101" charset="-122"/>
              <a:ea typeface="华文楷体" panose="02010600040101010101" charset="-122"/>
              <a:cs typeface="华文楷体" panose="02010600040101010101" charset="-122"/>
            </a:endParaRPr>
          </a:p>
          <a:p>
            <a:pPr>
              <a:lnSpc>
                <a:spcPct val="100000"/>
              </a:lnSpc>
              <a:buNone/>
            </a:pPr>
            <a:r>
              <a:rPr lang="en-US" altLang="zh-CN" sz="1400">
                <a:latin typeface="华文楷体" panose="02010600040101010101" charset="-122"/>
                <a:ea typeface="华文楷体" panose="02010600040101010101" charset="-122"/>
                <a:cs typeface="华文楷体" panose="02010600040101010101" charset="-122"/>
              </a:rPr>
              <a:t>       6</a:t>
            </a:r>
            <a:r>
              <a:rPr lang="zh-CN" altLang="en-US" sz="1400">
                <a:latin typeface="华文楷体" panose="02010600040101010101" charset="-122"/>
                <a:ea typeface="华文楷体" panose="02010600040101010101" charset="-122"/>
                <a:cs typeface="华文楷体" panose="02010600040101010101" charset="-122"/>
              </a:rPr>
              <a:t>．</a:t>
            </a:r>
            <a:r>
              <a:rPr lang="en-US" altLang="zh-CN" sz="1400">
                <a:latin typeface="华文楷体" panose="02010600040101010101" charset="-122"/>
                <a:ea typeface="华文楷体" panose="02010600040101010101" charset="-122"/>
                <a:cs typeface="华文楷体" panose="02010600040101010101" charset="-122"/>
              </a:rPr>
              <a:t>3</a:t>
            </a:r>
            <a:r>
              <a:rPr lang="zh-CN" altLang="en-US" sz="1400">
                <a:latin typeface="华文楷体" panose="02010600040101010101" charset="-122"/>
                <a:ea typeface="华文楷体" panose="02010600040101010101" charset="-122"/>
                <a:cs typeface="华文楷体" panose="02010600040101010101" charset="-122"/>
              </a:rPr>
              <a:t>．</a:t>
            </a:r>
            <a:r>
              <a:rPr lang="en-US" altLang="zh-CN" sz="1400">
                <a:latin typeface="华文楷体" panose="02010600040101010101" charset="-122"/>
                <a:ea typeface="华文楷体" panose="02010600040101010101" charset="-122"/>
                <a:cs typeface="华文楷体" panose="02010600040101010101" charset="-122"/>
              </a:rPr>
              <a:t>1  </a:t>
            </a:r>
            <a:r>
              <a:rPr lang="zh-CN" altLang="en-US" sz="1400">
                <a:latin typeface="华文楷体" panose="02010600040101010101" charset="-122"/>
                <a:ea typeface="华文楷体" panose="02010600040101010101" charset="-122"/>
                <a:cs typeface="华文楷体" panose="02010600040101010101" charset="-122"/>
              </a:rPr>
              <a:t>发射部分的指标测试和测试结果</a:t>
            </a:r>
            <a:r>
              <a:rPr lang="en-US" altLang="zh-CN" sz="1400">
                <a:latin typeface="华文楷体" panose="02010600040101010101" charset="-122"/>
                <a:ea typeface="华文楷体" panose="02010600040101010101" charset="-122"/>
                <a:cs typeface="华文楷体" panose="02010600040101010101" charset="-122"/>
              </a:rPr>
              <a:t>……………23</a:t>
            </a:r>
            <a:endParaRPr lang="en-US" altLang="zh-CN" sz="1400">
              <a:latin typeface="华文楷体" panose="02010600040101010101" charset="-122"/>
              <a:ea typeface="华文楷体" panose="02010600040101010101" charset="-122"/>
              <a:cs typeface="华文楷体" panose="02010600040101010101" charset="-122"/>
            </a:endParaRPr>
          </a:p>
          <a:p>
            <a:pPr>
              <a:lnSpc>
                <a:spcPct val="100000"/>
              </a:lnSpc>
              <a:buNone/>
            </a:pPr>
            <a:r>
              <a:rPr lang="en-US" altLang="zh-CN" sz="1400">
                <a:latin typeface="华文楷体" panose="02010600040101010101" charset="-122"/>
                <a:ea typeface="华文楷体" panose="02010600040101010101" charset="-122"/>
                <a:cs typeface="华文楷体" panose="02010600040101010101" charset="-122"/>
              </a:rPr>
              <a:t>       6</a:t>
            </a:r>
            <a:r>
              <a:rPr lang="zh-CN" altLang="en-US" sz="1400">
                <a:latin typeface="华文楷体" panose="02010600040101010101" charset="-122"/>
                <a:ea typeface="华文楷体" panose="02010600040101010101" charset="-122"/>
                <a:cs typeface="华文楷体" panose="02010600040101010101" charset="-122"/>
              </a:rPr>
              <a:t>．</a:t>
            </a:r>
            <a:r>
              <a:rPr lang="en-US" altLang="zh-CN" sz="1400">
                <a:latin typeface="华文楷体" panose="02010600040101010101" charset="-122"/>
                <a:ea typeface="华文楷体" panose="02010600040101010101" charset="-122"/>
                <a:cs typeface="华文楷体" panose="02010600040101010101" charset="-122"/>
              </a:rPr>
              <a:t>3</a:t>
            </a:r>
            <a:r>
              <a:rPr lang="zh-CN" altLang="en-US" sz="1400">
                <a:latin typeface="华文楷体" panose="02010600040101010101" charset="-122"/>
                <a:ea typeface="华文楷体" panose="02010600040101010101" charset="-122"/>
                <a:cs typeface="华文楷体" panose="02010600040101010101" charset="-122"/>
              </a:rPr>
              <a:t>．</a:t>
            </a:r>
            <a:r>
              <a:rPr lang="en-US" altLang="zh-CN" sz="1400">
                <a:latin typeface="华文楷体" panose="02010600040101010101" charset="-122"/>
                <a:ea typeface="华文楷体" panose="02010600040101010101" charset="-122"/>
                <a:cs typeface="华文楷体" panose="02010600040101010101" charset="-122"/>
              </a:rPr>
              <a:t>2  </a:t>
            </a:r>
            <a:r>
              <a:rPr lang="zh-CN" altLang="en-US" sz="1400">
                <a:latin typeface="华文楷体" panose="02010600040101010101" charset="-122"/>
                <a:ea typeface="华文楷体" panose="02010600040101010101" charset="-122"/>
                <a:cs typeface="华文楷体" panose="02010600040101010101" charset="-122"/>
              </a:rPr>
              <a:t>接收部分的指标测试和测试结果</a:t>
            </a:r>
            <a:r>
              <a:rPr lang="en-US" altLang="zh-CN" sz="1400">
                <a:latin typeface="华文楷体" panose="02010600040101010101" charset="-122"/>
                <a:ea typeface="华文楷体" panose="02010600040101010101" charset="-122"/>
                <a:cs typeface="华文楷体" panose="02010600040101010101" charset="-122"/>
              </a:rPr>
              <a:t>……………28</a:t>
            </a:r>
            <a:endParaRPr lang="en-US" altLang="zh-CN" sz="1400">
              <a:latin typeface="华文楷体" panose="02010600040101010101" charset="-122"/>
              <a:ea typeface="华文楷体" panose="02010600040101010101" charset="-122"/>
              <a:cs typeface="华文楷体" panose="02010600040101010101" charset="-122"/>
            </a:endParaRPr>
          </a:p>
          <a:p>
            <a:pPr>
              <a:lnSpc>
                <a:spcPct val="100000"/>
              </a:lnSpc>
              <a:buNone/>
            </a:pPr>
            <a:r>
              <a:rPr lang="en-US" altLang="zh-CN" sz="1400">
                <a:latin typeface="华文楷体" panose="02010600040101010101" charset="-122"/>
                <a:ea typeface="华文楷体" panose="02010600040101010101" charset="-122"/>
                <a:cs typeface="华文楷体" panose="02010600040101010101" charset="-122"/>
              </a:rPr>
              <a:t>    6</a:t>
            </a:r>
            <a:r>
              <a:rPr lang="zh-CN" altLang="en-US" sz="1400">
                <a:latin typeface="华文楷体" panose="02010600040101010101" charset="-122"/>
                <a:ea typeface="华文楷体" panose="02010600040101010101" charset="-122"/>
                <a:cs typeface="华文楷体" panose="02010600040101010101" charset="-122"/>
              </a:rPr>
              <a:t>．</a:t>
            </a:r>
            <a:r>
              <a:rPr lang="en-US" altLang="zh-CN" sz="1400">
                <a:latin typeface="华文楷体" panose="02010600040101010101" charset="-122"/>
                <a:ea typeface="华文楷体" panose="02010600040101010101" charset="-122"/>
                <a:cs typeface="华文楷体" panose="02010600040101010101" charset="-122"/>
              </a:rPr>
              <a:t>4  </a:t>
            </a:r>
            <a:r>
              <a:rPr lang="zh-CN" altLang="en-US" sz="1400">
                <a:latin typeface="华文楷体" panose="02010600040101010101" charset="-122"/>
                <a:ea typeface="华文楷体" panose="02010600040101010101" charset="-122"/>
                <a:cs typeface="华文楷体" panose="02010600040101010101" charset="-122"/>
              </a:rPr>
              <a:t>结果分析</a:t>
            </a:r>
            <a:r>
              <a:rPr lang="en-US" altLang="zh-CN" sz="1400">
                <a:latin typeface="华文楷体" panose="02010600040101010101" charset="-122"/>
                <a:ea typeface="华文楷体" panose="02010600040101010101" charset="-122"/>
                <a:cs typeface="华文楷体" panose="02010600040101010101" charset="-122"/>
              </a:rPr>
              <a:t>…………………………………</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rPr>
              <a:t>3l</a:t>
            </a:r>
            <a:endParaRPr lang="en-US" altLang="zh-CN" sz="1400">
              <a:latin typeface="华文楷体" panose="02010600040101010101" charset="-122"/>
              <a:ea typeface="华文楷体" panose="02010600040101010101" charset="-122"/>
              <a:cs typeface="华文楷体" panose="02010600040101010101" charset="-122"/>
            </a:endParaRPr>
          </a:p>
          <a:p>
            <a:pPr>
              <a:lnSpc>
                <a:spcPct val="100000"/>
              </a:lnSpc>
              <a:buNone/>
            </a:pPr>
            <a:r>
              <a:rPr lang="en-US" altLang="zh-CN" sz="1400">
                <a:latin typeface="华文楷体" panose="02010600040101010101" charset="-122"/>
                <a:ea typeface="华文楷体" panose="02010600040101010101" charset="-122"/>
                <a:cs typeface="华文楷体" panose="02010600040101010101" charset="-122"/>
              </a:rPr>
              <a:t> 7</a:t>
            </a:r>
            <a:r>
              <a:rPr lang="zh-CN" altLang="en-US" sz="1400">
                <a:latin typeface="华文楷体" panose="02010600040101010101" charset="-122"/>
                <a:ea typeface="华文楷体" panose="02010600040101010101" charset="-122"/>
                <a:cs typeface="华文楷体" panose="02010600040101010101" charset="-122"/>
              </a:rPr>
              <a:t>．结论</a:t>
            </a:r>
            <a:r>
              <a:rPr lang="en-US" altLang="zh-CN" sz="1400">
                <a:latin typeface="华文楷体" panose="02010600040101010101" charset="-122"/>
                <a:ea typeface="华文楷体" panose="02010600040101010101" charset="-122"/>
                <a:cs typeface="华文楷体" panose="02010600040101010101" charset="-122"/>
              </a:rPr>
              <a:t>………………………………………………………3l</a:t>
            </a:r>
            <a:endParaRPr lang="en-US" altLang="zh-CN" sz="1400">
              <a:latin typeface="华文楷体" panose="02010600040101010101" charset="-122"/>
              <a:ea typeface="华文楷体" panose="02010600040101010101" charset="-122"/>
              <a:cs typeface="华文楷体" panose="02010600040101010101" charset="-122"/>
            </a:endParaRPr>
          </a:p>
          <a:p>
            <a:pPr>
              <a:lnSpc>
                <a:spcPct val="100000"/>
              </a:lnSpc>
              <a:buNone/>
            </a:pPr>
            <a:r>
              <a:rPr lang="en-US" altLang="zh-CN" sz="1400">
                <a:latin typeface="华文楷体" panose="02010600040101010101" charset="-122"/>
                <a:ea typeface="华文楷体" panose="02010600040101010101" charset="-122"/>
                <a:cs typeface="华文楷体" panose="02010600040101010101" charset="-122"/>
              </a:rPr>
              <a:t> </a:t>
            </a:r>
            <a:r>
              <a:rPr lang="zh-CN" altLang="en-US" sz="1400">
                <a:latin typeface="华文楷体" panose="02010600040101010101" charset="-122"/>
                <a:ea typeface="华文楷体" panose="02010600040101010101" charset="-122"/>
                <a:cs typeface="华文楷体" panose="02010600040101010101" charset="-122"/>
              </a:rPr>
              <a:t>参考文献 </a:t>
            </a:r>
            <a:r>
              <a:rPr lang="en-US" altLang="zh-CN" sz="1400">
                <a:latin typeface="华文楷体" panose="02010600040101010101" charset="-122"/>
                <a:ea typeface="华文楷体" panose="02010600040101010101" charset="-122"/>
                <a:cs typeface="华文楷体" panose="02010600040101010101" charset="-122"/>
              </a:rPr>
              <a:t>……………………………………………………32</a:t>
            </a:r>
            <a:endParaRPr lang="en-US" altLang="zh-CN" sz="1400">
              <a:latin typeface="华文楷体" panose="02010600040101010101" charset="-122"/>
              <a:ea typeface="华文楷体" panose="02010600040101010101" charset="-122"/>
              <a:cs typeface="华文楷体" panose="02010600040101010101" charset="-122"/>
            </a:endParaRPr>
          </a:p>
          <a:p>
            <a:pPr>
              <a:lnSpc>
                <a:spcPct val="100000"/>
              </a:lnSpc>
              <a:buNone/>
            </a:pPr>
            <a:r>
              <a:rPr lang="en-US" altLang="zh-CN" sz="1400">
                <a:latin typeface="华文楷体" panose="02010600040101010101" charset="-122"/>
                <a:ea typeface="华文楷体" panose="02010600040101010101" charset="-122"/>
                <a:cs typeface="华文楷体" panose="02010600040101010101" charset="-122"/>
              </a:rPr>
              <a:t> </a:t>
            </a:r>
            <a:r>
              <a:rPr lang="zh-CN" altLang="en-US" sz="1400">
                <a:latin typeface="华文楷体" panose="02010600040101010101" charset="-122"/>
                <a:ea typeface="华文楷体" panose="02010600040101010101" charset="-122"/>
                <a:cs typeface="华文楷体" panose="02010600040101010101" charset="-122"/>
              </a:rPr>
              <a:t>附录</a:t>
            </a:r>
            <a:r>
              <a:rPr lang="en-US" altLang="zh-CN" sz="1400">
                <a:latin typeface="华文楷体" panose="02010600040101010101" charset="-122"/>
                <a:ea typeface="华文楷体" panose="02010600040101010101" charset="-122"/>
                <a:cs typeface="华文楷体" panose="02010600040101010101" charset="-122"/>
              </a:rPr>
              <a:t>1  </a:t>
            </a:r>
            <a:r>
              <a:rPr lang="zh-CN" altLang="en-US" sz="1400">
                <a:latin typeface="华文楷体" panose="02010600040101010101" charset="-122"/>
                <a:ea typeface="华文楷体" panose="02010600040101010101" charset="-122"/>
                <a:cs typeface="华文楷体" panose="02010600040101010101" charset="-122"/>
              </a:rPr>
              <a:t>使用说明</a:t>
            </a:r>
            <a:r>
              <a:rPr lang="en-US" altLang="zh-CN" sz="1400">
                <a:latin typeface="华文楷体" panose="02010600040101010101" charset="-122"/>
                <a:ea typeface="华文楷体" panose="02010600040101010101" charset="-122"/>
                <a:cs typeface="华文楷体" panose="02010600040101010101" charset="-122"/>
              </a:rPr>
              <a:t>……………………………………………33</a:t>
            </a:r>
            <a:endParaRPr lang="en-US" altLang="zh-CN" sz="1400">
              <a:latin typeface="华文楷体" panose="02010600040101010101" charset="-122"/>
              <a:ea typeface="华文楷体" panose="02010600040101010101" charset="-122"/>
              <a:cs typeface="华文楷体" panose="02010600040101010101" charset="-122"/>
            </a:endParaRPr>
          </a:p>
          <a:p>
            <a:pPr>
              <a:lnSpc>
                <a:spcPct val="100000"/>
              </a:lnSpc>
              <a:buNone/>
            </a:pPr>
            <a:r>
              <a:rPr lang="en-US" altLang="zh-CN" sz="1400">
                <a:latin typeface="华文楷体" panose="02010600040101010101" charset="-122"/>
                <a:ea typeface="华文楷体" panose="02010600040101010101" charset="-122"/>
                <a:cs typeface="华文楷体" panose="02010600040101010101" charset="-122"/>
              </a:rPr>
              <a:t> </a:t>
            </a:r>
            <a:r>
              <a:rPr lang="zh-CN" altLang="en-US" sz="1400">
                <a:latin typeface="华文楷体" panose="02010600040101010101" charset="-122"/>
                <a:ea typeface="华文楷体" panose="02010600040101010101" charset="-122"/>
                <a:cs typeface="华文楷体" panose="02010600040101010101" charset="-122"/>
              </a:rPr>
              <a:t>附录</a:t>
            </a:r>
            <a:r>
              <a:rPr lang="en-US" altLang="zh-CN" sz="1400">
                <a:latin typeface="华文楷体" panose="02010600040101010101" charset="-122"/>
                <a:ea typeface="华文楷体" panose="02010600040101010101" charset="-122"/>
                <a:cs typeface="华文楷体" panose="02010600040101010101" charset="-122"/>
              </a:rPr>
              <a:t>2  </a:t>
            </a:r>
            <a:r>
              <a:rPr lang="zh-CN" altLang="en-US" sz="1400">
                <a:latin typeface="华文楷体" panose="02010600040101010101" charset="-122"/>
                <a:ea typeface="华文楷体" panose="02010600040101010101" charset="-122"/>
                <a:cs typeface="华文楷体" panose="02010600040101010101" charset="-122"/>
              </a:rPr>
              <a:t>主要元器件清单</a:t>
            </a:r>
            <a:r>
              <a:rPr lang="en-US" altLang="zh-CN" sz="1400">
                <a:latin typeface="华文楷体" panose="02010600040101010101" charset="-122"/>
                <a:ea typeface="华文楷体" panose="02010600040101010101" charset="-122"/>
                <a:cs typeface="华文楷体" panose="02010600040101010101" charset="-122"/>
              </a:rPr>
              <a:t>……………………………………33</a:t>
            </a:r>
            <a:endParaRPr lang="en-US" altLang="zh-CN" sz="1400">
              <a:latin typeface="华文楷体" panose="02010600040101010101" charset="-122"/>
              <a:ea typeface="华文楷体" panose="02010600040101010101" charset="-122"/>
              <a:cs typeface="华文楷体" panose="02010600040101010101" charset="-122"/>
            </a:endParaRPr>
          </a:p>
          <a:p>
            <a:pPr>
              <a:lnSpc>
                <a:spcPct val="100000"/>
              </a:lnSpc>
              <a:buNone/>
            </a:pPr>
            <a:r>
              <a:rPr lang="en-US" altLang="zh-CN" sz="1400">
                <a:latin typeface="华文楷体" panose="02010600040101010101" charset="-122"/>
                <a:ea typeface="华文楷体" panose="02010600040101010101" charset="-122"/>
                <a:cs typeface="华文楷体" panose="02010600040101010101" charset="-122"/>
              </a:rPr>
              <a:t> </a:t>
            </a:r>
            <a:r>
              <a:rPr lang="zh-CN" altLang="en-US" sz="1400">
                <a:latin typeface="华文楷体" panose="02010600040101010101" charset="-122"/>
                <a:ea typeface="华文楷体" panose="02010600040101010101" charset="-122"/>
                <a:cs typeface="华文楷体" panose="02010600040101010101" charset="-122"/>
              </a:rPr>
              <a:t>附录</a:t>
            </a:r>
            <a:r>
              <a:rPr lang="en-US" altLang="zh-CN" sz="1400">
                <a:latin typeface="华文楷体" panose="02010600040101010101" charset="-122"/>
                <a:ea typeface="华文楷体" panose="02010600040101010101" charset="-122"/>
                <a:cs typeface="华文楷体" panose="02010600040101010101" charset="-122"/>
              </a:rPr>
              <a:t>3  </a:t>
            </a:r>
            <a:r>
              <a:rPr lang="zh-CN" altLang="en-US" sz="1400">
                <a:latin typeface="华文楷体" panose="02010600040101010101" charset="-122"/>
                <a:ea typeface="华文楷体" panose="02010600040101010101" charset="-122"/>
                <a:cs typeface="华文楷体" panose="02010600040101010101" charset="-122"/>
              </a:rPr>
              <a:t>电路原理图及印制板图</a:t>
            </a:r>
            <a:r>
              <a:rPr lang="en-US" altLang="zh-CN" sz="1400">
                <a:latin typeface="华文楷体" panose="02010600040101010101" charset="-122"/>
                <a:ea typeface="华文楷体" panose="02010600040101010101" charset="-122"/>
                <a:cs typeface="华文楷体" panose="02010600040101010101" charset="-122"/>
              </a:rPr>
              <a:t>………………</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rPr>
              <a:t>……</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rPr>
              <a:t>…34</a:t>
            </a:r>
            <a:endParaRPr lang="en-US" altLang="zh-CN" sz="1400">
              <a:latin typeface="华文楷体" panose="02010600040101010101" charset="-122"/>
              <a:ea typeface="华文楷体" panose="02010600040101010101" charset="-122"/>
              <a:cs typeface="华文楷体" panose="02010600040101010101" charset="-122"/>
            </a:endParaRPr>
          </a:p>
          <a:p>
            <a:pPr>
              <a:lnSpc>
                <a:spcPct val="100000"/>
              </a:lnSpc>
              <a:buNone/>
            </a:pPr>
            <a:r>
              <a:rPr lang="en-US" altLang="zh-CN" sz="1400">
                <a:latin typeface="华文楷体" panose="02010600040101010101" charset="-122"/>
                <a:ea typeface="华文楷体" panose="02010600040101010101" charset="-122"/>
                <a:cs typeface="华文楷体" panose="02010600040101010101" charset="-122"/>
              </a:rPr>
              <a:t> </a:t>
            </a:r>
            <a:r>
              <a:rPr lang="zh-CN" altLang="en-US" sz="1400">
                <a:latin typeface="华文楷体" panose="02010600040101010101" charset="-122"/>
                <a:ea typeface="华文楷体" panose="02010600040101010101" charset="-122"/>
                <a:cs typeface="华文楷体" panose="02010600040101010101" charset="-122"/>
              </a:rPr>
              <a:t>附录</a:t>
            </a:r>
            <a:r>
              <a:rPr lang="en-US" altLang="zh-CN" sz="1400">
                <a:latin typeface="华文楷体" panose="02010600040101010101" charset="-122"/>
                <a:ea typeface="华文楷体" panose="02010600040101010101" charset="-122"/>
                <a:cs typeface="华文楷体" panose="02010600040101010101" charset="-122"/>
              </a:rPr>
              <a:t>4  </a:t>
            </a:r>
            <a:r>
              <a:rPr lang="zh-CN" altLang="en-US" sz="1400">
                <a:latin typeface="华文楷体" panose="02010600040101010101" charset="-122"/>
                <a:ea typeface="华文楷体" panose="02010600040101010101" charset="-122"/>
                <a:cs typeface="华文楷体" panose="02010600040101010101" charset="-122"/>
              </a:rPr>
              <a:t>程序清单</a:t>
            </a:r>
            <a:r>
              <a:rPr lang="en-US" altLang="zh-CN" sz="1400">
                <a:latin typeface="华文楷体" panose="02010600040101010101" charset="-122"/>
                <a:ea typeface="华文楷体" panose="02010600040101010101" charset="-122"/>
                <a:cs typeface="华文楷体" panose="02010600040101010101" charset="-122"/>
              </a:rPr>
              <a:t>………………………………………</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rPr>
              <a:t>…41</a:t>
            </a:r>
            <a:endParaRPr lang="en-US" altLang="zh-CN" sz="1400">
              <a:latin typeface="华文楷体" panose="02010600040101010101" charset="-122"/>
              <a:ea typeface="华文楷体" panose="02010600040101010101" charset="-122"/>
              <a:cs typeface="华文楷体" panose="02010600040101010101" charset="-122"/>
            </a:endParaRPr>
          </a:p>
        </p:txBody>
      </p:sp>
      <p:sp>
        <p:nvSpPr>
          <p:cNvPr id="3" name="文本占位符 13314"/>
          <p:cNvSpPr>
            <a:spLocks noGrp="1" noRot="1"/>
          </p:cNvSpPr>
          <p:nvPr/>
        </p:nvSpPr>
        <p:spPr>
          <a:xfrm>
            <a:off x="678180" y="1252220"/>
            <a:ext cx="4867275" cy="4944745"/>
          </a:xfrm>
          <a:prstGeom prst="rect">
            <a:avLst/>
          </a:prstGeom>
          <a:ln w="47625" cmpd="thickThin">
            <a:solidFill>
              <a:srgbClr val="C00000"/>
            </a:solidFill>
          </a:ln>
        </p:spPr>
        <p:txBody>
          <a:bodyPr vert="horz" lIns="91440" tIns="45720" rIns="91440" bIns="45720" rtlCol="0">
            <a:normAutofit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80000"/>
              </a:lnSpc>
              <a:buNone/>
            </a:pPr>
            <a:endParaRPr lang="zh-CN" altLang="en-US" sz="1400">
              <a:solidFill>
                <a:srgbClr val="FF0000"/>
              </a:solidFill>
              <a:latin typeface="华文楷体" panose="02010600040101010101" charset="-122"/>
              <a:ea typeface="华文楷体" panose="02010600040101010101" charset="-122"/>
              <a:cs typeface="华文楷体" panose="02010600040101010101" charset="-122"/>
              <a:sym typeface="+mn-ea"/>
            </a:endParaRPr>
          </a:p>
          <a:p>
            <a:pPr algn="ctr">
              <a:lnSpc>
                <a:spcPct val="80000"/>
              </a:lnSpc>
              <a:buNone/>
            </a:pPr>
            <a:r>
              <a:rPr lang="zh-CN" altLang="en-US" sz="1400">
                <a:solidFill>
                  <a:srgbClr val="FF0000"/>
                </a:solidFill>
                <a:latin typeface="华文楷体" panose="02010600040101010101" charset="-122"/>
                <a:ea typeface="华文楷体" panose="02010600040101010101" charset="-122"/>
                <a:cs typeface="华文楷体" panose="02010600040101010101" charset="-122"/>
                <a:sym typeface="+mn-ea"/>
              </a:rPr>
              <a:t>目    录</a:t>
            </a:r>
            <a:endParaRPr lang="zh-CN" altLang="en-US" sz="1400" b="1">
              <a:latin typeface="华文楷体" panose="02010600040101010101" charset="-122"/>
              <a:ea typeface="华文楷体" panose="02010600040101010101" charset="-122"/>
              <a:cs typeface="华文楷体" panose="02010600040101010101" charset="-122"/>
            </a:endParaRPr>
          </a:p>
          <a:p>
            <a:pPr>
              <a:lnSpc>
                <a:spcPct val="80000"/>
              </a:lnSpc>
              <a:buNone/>
            </a:pPr>
            <a:r>
              <a:rPr lang="en-US" altLang="zh-CN" sz="1400">
                <a:latin typeface="华文楷体" panose="02010600040101010101" charset="-122"/>
                <a:ea typeface="华文楷体" panose="02010600040101010101" charset="-122"/>
                <a:cs typeface="华文楷体" panose="02010600040101010101" charset="-122"/>
                <a:sym typeface="+mn-ea"/>
              </a:rPr>
              <a:t>1</a:t>
            </a:r>
            <a:r>
              <a:rPr lang="zh-CN" altLang="en-US" sz="1400">
                <a:latin typeface="华文楷体" panose="02010600040101010101" charset="-122"/>
                <a:ea typeface="华文楷体" panose="02010600040101010101" charset="-122"/>
                <a:cs typeface="华文楷体" panose="02010600040101010101" charset="-122"/>
                <a:sym typeface="+mn-ea"/>
              </a:rPr>
              <a:t>．设计任务与要求</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……3</a:t>
            </a:r>
            <a:endParaRPr lang="en-US" altLang="zh-CN" sz="1400" b="1">
              <a:latin typeface="华文楷体" panose="02010600040101010101" charset="-122"/>
              <a:ea typeface="华文楷体" panose="02010600040101010101" charset="-122"/>
              <a:cs typeface="华文楷体" panose="02010600040101010101" charset="-122"/>
            </a:endParaRPr>
          </a:p>
          <a:p>
            <a:pPr>
              <a:lnSpc>
                <a:spcPct val="80000"/>
              </a:lnSpc>
              <a:buNone/>
            </a:pPr>
            <a:r>
              <a:rPr lang="en-US" altLang="zh-CN" sz="1400">
                <a:latin typeface="华文楷体" panose="02010600040101010101" charset="-122"/>
                <a:ea typeface="华文楷体" panose="02010600040101010101" charset="-122"/>
                <a:cs typeface="华文楷体" panose="02010600040101010101" charset="-122"/>
                <a:sym typeface="+mn-ea"/>
              </a:rPr>
              <a:t>    1</a:t>
            </a:r>
            <a:r>
              <a:rPr lang="zh-CN" altLang="en-US"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1  </a:t>
            </a:r>
            <a:r>
              <a:rPr lang="zh-CN" altLang="en-US" sz="1400">
                <a:latin typeface="华文楷体" panose="02010600040101010101" charset="-122"/>
                <a:ea typeface="华文楷体" panose="02010600040101010101" charset="-122"/>
                <a:cs typeface="华文楷体" panose="02010600040101010101" charset="-122"/>
                <a:sym typeface="+mn-ea"/>
              </a:rPr>
              <a:t>设计任务</a:t>
            </a:r>
            <a:r>
              <a:rPr lang="en-US" altLang="zh-CN" sz="1400">
                <a:latin typeface="华文楷体" panose="02010600040101010101" charset="-122"/>
                <a:ea typeface="华文楷体" panose="02010600040101010101" charset="-122"/>
                <a:cs typeface="华文楷体" panose="02010600040101010101" charset="-122"/>
                <a:sym typeface="+mn-ea"/>
              </a:rPr>
              <a:t>……………………………………3</a:t>
            </a:r>
            <a:endParaRPr lang="en-US" altLang="zh-CN" sz="1400" b="1">
              <a:latin typeface="华文楷体" panose="02010600040101010101" charset="-122"/>
              <a:ea typeface="华文楷体" panose="02010600040101010101" charset="-122"/>
              <a:cs typeface="华文楷体" panose="02010600040101010101" charset="-122"/>
            </a:endParaRPr>
          </a:p>
          <a:p>
            <a:pPr>
              <a:lnSpc>
                <a:spcPct val="80000"/>
              </a:lnSpc>
              <a:buNone/>
            </a:pPr>
            <a:r>
              <a:rPr lang="en-US" altLang="zh-CN" sz="1400">
                <a:latin typeface="华文楷体" panose="02010600040101010101" charset="-122"/>
                <a:ea typeface="华文楷体" panose="02010600040101010101" charset="-122"/>
                <a:cs typeface="华文楷体" panose="02010600040101010101" charset="-122"/>
                <a:sym typeface="+mn-ea"/>
              </a:rPr>
              <a:t>    1</a:t>
            </a:r>
            <a:r>
              <a:rPr lang="zh-CN" altLang="en-US"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2  </a:t>
            </a:r>
            <a:r>
              <a:rPr lang="zh-CN" altLang="en-US" sz="1400">
                <a:latin typeface="华文楷体" panose="02010600040101010101" charset="-122"/>
                <a:ea typeface="华文楷体" panose="02010600040101010101" charset="-122"/>
                <a:cs typeface="华文楷体" panose="02010600040101010101" charset="-122"/>
                <a:sym typeface="+mn-ea"/>
              </a:rPr>
              <a:t>技术指标</a:t>
            </a:r>
            <a:r>
              <a:rPr lang="en-US" altLang="zh-CN" sz="1400">
                <a:latin typeface="华文楷体" panose="02010600040101010101" charset="-122"/>
                <a:ea typeface="华文楷体" panose="02010600040101010101" charset="-122"/>
                <a:cs typeface="华文楷体" panose="02010600040101010101" charset="-122"/>
                <a:sym typeface="+mn-ea"/>
              </a:rPr>
              <a:t>……………………………………4</a:t>
            </a:r>
            <a:endParaRPr lang="en-US" altLang="zh-CN" sz="1400" b="1">
              <a:latin typeface="华文楷体" panose="02010600040101010101" charset="-122"/>
              <a:ea typeface="华文楷体" panose="02010600040101010101" charset="-122"/>
              <a:cs typeface="华文楷体" panose="02010600040101010101" charset="-122"/>
            </a:endParaRPr>
          </a:p>
          <a:p>
            <a:pPr>
              <a:lnSpc>
                <a:spcPct val="80000"/>
              </a:lnSpc>
              <a:buNone/>
            </a:pPr>
            <a:r>
              <a:rPr lang="en-US" altLang="zh-CN" sz="1400">
                <a:latin typeface="华文楷体" panose="02010600040101010101" charset="-122"/>
                <a:ea typeface="华文楷体" panose="02010600040101010101" charset="-122"/>
                <a:cs typeface="华文楷体" panose="02010600040101010101" charset="-122"/>
                <a:sym typeface="+mn-ea"/>
              </a:rPr>
              <a:t>    1</a:t>
            </a:r>
            <a:r>
              <a:rPr lang="zh-CN" altLang="en-US"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3  </a:t>
            </a:r>
            <a:r>
              <a:rPr lang="zh-CN" altLang="en-US" sz="1400">
                <a:latin typeface="华文楷体" panose="02010600040101010101" charset="-122"/>
                <a:ea typeface="华文楷体" panose="02010600040101010101" charset="-122"/>
                <a:cs typeface="华文楷体" panose="02010600040101010101" charset="-122"/>
                <a:sym typeface="+mn-ea"/>
              </a:rPr>
              <a:t>题目评析</a:t>
            </a:r>
            <a:r>
              <a:rPr lang="en-US" altLang="zh-CN" sz="1400">
                <a:latin typeface="华文楷体" panose="02010600040101010101" charset="-122"/>
                <a:ea typeface="华文楷体" panose="02010600040101010101" charset="-122"/>
                <a:cs typeface="华文楷体" panose="02010600040101010101" charset="-122"/>
                <a:sym typeface="+mn-ea"/>
              </a:rPr>
              <a:t>……………………………………5</a:t>
            </a:r>
            <a:endParaRPr lang="en-US" altLang="zh-CN" sz="1400" b="1">
              <a:latin typeface="华文楷体" panose="02010600040101010101" charset="-122"/>
              <a:ea typeface="华文楷体" panose="02010600040101010101" charset="-122"/>
              <a:cs typeface="华文楷体" panose="02010600040101010101" charset="-122"/>
            </a:endParaRPr>
          </a:p>
          <a:p>
            <a:pPr>
              <a:lnSpc>
                <a:spcPct val="80000"/>
              </a:lnSpc>
              <a:buNone/>
            </a:pPr>
            <a:r>
              <a:rPr lang="en-US" altLang="zh-CN" sz="1400">
                <a:latin typeface="华文楷体" panose="02010600040101010101" charset="-122"/>
                <a:ea typeface="华文楷体" panose="02010600040101010101" charset="-122"/>
                <a:cs typeface="华文楷体" panose="02010600040101010101" charset="-122"/>
                <a:sym typeface="+mn-ea"/>
              </a:rPr>
              <a:t>2</a:t>
            </a:r>
            <a:r>
              <a:rPr lang="zh-CN" altLang="en-US" sz="1400">
                <a:latin typeface="华文楷体" panose="02010600040101010101" charset="-122"/>
                <a:ea typeface="华文楷体" panose="02010600040101010101" charset="-122"/>
                <a:cs typeface="华文楷体" panose="02010600040101010101" charset="-122"/>
                <a:sym typeface="+mn-ea"/>
              </a:rPr>
              <a:t>．方案比较与论证</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…………6</a:t>
            </a:r>
            <a:endParaRPr lang="en-US" altLang="zh-CN" sz="1400" b="1">
              <a:latin typeface="华文楷体" panose="02010600040101010101" charset="-122"/>
              <a:ea typeface="华文楷体" panose="02010600040101010101" charset="-122"/>
              <a:cs typeface="华文楷体" panose="02010600040101010101" charset="-122"/>
            </a:endParaRPr>
          </a:p>
          <a:p>
            <a:pPr>
              <a:lnSpc>
                <a:spcPct val="80000"/>
              </a:lnSpc>
              <a:buNone/>
            </a:pPr>
            <a:r>
              <a:rPr lang="en-US" altLang="zh-CN" sz="1400">
                <a:latin typeface="华文楷体" panose="02010600040101010101" charset="-122"/>
                <a:ea typeface="华文楷体" panose="02010600040101010101" charset="-122"/>
                <a:cs typeface="华文楷体" panose="02010600040101010101" charset="-122"/>
                <a:sym typeface="+mn-ea"/>
              </a:rPr>
              <a:t>    2</a:t>
            </a:r>
            <a:r>
              <a:rPr lang="zh-CN" altLang="en-US"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1  </a:t>
            </a:r>
            <a:r>
              <a:rPr lang="zh-CN" altLang="en-US" sz="1400">
                <a:latin typeface="华文楷体" panose="02010600040101010101" charset="-122"/>
                <a:ea typeface="华文楷体" panose="02010600040101010101" charset="-122"/>
                <a:cs typeface="华文楷体" panose="02010600040101010101" charset="-122"/>
                <a:sym typeface="+mn-ea"/>
              </a:rPr>
              <a:t>各种方案比较与选择</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…6</a:t>
            </a:r>
            <a:endParaRPr lang="en-US" altLang="zh-CN" sz="1400" b="1">
              <a:latin typeface="华文楷体" panose="02010600040101010101" charset="-122"/>
              <a:ea typeface="华文楷体" panose="02010600040101010101" charset="-122"/>
              <a:cs typeface="华文楷体" panose="02010600040101010101" charset="-122"/>
            </a:endParaRPr>
          </a:p>
          <a:p>
            <a:pPr>
              <a:lnSpc>
                <a:spcPct val="80000"/>
              </a:lnSpc>
              <a:buNone/>
            </a:pPr>
            <a:r>
              <a:rPr lang="en-US" altLang="zh-CN" sz="1400">
                <a:latin typeface="华文楷体" panose="02010600040101010101" charset="-122"/>
                <a:ea typeface="华文楷体" panose="02010600040101010101" charset="-122"/>
                <a:cs typeface="华文楷体" panose="02010600040101010101" charset="-122"/>
                <a:sym typeface="+mn-ea"/>
              </a:rPr>
              <a:t>    2</a:t>
            </a:r>
            <a:r>
              <a:rPr lang="zh-CN" altLang="en-US"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2  </a:t>
            </a:r>
            <a:r>
              <a:rPr lang="zh-CN" altLang="en-US" sz="1400">
                <a:latin typeface="华文楷体" panose="02010600040101010101" charset="-122"/>
                <a:ea typeface="华文楷体" panose="02010600040101010101" charset="-122"/>
                <a:cs typeface="华文楷体" panose="02010600040101010101" charset="-122"/>
                <a:sym typeface="+mn-ea"/>
              </a:rPr>
              <a:t>方案论证</a:t>
            </a:r>
            <a:r>
              <a:rPr lang="en-US" altLang="zh-CN" sz="1400">
                <a:latin typeface="华文楷体" panose="02010600040101010101" charset="-122"/>
                <a:ea typeface="华文楷体" panose="02010600040101010101" charset="-122"/>
                <a:cs typeface="华文楷体" panose="02010600040101010101" charset="-122"/>
                <a:sym typeface="+mn-ea"/>
              </a:rPr>
              <a:t>……………………………………8</a:t>
            </a:r>
            <a:endParaRPr lang="en-US" altLang="zh-CN" sz="1400" b="1">
              <a:latin typeface="华文楷体" panose="02010600040101010101" charset="-122"/>
              <a:ea typeface="华文楷体" panose="02010600040101010101" charset="-122"/>
              <a:cs typeface="华文楷体" panose="02010600040101010101" charset="-122"/>
            </a:endParaRPr>
          </a:p>
          <a:p>
            <a:pPr>
              <a:lnSpc>
                <a:spcPct val="80000"/>
              </a:lnSpc>
              <a:buNone/>
            </a:pPr>
            <a:r>
              <a:rPr lang="en-US" altLang="zh-CN" sz="1400">
                <a:latin typeface="华文楷体" panose="02010600040101010101" charset="-122"/>
                <a:ea typeface="华文楷体" panose="02010600040101010101" charset="-122"/>
                <a:cs typeface="华文楷体" panose="02010600040101010101" charset="-122"/>
                <a:sym typeface="+mn-ea"/>
              </a:rPr>
              <a:t>3</a:t>
            </a:r>
            <a:r>
              <a:rPr lang="zh-CN" altLang="en-US" sz="1400">
                <a:latin typeface="华文楷体" panose="02010600040101010101" charset="-122"/>
                <a:ea typeface="华文楷体" panose="02010600040101010101" charset="-122"/>
                <a:cs typeface="华文楷体" panose="02010600040101010101" charset="-122"/>
                <a:sym typeface="+mn-ea"/>
              </a:rPr>
              <a:t>．系统硬件电路设计</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………9</a:t>
            </a:r>
            <a:endParaRPr lang="en-US" altLang="zh-CN" sz="1400" b="1">
              <a:latin typeface="华文楷体" panose="02010600040101010101" charset="-122"/>
              <a:ea typeface="华文楷体" panose="02010600040101010101" charset="-122"/>
              <a:cs typeface="华文楷体" panose="02010600040101010101" charset="-122"/>
            </a:endParaRPr>
          </a:p>
          <a:p>
            <a:pPr>
              <a:lnSpc>
                <a:spcPct val="80000"/>
              </a:lnSpc>
              <a:buNone/>
            </a:pPr>
            <a:r>
              <a:rPr lang="en-US" altLang="zh-CN" sz="1400">
                <a:latin typeface="华文楷体" panose="02010600040101010101" charset="-122"/>
                <a:ea typeface="华文楷体" panose="02010600040101010101" charset="-122"/>
                <a:cs typeface="华文楷体" panose="02010600040101010101" charset="-122"/>
                <a:sym typeface="+mn-ea"/>
              </a:rPr>
              <a:t>    3</a:t>
            </a:r>
            <a:r>
              <a:rPr lang="zh-CN" altLang="en-US"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1  </a:t>
            </a:r>
            <a:r>
              <a:rPr lang="zh-CN" altLang="en-US" sz="1400">
                <a:latin typeface="华文楷体" panose="02010600040101010101" charset="-122"/>
                <a:ea typeface="华文楷体" panose="02010600040101010101" charset="-122"/>
                <a:cs typeface="华文楷体" panose="02010600040101010101" charset="-122"/>
                <a:sym typeface="+mn-ea"/>
              </a:rPr>
              <a:t>发射部分电路的设计</a:t>
            </a:r>
            <a:r>
              <a:rPr lang="en-US" altLang="zh-CN" sz="1400">
                <a:latin typeface="华文楷体" panose="02010600040101010101" charset="-122"/>
                <a:ea typeface="华文楷体" panose="02010600040101010101" charset="-122"/>
                <a:cs typeface="华文楷体" panose="02010600040101010101" charset="-122"/>
                <a:sym typeface="+mn-ea"/>
              </a:rPr>
              <a:t>………………………9</a:t>
            </a:r>
            <a:endParaRPr lang="en-US" altLang="zh-CN" sz="1400" b="1">
              <a:latin typeface="华文楷体" panose="02010600040101010101" charset="-122"/>
              <a:ea typeface="华文楷体" panose="02010600040101010101" charset="-122"/>
              <a:cs typeface="华文楷体" panose="02010600040101010101" charset="-122"/>
            </a:endParaRPr>
          </a:p>
          <a:p>
            <a:pPr>
              <a:lnSpc>
                <a:spcPct val="80000"/>
              </a:lnSpc>
              <a:buNone/>
            </a:pPr>
            <a:r>
              <a:rPr lang="en-US" altLang="zh-CN" sz="1400">
                <a:latin typeface="华文楷体" panose="02010600040101010101" charset="-122"/>
                <a:ea typeface="华文楷体" panose="02010600040101010101" charset="-122"/>
                <a:cs typeface="华文楷体" panose="02010600040101010101" charset="-122"/>
                <a:sym typeface="+mn-ea"/>
              </a:rPr>
              <a:t>    3</a:t>
            </a:r>
            <a:r>
              <a:rPr lang="zh-CN" altLang="en-US"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2  </a:t>
            </a:r>
            <a:r>
              <a:rPr lang="zh-CN" altLang="en-US" sz="1400">
                <a:latin typeface="华文楷体" panose="02010600040101010101" charset="-122"/>
                <a:ea typeface="华文楷体" panose="02010600040101010101" charset="-122"/>
                <a:cs typeface="华文楷体" panose="02010600040101010101" charset="-122"/>
                <a:sym typeface="+mn-ea"/>
              </a:rPr>
              <a:t>接收部分电路的设计</a:t>
            </a:r>
            <a:r>
              <a:rPr lang="en-US" altLang="zh-CN" sz="1400">
                <a:latin typeface="华文楷体" panose="02010600040101010101" charset="-122"/>
                <a:ea typeface="华文楷体" panose="02010600040101010101" charset="-122"/>
                <a:cs typeface="华文楷体" panose="02010600040101010101" charset="-122"/>
                <a:sym typeface="+mn-ea"/>
              </a:rPr>
              <a:t>………………………12</a:t>
            </a:r>
            <a:endParaRPr lang="en-US" altLang="zh-CN" sz="1400" b="1">
              <a:latin typeface="华文楷体" panose="02010600040101010101" charset="-122"/>
              <a:ea typeface="华文楷体" panose="02010600040101010101" charset="-122"/>
              <a:cs typeface="华文楷体" panose="02010600040101010101" charset="-122"/>
            </a:endParaRPr>
          </a:p>
          <a:p>
            <a:pPr>
              <a:lnSpc>
                <a:spcPct val="80000"/>
              </a:lnSpc>
              <a:buNone/>
            </a:pPr>
            <a:r>
              <a:rPr lang="en-US" altLang="zh-CN" sz="1400">
                <a:latin typeface="华文楷体" panose="02010600040101010101" charset="-122"/>
                <a:ea typeface="华文楷体" panose="02010600040101010101" charset="-122"/>
                <a:cs typeface="华文楷体" panose="02010600040101010101" charset="-122"/>
                <a:sym typeface="+mn-ea"/>
              </a:rPr>
              <a:t>4</a:t>
            </a:r>
            <a:r>
              <a:rPr lang="zh-CN" altLang="en-US" sz="1400">
                <a:latin typeface="华文楷体" panose="02010600040101010101" charset="-122"/>
                <a:ea typeface="华文楷体" panose="02010600040101010101" charset="-122"/>
                <a:cs typeface="华文楷体" panose="02010600040101010101" charset="-122"/>
                <a:sym typeface="+mn-ea"/>
              </a:rPr>
              <a:t>．系统软件设计</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15</a:t>
            </a:r>
            <a:endParaRPr lang="en-US" altLang="zh-CN" sz="1400" b="1">
              <a:latin typeface="华文楷体" panose="02010600040101010101" charset="-122"/>
              <a:ea typeface="华文楷体" panose="02010600040101010101" charset="-122"/>
              <a:cs typeface="华文楷体" panose="02010600040101010101" charset="-122"/>
            </a:endParaRPr>
          </a:p>
          <a:p>
            <a:pPr>
              <a:lnSpc>
                <a:spcPct val="80000"/>
              </a:lnSpc>
              <a:buNone/>
            </a:pPr>
            <a:r>
              <a:rPr lang="en-US" altLang="zh-CN" sz="1400">
                <a:latin typeface="华文楷体" panose="02010600040101010101" charset="-122"/>
                <a:ea typeface="华文楷体" panose="02010600040101010101" charset="-122"/>
                <a:cs typeface="华文楷体" panose="02010600040101010101" charset="-122"/>
                <a:sym typeface="+mn-ea"/>
              </a:rPr>
              <a:t>    4</a:t>
            </a:r>
            <a:r>
              <a:rPr lang="zh-CN" altLang="en-US"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1  </a:t>
            </a:r>
            <a:r>
              <a:rPr lang="zh-CN" altLang="en-US" sz="1400">
                <a:latin typeface="华文楷体" panose="02010600040101010101" charset="-122"/>
                <a:ea typeface="华文楷体" panose="02010600040101010101" charset="-122"/>
                <a:cs typeface="华文楷体" panose="02010600040101010101" charset="-122"/>
                <a:sym typeface="+mn-ea"/>
              </a:rPr>
              <a:t>发射部分程序设计</a:t>
            </a:r>
            <a:r>
              <a:rPr lang="en-US" altLang="zh-CN" sz="1400">
                <a:latin typeface="华文楷体" panose="02010600040101010101" charset="-122"/>
                <a:ea typeface="华文楷体" panose="02010600040101010101" charset="-122"/>
                <a:cs typeface="华文楷体" panose="02010600040101010101" charset="-122"/>
                <a:sym typeface="+mn-ea"/>
              </a:rPr>
              <a:t>…………………………15</a:t>
            </a:r>
            <a:endParaRPr lang="en-US" altLang="zh-CN" sz="1400" b="1">
              <a:latin typeface="华文楷体" panose="02010600040101010101" charset="-122"/>
              <a:ea typeface="华文楷体" panose="02010600040101010101" charset="-122"/>
              <a:cs typeface="华文楷体" panose="02010600040101010101" charset="-122"/>
            </a:endParaRPr>
          </a:p>
          <a:p>
            <a:pPr>
              <a:lnSpc>
                <a:spcPct val="80000"/>
              </a:lnSpc>
              <a:buNone/>
            </a:pPr>
            <a:r>
              <a:rPr lang="en-US" altLang="zh-CN" sz="1400">
                <a:latin typeface="华文楷体" panose="02010600040101010101" charset="-122"/>
                <a:ea typeface="华文楷体" panose="02010600040101010101" charset="-122"/>
                <a:cs typeface="华文楷体" panose="02010600040101010101" charset="-122"/>
                <a:sym typeface="+mn-ea"/>
              </a:rPr>
              <a:t>    4</a:t>
            </a:r>
            <a:r>
              <a:rPr lang="zh-CN" altLang="en-US"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2  </a:t>
            </a:r>
            <a:r>
              <a:rPr lang="zh-CN" altLang="en-US" sz="1400">
                <a:latin typeface="华文楷体" panose="02010600040101010101" charset="-122"/>
                <a:ea typeface="华文楷体" panose="02010600040101010101" charset="-122"/>
                <a:cs typeface="华文楷体" panose="02010600040101010101" charset="-122"/>
                <a:sym typeface="+mn-ea"/>
              </a:rPr>
              <a:t>接收部分程序设计</a:t>
            </a:r>
            <a:r>
              <a:rPr lang="en-US" altLang="zh-CN" sz="1400">
                <a:latin typeface="华文楷体" panose="02010600040101010101" charset="-122"/>
                <a:ea typeface="华文楷体" panose="02010600040101010101" charset="-122"/>
                <a:cs typeface="华文楷体" panose="02010600040101010101" charset="-122"/>
                <a:sym typeface="+mn-ea"/>
              </a:rPr>
              <a:t>…………………………16</a:t>
            </a:r>
            <a:endParaRPr lang="en-US" altLang="zh-CN" sz="1400" b="1">
              <a:latin typeface="华文楷体" panose="02010600040101010101" charset="-122"/>
              <a:ea typeface="华文楷体" panose="02010600040101010101" charset="-122"/>
              <a:cs typeface="华文楷体" panose="02010600040101010101" charset="-122"/>
            </a:endParaRPr>
          </a:p>
          <a:p>
            <a:pPr>
              <a:lnSpc>
                <a:spcPct val="80000"/>
              </a:lnSpc>
              <a:buNone/>
            </a:pPr>
            <a:r>
              <a:rPr lang="en-US" altLang="zh-CN" sz="1400">
                <a:latin typeface="华文楷体" panose="02010600040101010101" charset="-122"/>
                <a:ea typeface="华文楷体" panose="02010600040101010101" charset="-122"/>
                <a:cs typeface="华文楷体" panose="02010600040101010101" charset="-122"/>
                <a:sym typeface="+mn-ea"/>
              </a:rPr>
              <a:t>5</a:t>
            </a:r>
            <a:r>
              <a:rPr lang="zh-CN" altLang="en-US" sz="1400">
                <a:latin typeface="华文楷体" panose="02010600040101010101" charset="-122"/>
                <a:ea typeface="华文楷体" panose="02010600040101010101" charset="-122"/>
                <a:cs typeface="华文楷体" panose="02010600040101010101" charset="-122"/>
                <a:sym typeface="+mn-ea"/>
              </a:rPr>
              <a:t>．系统安装 </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18</a:t>
            </a:r>
            <a:endParaRPr lang="en-US" altLang="zh-CN" sz="1400" b="1">
              <a:latin typeface="华文楷体" panose="02010600040101010101" charset="-122"/>
              <a:ea typeface="华文楷体" panose="02010600040101010101" charset="-122"/>
              <a:cs typeface="华文楷体" panose="02010600040101010101" charset="-122"/>
            </a:endParaRPr>
          </a:p>
          <a:p>
            <a:pPr>
              <a:lnSpc>
                <a:spcPct val="80000"/>
              </a:lnSpc>
              <a:buNone/>
            </a:pPr>
            <a:r>
              <a:rPr lang="en-US" altLang="zh-CN" sz="1400">
                <a:latin typeface="华文楷体" panose="02010600040101010101" charset="-122"/>
                <a:ea typeface="华文楷体" panose="02010600040101010101" charset="-122"/>
                <a:cs typeface="华文楷体" panose="02010600040101010101" charset="-122"/>
                <a:sym typeface="+mn-ea"/>
              </a:rPr>
              <a:t>    5</a:t>
            </a:r>
            <a:r>
              <a:rPr lang="zh-CN" altLang="en-US"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1  PCB</a:t>
            </a:r>
            <a:r>
              <a:rPr lang="zh-CN" altLang="en-US" sz="1400">
                <a:latin typeface="华文楷体" panose="02010600040101010101" charset="-122"/>
                <a:ea typeface="华文楷体" panose="02010600040101010101" charset="-122"/>
                <a:cs typeface="华文楷体" panose="02010600040101010101" charset="-122"/>
                <a:sym typeface="+mn-ea"/>
              </a:rPr>
              <a:t>板设计和安装</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…18</a:t>
            </a:r>
            <a:endParaRPr lang="en-US" altLang="zh-CN" sz="1400" b="1">
              <a:latin typeface="华文楷体" panose="02010600040101010101" charset="-122"/>
              <a:ea typeface="华文楷体" panose="02010600040101010101" charset="-122"/>
              <a:cs typeface="华文楷体" panose="02010600040101010101" charset="-122"/>
            </a:endParaRPr>
          </a:p>
          <a:p>
            <a:pPr>
              <a:lnSpc>
                <a:spcPct val="80000"/>
              </a:lnSpc>
              <a:buNone/>
            </a:pPr>
            <a:r>
              <a:rPr lang="en-US" altLang="zh-CN" sz="1400">
                <a:latin typeface="华文楷体" panose="02010600040101010101" charset="-122"/>
                <a:ea typeface="华文楷体" panose="02010600040101010101" charset="-122"/>
                <a:cs typeface="华文楷体" panose="02010600040101010101" charset="-122"/>
                <a:sym typeface="+mn-ea"/>
              </a:rPr>
              <a:t>    5</a:t>
            </a:r>
            <a:r>
              <a:rPr lang="zh-CN" altLang="en-US"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2  </a:t>
            </a:r>
            <a:r>
              <a:rPr lang="zh-CN" altLang="en-US" sz="1400">
                <a:latin typeface="华文楷体" panose="02010600040101010101" charset="-122"/>
                <a:ea typeface="华文楷体" panose="02010600040101010101" charset="-122"/>
                <a:cs typeface="华文楷体" panose="02010600040101010101" charset="-122"/>
                <a:sym typeface="+mn-ea"/>
              </a:rPr>
              <a:t>整机结构图及工艺说明 </a:t>
            </a:r>
            <a:r>
              <a:rPr lang="en-US" altLang="zh-CN" sz="1400">
                <a:latin typeface="华文楷体" panose="02010600040101010101" charset="-122"/>
                <a:ea typeface="华文楷体" panose="02010600040101010101" charset="-122"/>
                <a:cs typeface="华文楷体" panose="02010600040101010101" charset="-122"/>
                <a:sym typeface="+mn-ea"/>
              </a:rPr>
              <a:t>……………………19</a:t>
            </a:r>
            <a:endParaRPr lang="en-US" altLang="zh-CN" sz="1400" b="1">
              <a:latin typeface="华文楷体" panose="02010600040101010101" charset="-122"/>
              <a:ea typeface="华文楷体" panose="02010600040101010101" charset="-122"/>
              <a:cs typeface="华文楷体" panose="02010600040101010101" charset="-122"/>
            </a:endParaRPr>
          </a:p>
          <a:p>
            <a:pPr>
              <a:lnSpc>
                <a:spcPct val="80000"/>
              </a:lnSpc>
              <a:buNone/>
            </a:pPr>
            <a:r>
              <a:rPr lang="en-US" altLang="zh-CN" sz="1400">
                <a:latin typeface="华文楷体" panose="02010600040101010101" charset="-122"/>
                <a:ea typeface="华文楷体" panose="02010600040101010101" charset="-122"/>
                <a:cs typeface="华文楷体" panose="02010600040101010101" charset="-122"/>
                <a:sym typeface="+mn-ea"/>
              </a:rPr>
              <a:t>    5</a:t>
            </a:r>
            <a:r>
              <a:rPr lang="zh-CN" altLang="en-US" sz="1400">
                <a:latin typeface="华文楷体" panose="02010600040101010101" charset="-122"/>
                <a:ea typeface="华文楷体" panose="02010600040101010101" charset="-122"/>
                <a:cs typeface="华文楷体" panose="02010600040101010101" charset="-122"/>
                <a:sym typeface="+mn-ea"/>
              </a:rPr>
              <a:t>．</a:t>
            </a:r>
            <a:r>
              <a:rPr lang="en-US" altLang="zh-CN" sz="1400">
                <a:latin typeface="华文楷体" panose="02010600040101010101" charset="-122"/>
                <a:ea typeface="华文楷体" panose="02010600040101010101" charset="-122"/>
                <a:cs typeface="华文楷体" panose="02010600040101010101" charset="-122"/>
                <a:sym typeface="+mn-ea"/>
              </a:rPr>
              <a:t>3  </a:t>
            </a:r>
            <a:r>
              <a:rPr lang="zh-CN" altLang="en-US" sz="1400">
                <a:latin typeface="华文楷体" panose="02010600040101010101" charset="-122"/>
                <a:ea typeface="华文楷体" panose="02010600040101010101" charset="-122"/>
                <a:cs typeface="华文楷体" panose="02010600040101010101" charset="-122"/>
                <a:sym typeface="+mn-ea"/>
              </a:rPr>
              <a:t>面板图及可调部件说明 </a:t>
            </a:r>
            <a:r>
              <a:rPr lang="en-US" altLang="zh-CN" sz="1400">
                <a:latin typeface="华文楷体" panose="02010600040101010101" charset="-122"/>
                <a:ea typeface="华文楷体" panose="02010600040101010101" charset="-122"/>
                <a:cs typeface="华文楷体" panose="02010600040101010101" charset="-122"/>
                <a:sym typeface="+mn-ea"/>
              </a:rPr>
              <a:t>……………………20</a:t>
            </a:r>
            <a:endParaRPr lang="en-US" altLang="zh-CN" sz="1400" b="1">
              <a:latin typeface="华文楷体" panose="02010600040101010101" charset="-122"/>
              <a:ea typeface="华文楷体" panose="02010600040101010101" charset="-122"/>
              <a:cs typeface="华文楷体" panose="02010600040101010101" charset="-122"/>
            </a:endParaRPr>
          </a:p>
          <a:p>
            <a:pPr>
              <a:lnSpc>
                <a:spcPct val="80000"/>
              </a:lnSpc>
              <a:buNone/>
            </a:pPr>
            <a:endParaRPr lang="en-US" altLang="zh-CN" sz="1400">
              <a:latin typeface="华文楷体" panose="02010600040101010101" charset="-122"/>
              <a:ea typeface="华文楷体" panose="02010600040101010101" charset="-122"/>
              <a:cs typeface="华文楷体" panose="02010600040101010101" charset="-122"/>
            </a:endParaRPr>
          </a:p>
        </p:txBody>
      </p:sp>
    </p:spTree>
  </p:cSld>
  <p:clrMapOvr>
    <a:masterClrMapping/>
  </p:clrMapOvr>
  <p:transition>
    <p:pull dir="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4337"/>
          <p:cNvSpPr>
            <a:spLocks noGrp="1" noRot="1"/>
          </p:cNvSpPr>
          <p:nvPr>
            <p:ph type="title"/>
          </p:nvPr>
        </p:nvSpPr>
        <p:spPr>
          <a:xfrm>
            <a:off x="2355850" y="721995"/>
            <a:ext cx="8388985" cy="647700"/>
          </a:xfrm>
        </p:spPr>
        <p:txBody>
          <a:bodyPr anchor="ctr"/>
          <a:p>
            <a:r>
              <a:rPr lang="zh-CN" sz="4000" u="sng">
                <a:solidFill>
                  <a:srgbClr val="FF0000"/>
                </a:solidFill>
                <a:latin typeface="楷体" panose="02010609060101010101" charset="-122"/>
                <a:ea typeface="楷体" panose="02010609060101010101" charset="-122"/>
                <a:cs typeface="楷体" panose="02010609060101010101" charset="-122"/>
              </a:rPr>
              <a:t>叁</a:t>
            </a:r>
            <a:r>
              <a:rPr lang="zh-CN" sz="4000" u="sng">
                <a:latin typeface="楷体" panose="02010609060101010101" charset="-122"/>
                <a:ea typeface="楷体" panose="02010609060101010101" charset="-122"/>
                <a:cs typeface="楷体" panose="02010609060101010101" charset="-122"/>
              </a:rPr>
              <a:t>  电子</a:t>
            </a:r>
            <a:r>
              <a:rPr sz="4000" u="sng">
                <a:latin typeface="楷体" panose="02010609060101010101" charset="-122"/>
                <a:ea typeface="楷体" panose="02010609060101010101" charset="-122"/>
                <a:cs typeface="楷体" panose="02010609060101010101" charset="-122"/>
              </a:rPr>
              <a:t>设计总结报告</a:t>
            </a:r>
            <a:r>
              <a:rPr lang="zh-CN" sz="4000" u="sng">
                <a:latin typeface="楷体" panose="02010609060101010101" charset="-122"/>
                <a:ea typeface="楷体" panose="02010609060101010101" charset="-122"/>
                <a:cs typeface="楷体" panose="02010609060101010101" charset="-122"/>
              </a:rPr>
              <a:t>正文分项分析</a:t>
            </a:r>
            <a:endParaRPr lang="zh-CN" sz="4000" u="sng">
              <a:latin typeface="楷体" panose="02010609060101010101" charset="-122"/>
              <a:ea typeface="楷体" panose="02010609060101010101" charset="-122"/>
              <a:cs typeface="楷体" panose="02010609060101010101" charset="-122"/>
            </a:endParaRPr>
          </a:p>
        </p:txBody>
      </p:sp>
      <p:sp>
        <p:nvSpPr>
          <p:cNvPr id="14339" name="文本占位符 14338"/>
          <p:cNvSpPr>
            <a:spLocks noGrp="1" noRot="1"/>
          </p:cNvSpPr>
          <p:nvPr>
            <p:ph type="body" idx="1"/>
          </p:nvPr>
        </p:nvSpPr>
        <p:spPr>
          <a:xfrm>
            <a:off x="609600" y="2632710"/>
            <a:ext cx="10972800" cy="2355215"/>
          </a:xfrm>
        </p:spPr>
        <p:txBody>
          <a:bodyPr/>
          <a:p>
            <a:pPr lvl="1"/>
            <a:r>
              <a:rPr lang="zh-CN" altLang="en-US">
                <a:latin typeface="+mj-lt"/>
                <a:ea typeface="楷体" panose="02010609060101010101" charset="-122"/>
                <a:cs typeface="+mj-lt"/>
              </a:rPr>
              <a:t>设计任务</a:t>
            </a:r>
            <a:r>
              <a:rPr lang="en-US" altLang="zh-CN">
                <a:latin typeface="+mj-lt"/>
                <a:ea typeface="楷体" panose="02010609060101010101" charset="-122"/>
                <a:cs typeface="+mj-lt"/>
              </a:rPr>
              <a:t>（</a:t>
            </a:r>
            <a:r>
              <a:rPr lang="zh-CN" altLang="en-US">
                <a:latin typeface="+mj-lt"/>
                <a:ea typeface="楷体" panose="02010609060101010101" charset="-122"/>
                <a:cs typeface="+mj-lt"/>
              </a:rPr>
              <a:t>可从竞赛题目设计任务书上摘录</a:t>
            </a:r>
            <a:r>
              <a:rPr lang="en-US" altLang="zh-CN">
                <a:latin typeface="+mj-lt"/>
                <a:ea typeface="楷体" panose="02010609060101010101" charset="-122"/>
                <a:cs typeface="+mj-lt"/>
              </a:rPr>
              <a:t>）</a:t>
            </a:r>
            <a:endParaRPr lang="en-US" altLang="zh-CN">
              <a:latin typeface="+mj-lt"/>
              <a:ea typeface="楷体" panose="02010609060101010101" charset="-122"/>
              <a:cs typeface="+mj-lt"/>
            </a:endParaRPr>
          </a:p>
          <a:p>
            <a:pPr lvl="1"/>
            <a:r>
              <a:rPr lang="zh-CN" altLang="en-US">
                <a:latin typeface="+mj-lt"/>
                <a:ea typeface="楷体" panose="02010609060101010101" charset="-122"/>
                <a:cs typeface="+mj-lt"/>
              </a:rPr>
              <a:t>技术指标</a:t>
            </a:r>
            <a:r>
              <a:rPr lang="en-US" altLang="zh-CN">
                <a:latin typeface="+mj-lt"/>
                <a:ea typeface="楷体" panose="02010609060101010101" charset="-122"/>
                <a:cs typeface="+mj-lt"/>
              </a:rPr>
              <a:t>（</a:t>
            </a:r>
            <a:r>
              <a:rPr lang="zh-CN" altLang="en-US">
                <a:latin typeface="+mj-lt"/>
                <a:ea typeface="楷体" panose="02010609060101010101" charset="-122"/>
                <a:cs typeface="+mj-lt"/>
              </a:rPr>
              <a:t>可从</a:t>
            </a:r>
            <a:r>
              <a:rPr lang="zh-CN" altLang="en-US">
                <a:latin typeface="+mj-lt"/>
                <a:ea typeface="楷体" panose="02010609060101010101" charset="-122"/>
                <a:cs typeface="+mj-lt"/>
                <a:sym typeface="+mn-ea"/>
              </a:rPr>
              <a:t>竞赛题目</a:t>
            </a:r>
            <a:r>
              <a:rPr lang="zh-CN" altLang="en-US">
                <a:latin typeface="+mj-lt"/>
                <a:ea typeface="楷体" panose="02010609060101010101" charset="-122"/>
                <a:cs typeface="+mj-lt"/>
              </a:rPr>
              <a:t>设计任务书上摘录</a:t>
            </a:r>
            <a:r>
              <a:rPr lang="en-US" altLang="zh-CN">
                <a:latin typeface="+mj-lt"/>
                <a:ea typeface="楷体" panose="02010609060101010101" charset="-122"/>
                <a:cs typeface="+mj-lt"/>
              </a:rPr>
              <a:t>）</a:t>
            </a:r>
            <a:endParaRPr lang="en-US" altLang="zh-CN">
              <a:latin typeface="+mj-lt"/>
              <a:ea typeface="楷体" panose="02010609060101010101" charset="-122"/>
              <a:cs typeface="+mj-lt"/>
            </a:endParaRPr>
          </a:p>
          <a:p>
            <a:pPr lvl="1"/>
            <a:r>
              <a:rPr lang="zh-CN" altLang="en-US">
                <a:latin typeface="+mj-lt"/>
                <a:ea typeface="楷体" panose="02010609060101010101" charset="-122"/>
                <a:cs typeface="+mj-lt"/>
              </a:rPr>
              <a:t>题目评析</a:t>
            </a:r>
            <a:endParaRPr lang="zh-CN" altLang="en-US">
              <a:latin typeface="+mj-lt"/>
              <a:ea typeface="楷体" panose="02010609060101010101" charset="-122"/>
              <a:cs typeface="+mj-lt"/>
            </a:endParaRPr>
          </a:p>
          <a:p>
            <a:pPr lvl="2">
              <a:buNone/>
            </a:pPr>
            <a:r>
              <a:rPr lang="zh-CN" altLang="en-US">
                <a:latin typeface="+mj-lt"/>
                <a:ea typeface="楷体" panose="02010609060101010101" charset="-122"/>
                <a:cs typeface="+mj-lt"/>
              </a:rPr>
              <a:t>      评析题目的重点、难点</a:t>
            </a:r>
            <a:r>
              <a:rPr lang="zh-CN" altLang="en-US">
                <a:solidFill>
                  <a:srgbClr val="FF0000"/>
                </a:solidFill>
                <a:latin typeface="+mj-lt"/>
                <a:ea typeface="楷体" panose="02010609060101010101" charset="-122"/>
                <a:cs typeface="+mj-lt"/>
              </a:rPr>
              <a:t>（简洁、明了、客观、公正）</a:t>
            </a:r>
            <a:endParaRPr lang="zh-CN" altLang="en-US">
              <a:solidFill>
                <a:srgbClr val="FF0000"/>
              </a:solidFill>
              <a:latin typeface="+mj-lt"/>
              <a:ea typeface="楷体" panose="02010609060101010101" charset="-122"/>
              <a:cs typeface="+mj-lt"/>
            </a:endParaRPr>
          </a:p>
        </p:txBody>
      </p:sp>
      <p:sp>
        <p:nvSpPr>
          <p:cNvPr id="2" name="标题 14337"/>
          <p:cNvSpPr>
            <a:spLocks noGrp="1" noRot="1"/>
          </p:cNvSpPr>
          <p:nvPr/>
        </p:nvSpPr>
        <p:spPr>
          <a:xfrm>
            <a:off x="721360" y="1590675"/>
            <a:ext cx="5076825" cy="647700"/>
          </a:xfrm>
          <a:prstGeom prst="rect">
            <a:avLst/>
          </a:prstGeom>
          <a:noFill/>
          <a:ln w="9525">
            <a:noFill/>
          </a:ln>
        </p:spPr>
        <p:txBody>
          <a:bodyPr anchor="ctr"/>
          <a:lstStyle>
            <a:lvl1pPr marL="0" lvl="0" indent="0" algn="l" defTabSz="914400" eaLnBrk="0" fontAlgn="base" latinLnBrk="0" hangingPunct="0">
              <a:lnSpc>
                <a:spcPct val="100000"/>
              </a:lnSpc>
              <a:spcBef>
                <a:spcPct val="0"/>
              </a:spcBef>
              <a:spcAft>
                <a:spcPct val="0"/>
              </a:spcAft>
              <a:buNone/>
              <a:defRPr sz="3600" b="1" i="0" u="none" kern="1200" baseline="0">
                <a:solidFill>
                  <a:schemeClr val="tx2"/>
                </a:solidFill>
                <a:latin typeface="+mj-lt"/>
                <a:ea typeface="+mj-ea"/>
                <a:cs typeface="+mj-cs"/>
              </a:defRPr>
            </a:lvl1pPr>
          </a:lstStyle>
          <a:p>
            <a:r>
              <a:rPr lang="en-US" altLang="zh-CN" b="1" u="sng">
                <a:solidFill>
                  <a:srgbClr val="FF0000"/>
                </a:solidFill>
                <a:latin typeface="Times New Roman" panose="02020603050405020304" pitchFamily="18" charset="0"/>
                <a:ea typeface="楷体" panose="02010609060101010101" charset="-122"/>
                <a:cs typeface="Times New Roman" panose="02020603050405020304" pitchFamily="18" charset="0"/>
              </a:rPr>
              <a:t>3.1  </a:t>
            </a:r>
            <a:r>
              <a:rPr lang="zh-CN" altLang="en-US" b="1" u="sng">
                <a:solidFill>
                  <a:srgbClr val="FF0000"/>
                </a:solidFill>
                <a:latin typeface="Times New Roman" panose="02020603050405020304" pitchFamily="18" charset="0"/>
                <a:ea typeface="楷体" panose="02010609060101010101" charset="-122"/>
                <a:cs typeface="Times New Roman" panose="02020603050405020304" pitchFamily="18" charset="0"/>
              </a:rPr>
              <a:t>设计任务与要求</a:t>
            </a:r>
            <a:r>
              <a:rPr lang="zh-CN" altLang="en-US">
                <a:latin typeface="Times New Roman" panose="02020603050405020304" pitchFamily="18" charset="0"/>
                <a:ea typeface="楷体" panose="02010609060101010101" charset="-122"/>
                <a:cs typeface="Times New Roman" panose="02020603050405020304" pitchFamily="18" charset="0"/>
              </a:rPr>
              <a:t> </a:t>
            </a:r>
            <a:endParaRPr lang="zh-CN" altLang="en-US">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标题 15361"/>
          <p:cNvSpPr>
            <a:spLocks noGrp="1" noRot="1"/>
          </p:cNvSpPr>
          <p:nvPr>
            <p:ph type="title"/>
          </p:nvPr>
        </p:nvSpPr>
        <p:spPr>
          <a:xfrm>
            <a:off x="1298575" y="457200"/>
            <a:ext cx="8540750" cy="783590"/>
          </a:xfrm>
        </p:spPr>
        <p:txBody>
          <a:bodyPr anchor="ctr"/>
          <a:p>
            <a:pPr marL="685800" indent="-685800"/>
            <a:r>
              <a:rPr lang="en-US" altLang="zh-CN" b="1" u="sng">
                <a:solidFill>
                  <a:srgbClr val="FF0000"/>
                </a:solidFill>
                <a:ea typeface="楷体" panose="02010609060101010101" charset="-122"/>
                <a:cs typeface="+mj-lt"/>
              </a:rPr>
              <a:t>3.2  </a:t>
            </a:r>
            <a:r>
              <a:rPr lang="zh-CN" altLang="en-US" b="1" u="sng">
                <a:solidFill>
                  <a:srgbClr val="FF0000"/>
                </a:solidFill>
                <a:ea typeface="楷体" panose="02010609060101010101" charset="-122"/>
                <a:cs typeface="+mj-lt"/>
              </a:rPr>
              <a:t>方案比较与论证</a:t>
            </a:r>
            <a:r>
              <a:rPr lang="en-US" altLang="zh-CN" b="1" u="sng">
                <a:solidFill>
                  <a:srgbClr val="FF0000"/>
                </a:solidFill>
                <a:ea typeface="楷体" panose="02010609060101010101" charset="-122"/>
                <a:cs typeface="+mj-lt"/>
              </a:rPr>
              <a:t>（14</a:t>
            </a:r>
            <a:r>
              <a:rPr lang="zh-CN" altLang="en-US" b="1" u="sng">
                <a:solidFill>
                  <a:srgbClr val="FF0000"/>
                </a:solidFill>
                <a:ea typeface="楷体" panose="02010609060101010101" charset="-122"/>
                <a:cs typeface="+mj-lt"/>
              </a:rPr>
              <a:t>分</a:t>
            </a:r>
            <a:r>
              <a:rPr lang="en-US" altLang="zh-CN" b="1" u="sng">
                <a:solidFill>
                  <a:srgbClr val="FF0000"/>
                </a:solidFill>
                <a:ea typeface="楷体" panose="02010609060101010101" charset="-122"/>
                <a:cs typeface="+mj-lt"/>
              </a:rPr>
              <a:t>）</a:t>
            </a:r>
            <a:endParaRPr lang="en-US" altLang="zh-CN" b="1" u="sng">
              <a:solidFill>
                <a:srgbClr val="FF0000"/>
              </a:solidFill>
              <a:ea typeface="楷体" panose="02010609060101010101" charset="-122"/>
              <a:cs typeface="+mj-lt"/>
            </a:endParaRPr>
          </a:p>
        </p:txBody>
      </p:sp>
      <p:sp>
        <p:nvSpPr>
          <p:cNvPr id="15363" name="文本占位符 15362"/>
          <p:cNvSpPr>
            <a:spLocks noGrp="1" noRot="1"/>
          </p:cNvSpPr>
          <p:nvPr>
            <p:ph type="body" idx="1"/>
          </p:nvPr>
        </p:nvSpPr>
        <p:spPr>
          <a:xfrm>
            <a:off x="575945" y="1097280"/>
            <a:ext cx="11071860" cy="5372100"/>
          </a:xfrm>
          <a:solidFill>
            <a:schemeClr val="bg1"/>
          </a:solidFill>
        </p:spPr>
        <p:txBody>
          <a:bodyPr/>
          <a:p>
            <a:pPr marL="19050" indent="0" algn="just" eaLnBrk="1">
              <a:lnSpc>
                <a:spcPct val="130000"/>
              </a:lnSpc>
              <a:spcBef>
                <a:spcPts val="0"/>
              </a:spcBef>
              <a:buNone/>
            </a:pPr>
            <a:r>
              <a:rPr lang="en-US" altLang="zh-CN" sz="2800">
                <a:latin typeface="+mj-lt"/>
                <a:ea typeface="楷体" panose="02010609060101010101" charset="-122"/>
                <a:cs typeface="+mj-lt"/>
              </a:rPr>
              <a:t>      </a:t>
            </a:r>
            <a:r>
              <a:rPr lang="zh-CN" altLang="en-US" sz="2800">
                <a:solidFill>
                  <a:srgbClr val="FF0000"/>
                </a:solidFill>
                <a:latin typeface="+mj-lt"/>
                <a:ea typeface="楷体" panose="02010609060101010101" charset="-122"/>
                <a:cs typeface="+mj-lt"/>
              </a:rPr>
              <a:t>评分细节：方案比较</a:t>
            </a:r>
            <a:r>
              <a:rPr lang="en-US" altLang="zh-CN" sz="2800">
                <a:solidFill>
                  <a:srgbClr val="FF0000"/>
                </a:solidFill>
                <a:latin typeface="+mj-lt"/>
                <a:ea typeface="楷体" panose="02010609060101010101" charset="-122"/>
                <a:cs typeface="+mj-lt"/>
              </a:rPr>
              <a:t>4    </a:t>
            </a:r>
            <a:r>
              <a:rPr lang="zh-CN" altLang="en-US" sz="2800">
                <a:solidFill>
                  <a:srgbClr val="FF0000"/>
                </a:solidFill>
                <a:latin typeface="+mj-lt"/>
                <a:ea typeface="楷体" panose="02010609060101010101" charset="-122"/>
                <a:cs typeface="+mj-lt"/>
              </a:rPr>
              <a:t>正确性</a:t>
            </a:r>
            <a:r>
              <a:rPr lang="en-US" altLang="zh-CN" sz="2800">
                <a:solidFill>
                  <a:srgbClr val="FF0000"/>
                </a:solidFill>
                <a:latin typeface="+mj-lt"/>
                <a:ea typeface="楷体" panose="02010609060101010101" charset="-122"/>
                <a:cs typeface="+mj-lt"/>
              </a:rPr>
              <a:t>6    </a:t>
            </a:r>
            <a:r>
              <a:rPr lang="zh-CN" altLang="en-US" sz="2800">
                <a:solidFill>
                  <a:srgbClr val="FF0000"/>
                </a:solidFill>
                <a:latin typeface="+mj-lt"/>
                <a:ea typeface="楷体" panose="02010609060101010101" charset="-122"/>
                <a:cs typeface="+mj-lt"/>
              </a:rPr>
              <a:t>优良程度</a:t>
            </a:r>
            <a:r>
              <a:rPr lang="en-US" altLang="zh-CN" sz="2800">
                <a:solidFill>
                  <a:srgbClr val="FF0000"/>
                </a:solidFill>
                <a:latin typeface="+mj-lt"/>
                <a:ea typeface="楷体" panose="02010609060101010101" charset="-122"/>
                <a:cs typeface="+mj-lt"/>
              </a:rPr>
              <a:t>4</a:t>
            </a:r>
            <a:endParaRPr lang="en-US" altLang="zh-CN" sz="2800">
              <a:solidFill>
                <a:srgbClr val="FF0000"/>
              </a:solidFill>
              <a:latin typeface="+mj-lt"/>
              <a:ea typeface="楷体" panose="02010609060101010101" charset="-122"/>
              <a:cs typeface="+mj-lt"/>
            </a:endParaRPr>
          </a:p>
          <a:p>
            <a:pPr marL="476250" indent="-457200" algn="just" eaLnBrk="1">
              <a:lnSpc>
                <a:spcPct val="130000"/>
              </a:lnSpc>
              <a:spcBef>
                <a:spcPts val="0"/>
              </a:spcBef>
              <a:buNone/>
            </a:pPr>
            <a:r>
              <a:rPr lang="zh-CN" altLang="en-US" sz="2600">
                <a:latin typeface="+mj-lt"/>
                <a:ea typeface="楷体" panose="02010609060101010101" charset="-122"/>
                <a:cs typeface="+mj-lt"/>
              </a:rPr>
              <a:t>各种方案比较与选择 </a:t>
            </a:r>
            <a:r>
              <a:rPr lang="zh-CN" altLang="en-US" sz="2600" u="sng">
                <a:solidFill>
                  <a:srgbClr val="FF0000"/>
                </a:solidFill>
                <a:latin typeface="+mj-lt"/>
                <a:ea typeface="楷体" panose="02010609060101010101" charset="-122"/>
                <a:cs typeface="+mj-lt"/>
              </a:rPr>
              <a:t>（</a:t>
            </a:r>
            <a:r>
              <a:rPr lang="zh-CN" altLang="en-US" sz="2600" u="sng">
                <a:solidFill>
                  <a:srgbClr val="FF0000"/>
                </a:solidFill>
                <a:latin typeface="+mj-lt"/>
                <a:ea typeface="楷体" panose="02010609060101010101" charset="-122"/>
                <a:cs typeface="+mj-lt"/>
              </a:rPr>
              <a:t>内容技巧）</a:t>
            </a:r>
            <a:endParaRPr lang="zh-CN" altLang="en-US" sz="2600">
              <a:latin typeface="+mj-lt"/>
              <a:ea typeface="楷体" panose="02010609060101010101" charset="-122"/>
              <a:cs typeface="+mj-lt"/>
            </a:endParaRPr>
          </a:p>
          <a:p>
            <a:pPr marL="476250" indent="-457200" eaLnBrk="1">
              <a:lnSpc>
                <a:spcPct val="130000"/>
              </a:lnSpc>
              <a:spcBef>
                <a:spcPts val="0"/>
              </a:spcBef>
              <a:buNone/>
            </a:pPr>
            <a:r>
              <a:rPr lang="zh-CN" altLang="en-US" sz="2600">
                <a:latin typeface="+mj-lt"/>
                <a:ea typeface="楷体" panose="02010609060101010101" charset="-122"/>
                <a:cs typeface="+mj-lt"/>
              </a:rPr>
              <a:t>提出</a:t>
            </a:r>
            <a:r>
              <a:rPr lang="en-US" altLang="zh-CN" sz="2600">
                <a:latin typeface="+mj-lt"/>
                <a:ea typeface="楷体" panose="02010609060101010101" charset="-122"/>
                <a:cs typeface="+mj-lt"/>
              </a:rPr>
              <a:t>2</a:t>
            </a:r>
            <a:r>
              <a:rPr lang="zh-CN" altLang="en-US" sz="2600">
                <a:latin typeface="+mj-lt"/>
                <a:ea typeface="楷体" panose="02010609060101010101" charset="-122"/>
                <a:cs typeface="+mj-lt"/>
              </a:rPr>
              <a:t>到</a:t>
            </a:r>
            <a:r>
              <a:rPr lang="en-US" altLang="zh-CN" sz="2600">
                <a:latin typeface="+mj-lt"/>
                <a:ea typeface="楷体" panose="02010609060101010101" charset="-122"/>
                <a:cs typeface="+mj-lt"/>
              </a:rPr>
              <a:t>3</a:t>
            </a:r>
            <a:r>
              <a:rPr lang="zh-CN" altLang="en-US" sz="2600">
                <a:latin typeface="+mj-lt"/>
                <a:ea typeface="楷体" panose="02010609060101010101" charset="-122"/>
                <a:cs typeface="+mj-lt"/>
              </a:rPr>
              <a:t>种总体设计方案进行分析与比较</a:t>
            </a:r>
            <a:endParaRPr lang="zh-CN" altLang="en-US" sz="2600">
              <a:latin typeface="+mj-lt"/>
              <a:ea typeface="楷体" panose="02010609060101010101" charset="-122"/>
              <a:cs typeface="+mj-lt"/>
            </a:endParaRPr>
          </a:p>
          <a:p>
            <a:pPr marL="476250" indent="-457200" eaLnBrk="1">
              <a:lnSpc>
                <a:spcPct val="130000"/>
              </a:lnSpc>
              <a:spcBef>
                <a:spcPts val="0"/>
              </a:spcBef>
              <a:buNone/>
            </a:pPr>
            <a:r>
              <a:rPr lang="zh-CN" altLang="en-US" sz="2600">
                <a:latin typeface="+mj-lt"/>
                <a:ea typeface="楷体" panose="02010609060101010101" charset="-122"/>
                <a:cs typeface="+mj-lt"/>
              </a:rPr>
              <a:t>对设计方案应仔细介绍系统设计思路、工作原理和方框图</a:t>
            </a:r>
            <a:endParaRPr lang="zh-CN" altLang="en-US" sz="2600">
              <a:latin typeface="+mj-lt"/>
              <a:ea typeface="楷体" panose="02010609060101010101" charset="-122"/>
              <a:cs typeface="+mj-lt"/>
            </a:endParaRPr>
          </a:p>
          <a:p>
            <a:pPr marL="476250" indent="-457200" eaLnBrk="1">
              <a:lnSpc>
                <a:spcPct val="130000"/>
              </a:lnSpc>
              <a:spcBef>
                <a:spcPts val="0"/>
              </a:spcBef>
              <a:buNone/>
            </a:pPr>
            <a:r>
              <a:rPr lang="zh-CN" altLang="en-US" sz="2600">
                <a:latin typeface="+mj-lt"/>
                <a:ea typeface="楷体" panose="02010609060101010101" charset="-122"/>
                <a:cs typeface="+mj-lt"/>
              </a:rPr>
              <a:t>分别论述各个方案的特点、实现难易程度以及性价比</a:t>
            </a:r>
            <a:endParaRPr lang="zh-CN" altLang="en-US" sz="2600">
              <a:latin typeface="+mj-lt"/>
              <a:ea typeface="楷体" panose="02010609060101010101" charset="-122"/>
              <a:cs typeface="+mj-lt"/>
            </a:endParaRPr>
          </a:p>
          <a:p>
            <a:pPr marL="476250" indent="-457200" eaLnBrk="1">
              <a:lnSpc>
                <a:spcPct val="130000"/>
              </a:lnSpc>
              <a:spcBef>
                <a:spcPts val="0"/>
              </a:spcBef>
              <a:buNone/>
            </a:pPr>
            <a:r>
              <a:rPr lang="zh-CN" altLang="en-US" sz="2600">
                <a:latin typeface="+mj-lt"/>
                <a:ea typeface="楷体" panose="02010609060101010101" charset="-122"/>
                <a:cs typeface="+mj-lt"/>
              </a:rPr>
              <a:t>对各种方案进行分析、比较其优缺点，说明最终选择的方案</a:t>
            </a:r>
            <a:endParaRPr lang="zh-CN" altLang="en-US" sz="2600">
              <a:latin typeface="+mj-lt"/>
              <a:ea typeface="楷体" panose="02010609060101010101" charset="-122"/>
              <a:cs typeface="+mj-lt"/>
            </a:endParaRPr>
          </a:p>
          <a:p>
            <a:pPr marL="480695" lvl="2" indent="13970" eaLnBrk="1">
              <a:lnSpc>
                <a:spcPct val="130000"/>
              </a:lnSpc>
              <a:spcBef>
                <a:spcPts val="0"/>
              </a:spcBef>
              <a:buNone/>
            </a:pPr>
            <a:r>
              <a:rPr lang="zh-CN" altLang="en-US" sz="2600">
                <a:latin typeface="+mj-lt"/>
                <a:ea typeface="楷体" panose="02010609060101010101" charset="-122"/>
                <a:cs typeface="+mj-lt"/>
              </a:rPr>
              <a:t>可从满足技术指标的要求、性价比、电源效率与功耗（工作状态、待机状态）以及当前的实际条件</a:t>
            </a:r>
            <a:r>
              <a:rPr lang="en-US" altLang="zh-CN" sz="2600">
                <a:latin typeface="+mj-lt"/>
                <a:ea typeface="楷体" panose="02010609060101010101" charset="-122"/>
                <a:cs typeface="+mj-lt"/>
              </a:rPr>
              <a:t>（</a:t>
            </a:r>
            <a:r>
              <a:rPr lang="zh-CN" altLang="en-US" sz="2600">
                <a:latin typeface="+mj-lt"/>
                <a:ea typeface="楷体" panose="02010609060101010101" charset="-122"/>
                <a:cs typeface="+mj-lt"/>
              </a:rPr>
              <a:t>元件、设备、原材料和技术储备</a:t>
            </a:r>
            <a:r>
              <a:rPr lang="en-US" altLang="zh-CN" sz="2600">
                <a:latin typeface="+mj-lt"/>
                <a:ea typeface="楷体" panose="02010609060101010101" charset="-122"/>
                <a:cs typeface="+mj-lt"/>
              </a:rPr>
              <a:t>）</a:t>
            </a:r>
            <a:r>
              <a:rPr lang="zh-CN" altLang="en-US" sz="2600">
                <a:latin typeface="+mj-lt"/>
                <a:ea typeface="楷体" panose="02010609060101010101" charset="-122"/>
                <a:cs typeface="+mj-lt"/>
              </a:rPr>
              <a:t>等几个方面说明最终采用方案的理由</a:t>
            </a:r>
            <a:endParaRPr lang="zh-CN" altLang="en-US" sz="2600">
              <a:latin typeface="+mj-lt"/>
              <a:ea typeface="楷体" panose="02010609060101010101" charset="-122"/>
              <a:cs typeface="+mj-lt"/>
            </a:endParaRPr>
          </a:p>
          <a:p>
            <a:pPr marL="933450" lvl="2" indent="-457200" eaLnBrk="1">
              <a:lnSpc>
                <a:spcPct val="130000"/>
              </a:lnSpc>
              <a:spcBef>
                <a:spcPts val="0"/>
              </a:spcBef>
              <a:buNone/>
            </a:pPr>
            <a:r>
              <a:rPr lang="zh-CN" altLang="en-US" sz="2600">
                <a:latin typeface="+mj-lt"/>
                <a:ea typeface="楷体" panose="02010609060101010101" charset="-122"/>
                <a:cs typeface="+mj-lt"/>
              </a:rPr>
              <a:t>有的系统需要对技术指标进行分配，并进行相应的说明</a:t>
            </a:r>
            <a:endParaRPr lang="zh-CN" altLang="en-US" sz="2600">
              <a:latin typeface="+mj-lt"/>
              <a:ea typeface="楷体" panose="02010609060101010101" charset="-122"/>
              <a:cs typeface="+mj-lt"/>
            </a:endParaRPr>
          </a:p>
        </p:txBody>
      </p:sp>
    </p:spTree>
  </p:cSld>
  <p:clrMapOvr>
    <a:masterClrMapping/>
  </p:clrMapOvr>
  <p:transition>
    <p:pull dir="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6385"/>
          <p:cNvSpPr>
            <a:spLocks noGrp="1" noRot="1"/>
          </p:cNvSpPr>
          <p:nvPr>
            <p:ph type="title"/>
          </p:nvPr>
        </p:nvSpPr>
        <p:spPr>
          <a:xfrm>
            <a:off x="1394037" y="865505"/>
            <a:ext cx="10972800" cy="647700"/>
          </a:xfrm>
        </p:spPr>
        <p:txBody>
          <a:bodyPr anchor="ctr"/>
          <a:p>
            <a:r>
              <a:rPr lang="en-US" altLang="zh-CN" sz="4000" b="1" u="sng">
                <a:solidFill>
                  <a:srgbClr val="FF0000"/>
                </a:solidFill>
                <a:ea typeface="楷体" panose="02010609060101010101" charset="-122"/>
                <a:cs typeface="+mj-lt"/>
              </a:rPr>
              <a:t>3.2  </a:t>
            </a:r>
            <a:r>
              <a:rPr lang="zh-CN" altLang="en-US" sz="4000" b="1" u="sng">
                <a:solidFill>
                  <a:srgbClr val="FF0000"/>
                </a:solidFill>
                <a:ea typeface="楷体" panose="02010609060101010101" charset="-122"/>
                <a:cs typeface="+mj-lt"/>
              </a:rPr>
              <a:t>方案比较设计与论证</a:t>
            </a:r>
            <a:r>
              <a:rPr lang="en-US" altLang="zh-CN" sz="4000" b="1" u="sng">
                <a:solidFill>
                  <a:srgbClr val="FF0000"/>
                </a:solidFill>
                <a:ea typeface="楷体" panose="02010609060101010101" charset="-122"/>
                <a:cs typeface="+mj-lt"/>
              </a:rPr>
              <a:t>（14</a:t>
            </a:r>
            <a:r>
              <a:rPr lang="zh-CN" altLang="en-US" sz="4000" b="1" u="sng">
                <a:solidFill>
                  <a:srgbClr val="FF0000"/>
                </a:solidFill>
                <a:ea typeface="楷体" panose="02010609060101010101" charset="-122"/>
                <a:cs typeface="+mj-lt"/>
              </a:rPr>
              <a:t>分</a:t>
            </a:r>
            <a:r>
              <a:rPr lang="en-US" altLang="zh-CN" sz="4000" b="1" u="sng">
                <a:solidFill>
                  <a:srgbClr val="FF0000"/>
                </a:solidFill>
                <a:ea typeface="楷体" panose="02010609060101010101" charset="-122"/>
                <a:cs typeface="+mj-lt"/>
              </a:rPr>
              <a:t>）</a:t>
            </a:r>
            <a:endParaRPr lang="en-US" altLang="zh-CN" sz="4000" b="1" u="sng">
              <a:solidFill>
                <a:srgbClr val="FF0000"/>
              </a:solidFill>
              <a:ea typeface="楷体" panose="02010609060101010101" charset="-122"/>
              <a:cs typeface="+mj-lt"/>
            </a:endParaRPr>
          </a:p>
        </p:txBody>
      </p:sp>
      <p:sp>
        <p:nvSpPr>
          <p:cNvPr id="16387" name="文本占位符 16386"/>
          <p:cNvSpPr>
            <a:spLocks noGrp="1" noRot="1"/>
          </p:cNvSpPr>
          <p:nvPr>
            <p:ph type="body" idx="1"/>
          </p:nvPr>
        </p:nvSpPr>
        <p:spPr>
          <a:xfrm>
            <a:off x="994410" y="1838960"/>
            <a:ext cx="9790430" cy="3564255"/>
          </a:xfrm>
        </p:spPr>
        <p:txBody>
          <a:bodyPr/>
          <a:p>
            <a:pPr>
              <a:lnSpc>
                <a:spcPct val="150000"/>
              </a:lnSpc>
              <a:buNone/>
            </a:pPr>
            <a:r>
              <a:rPr lang="zh-CN" altLang="en-US">
                <a:latin typeface="+mj-lt"/>
                <a:ea typeface="楷体" panose="02010609060101010101" charset="-122"/>
              </a:rPr>
              <a:t>方案论</a:t>
            </a:r>
            <a:r>
              <a:rPr lang="zh-CN" altLang="en-US">
                <a:latin typeface="+mj-lt"/>
                <a:ea typeface="楷体" panose="02010609060101010101" charset="-122"/>
                <a:sym typeface="+mn-ea"/>
              </a:rPr>
              <a:t>证</a:t>
            </a:r>
            <a:r>
              <a:rPr lang="zh-CN" altLang="en-US" u="sng">
                <a:solidFill>
                  <a:srgbClr val="FF0000"/>
                </a:solidFill>
                <a:latin typeface="+mj-lt"/>
                <a:ea typeface="楷体" panose="02010609060101010101" charset="-122"/>
                <a:sym typeface="+mn-ea"/>
              </a:rPr>
              <a:t>（</a:t>
            </a:r>
            <a:r>
              <a:rPr lang="zh-CN" altLang="en-US" u="sng">
                <a:solidFill>
                  <a:srgbClr val="FF0000"/>
                </a:solidFill>
                <a:latin typeface="+mj-lt"/>
                <a:ea typeface="楷体" panose="02010609060101010101" charset="-122"/>
                <a:sym typeface="+mn-ea"/>
              </a:rPr>
              <a:t>组织结构技巧）</a:t>
            </a:r>
            <a:endParaRPr lang="zh-CN" altLang="en-US">
              <a:latin typeface="+mj-lt"/>
              <a:ea typeface="楷体" panose="02010609060101010101" charset="-122"/>
            </a:endParaRPr>
          </a:p>
          <a:p>
            <a:pPr>
              <a:lnSpc>
                <a:spcPct val="150000"/>
              </a:lnSpc>
              <a:buNone/>
            </a:pPr>
            <a:r>
              <a:rPr lang="zh-CN" altLang="en-US">
                <a:latin typeface="+mj-lt"/>
                <a:ea typeface="楷体" panose="02010609060101010101" charset="-122"/>
              </a:rPr>
              <a:t>对所选方案展开论证，工作原理分析，电路介绍，特点比对</a:t>
            </a:r>
            <a:endParaRPr lang="zh-CN" altLang="en-US">
              <a:latin typeface="+mj-lt"/>
              <a:ea typeface="楷体" panose="02010609060101010101" charset="-122"/>
            </a:endParaRPr>
          </a:p>
          <a:p>
            <a:pPr>
              <a:lnSpc>
                <a:spcPct val="150000"/>
              </a:lnSpc>
              <a:buNone/>
            </a:pPr>
            <a:r>
              <a:rPr lang="zh-CN" altLang="en-US">
                <a:latin typeface="+mj-lt"/>
                <a:ea typeface="楷体" panose="02010609060101010101" charset="-122"/>
              </a:rPr>
              <a:t>可借助插图、流程图、表格、曲线等，论证尽量详细</a:t>
            </a:r>
            <a:endParaRPr lang="zh-CN" altLang="en-US">
              <a:latin typeface="+mj-lt"/>
              <a:ea typeface="楷体" panose="02010609060101010101" charset="-122"/>
            </a:endParaRPr>
          </a:p>
          <a:p>
            <a:pPr>
              <a:lnSpc>
                <a:spcPct val="150000"/>
              </a:lnSpc>
              <a:buNone/>
            </a:pPr>
            <a:r>
              <a:rPr lang="zh-CN" altLang="en-US">
                <a:latin typeface="+mj-lt"/>
                <a:ea typeface="楷体" panose="02010609060101010101" charset="-122"/>
              </a:rPr>
              <a:t>评价本方案达到的水平、国内外技术现状</a:t>
            </a:r>
            <a:endParaRPr lang="zh-CN" altLang="en-US">
              <a:latin typeface="+mj-lt"/>
              <a:ea typeface="楷体" panose="02010609060101010101" charset="-122"/>
            </a:endParaRPr>
          </a:p>
        </p:txBody>
      </p:sp>
    </p:spTree>
  </p:cSld>
  <p:clrMapOvr>
    <a:masterClrMapping/>
  </p:clrMapOvr>
  <p:transition>
    <p:pull dir="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17409"/>
          <p:cNvSpPr>
            <a:spLocks noGrp="1" noRot="1"/>
          </p:cNvSpPr>
          <p:nvPr>
            <p:ph type="title"/>
          </p:nvPr>
        </p:nvSpPr>
        <p:spPr>
          <a:xfrm>
            <a:off x="1847850" y="404495"/>
            <a:ext cx="8540750" cy="882015"/>
          </a:xfrm>
        </p:spPr>
        <p:txBody>
          <a:bodyPr anchor="ctr"/>
          <a:p>
            <a:r>
              <a:rPr lang="en-US" altLang="zh-CN" b="1">
                <a:solidFill>
                  <a:schemeClr val="hlink"/>
                </a:solidFill>
                <a:ea typeface="楷体" panose="02010609060101010101" charset="-122"/>
                <a:cs typeface="+mj-lt"/>
              </a:rPr>
              <a:t>3.2  </a:t>
            </a:r>
            <a:r>
              <a:rPr lang="zh-CN" altLang="en-US" b="1">
                <a:solidFill>
                  <a:schemeClr val="hlink"/>
                </a:solidFill>
                <a:ea typeface="楷体" panose="02010609060101010101" charset="-122"/>
                <a:cs typeface="+mj-lt"/>
              </a:rPr>
              <a:t>方案比较设计与论证 </a:t>
            </a:r>
            <a:r>
              <a:rPr lang="zh-CN" altLang="en-US" sz="2800" b="1" u="sng">
                <a:solidFill>
                  <a:srgbClr val="FF0000"/>
                </a:solidFill>
                <a:ea typeface="楷体" panose="02010609060101010101" charset="-122"/>
                <a:cs typeface="+mj-lt"/>
              </a:rPr>
              <a:t>（</a:t>
            </a:r>
            <a:r>
              <a:rPr lang="zh-CN" altLang="en-US" sz="2800" b="1" u="sng">
                <a:solidFill>
                  <a:srgbClr val="FF0000"/>
                </a:solidFill>
                <a:ea typeface="楷体" panose="02010609060101010101" charset="-122"/>
                <a:cs typeface="+mj-lt"/>
              </a:rPr>
              <a:t>架构）</a:t>
            </a:r>
            <a:endParaRPr lang="en-US" altLang="zh-CN" sz="2800" b="1" u="sng">
              <a:solidFill>
                <a:srgbClr val="FF0000"/>
              </a:solidFill>
              <a:ea typeface="楷体" panose="02010609060101010101" charset="-122"/>
              <a:cs typeface="+mj-lt"/>
            </a:endParaRPr>
          </a:p>
        </p:txBody>
      </p:sp>
      <p:sp>
        <p:nvSpPr>
          <p:cNvPr id="17411" name="文本占位符 17410"/>
          <p:cNvSpPr>
            <a:spLocks noGrp="1" noRot="1"/>
          </p:cNvSpPr>
          <p:nvPr>
            <p:ph type="body" idx="1"/>
          </p:nvPr>
        </p:nvSpPr>
        <p:spPr>
          <a:xfrm>
            <a:off x="499745" y="1244600"/>
            <a:ext cx="11198225" cy="5419090"/>
          </a:xfrm>
          <a:solidFill>
            <a:schemeClr val="bg1"/>
          </a:solidFill>
        </p:spPr>
        <p:txBody>
          <a:bodyPr/>
          <a:p>
            <a:pPr marL="21590" indent="0">
              <a:lnSpc>
                <a:spcPct val="80000"/>
              </a:lnSpc>
            </a:pPr>
            <a:r>
              <a:rPr lang="zh-CN" altLang="en-US" sz="2400">
                <a:latin typeface="+mj-lt"/>
                <a:ea typeface="楷体" panose="02010609060101010101" charset="-122"/>
                <a:cs typeface="+mj-lt"/>
              </a:rPr>
              <a:t>整体方案比较</a:t>
            </a:r>
            <a:endParaRPr lang="zh-CN" altLang="en-US" sz="2400">
              <a:latin typeface="+mj-lt"/>
              <a:ea typeface="楷体" panose="02010609060101010101" charset="-122"/>
              <a:cs typeface="+mj-lt"/>
            </a:endParaRPr>
          </a:p>
          <a:p>
            <a:pPr marL="21590" indent="0">
              <a:lnSpc>
                <a:spcPct val="80000"/>
              </a:lnSpc>
              <a:buNone/>
            </a:pPr>
            <a:r>
              <a:rPr lang="zh-CN" altLang="en-US" sz="2400">
                <a:latin typeface="+mj-lt"/>
                <a:ea typeface="楷体" panose="02010609060101010101" charset="-122"/>
                <a:cs typeface="+mj-lt"/>
              </a:rPr>
              <a:t>      波形发生器</a:t>
            </a:r>
            <a:r>
              <a:rPr lang="en-US" altLang="zh-CN" sz="2400">
                <a:latin typeface="+mj-lt"/>
                <a:ea typeface="楷体" panose="02010609060101010101" charset="-122"/>
                <a:cs typeface="+mj-lt"/>
              </a:rPr>
              <a:t>-----</a:t>
            </a:r>
            <a:r>
              <a:rPr lang="zh-CN" altLang="en-US" sz="2400">
                <a:latin typeface="+mj-lt"/>
                <a:ea typeface="楷体" panose="02010609060101010101" charset="-122"/>
                <a:cs typeface="+mj-lt"/>
              </a:rPr>
              <a:t>专用</a:t>
            </a:r>
            <a:r>
              <a:rPr lang="en-US" altLang="zh-CN" sz="2400">
                <a:latin typeface="+mj-lt"/>
                <a:ea typeface="楷体" panose="02010609060101010101" charset="-122"/>
                <a:cs typeface="+mj-lt"/>
              </a:rPr>
              <a:t>IC</a:t>
            </a:r>
            <a:r>
              <a:rPr lang="zh-CN" altLang="en-US" sz="2400">
                <a:latin typeface="+mj-lt"/>
                <a:ea typeface="楷体" panose="02010609060101010101" charset="-122"/>
                <a:cs typeface="+mj-lt"/>
              </a:rPr>
              <a:t>、</a:t>
            </a:r>
            <a:r>
              <a:rPr lang="en-US" altLang="zh-CN" sz="2400">
                <a:latin typeface="+mj-lt"/>
                <a:ea typeface="楷体" panose="02010609060101010101" charset="-122"/>
                <a:cs typeface="+mj-lt"/>
              </a:rPr>
              <a:t>PLL </a:t>
            </a:r>
            <a:r>
              <a:rPr lang="zh-CN" altLang="en-US" sz="2400">
                <a:latin typeface="+mj-lt"/>
                <a:ea typeface="楷体" panose="02010609060101010101" charset="-122"/>
                <a:cs typeface="+mj-lt"/>
              </a:rPr>
              <a:t>、</a:t>
            </a:r>
            <a:r>
              <a:rPr lang="en-US" altLang="zh-CN" sz="2400">
                <a:latin typeface="+mj-lt"/>
                <a:ea typeface="楷体" panose="02010609060101010101" charset="-122"/>
                <a:cs typeface="+mj-lt"/>
              </a:rPr>
              <a:t>DDS（MCU+PLD） </a:t>
            </a:r>
            <a:endParaRPr lang="zh-CN" altLang="en-US" sz="2400">
              <a:latin typeface="+mj-lt"/>
              <a:ea typeface="楷体" panose="02010609060101010101" charset="-122"/>
              <a:cs typeface="+mj-lt"/>
            </a:endParaRPr>
          </a:p>
          <a:p>
            <a:pPr marL="21590" indent="0">
              <a:lnSpc>
                <a:spcPct val="80000"/>
              </a:lnSpc>
            </a:pPr>
            <a:r>
              <a:rPr lang="zh-CN" altLang="en-US" sz="2400">
                <a:latin typeface="+mj-lt"/>
                <a:ea typeface="楷体" panose="02010609060101010101" charset="-122"/>
                <a:cs typeface="+mj-lt"/>
              </a:rPr>
              <a:t>局部方案比较</a:t>
            </a:r>
            <a:endParaRPr lang="zh-CN" altLang="en-US" sz="2400">
              <a:latin typeface="+mj-lt"/>
              <a:ea typeface="楷体" panose="02010609060101010101" charset="-122"/>
              <a:cs typeface="+mj-lt"/>
            </a:endParaRPr>
          </a:p>
          <a:p>
            <a:pPr marL="21590" indent="751840">
              <a:lnSpc>
                <a:spcPct val="80000"/>
              </a:lnSpc>
              <a:buNone/>
            </a:pPr>
            <a:r>
              <a:rPr lang="zh-CN" altLang="en-US" sz="2400">
                <a:latin typeface="+mj-lt"/>
                <a:ea typeface="楷体" panose="02010609060101010101" charset="-122"/>
                <a:cs typeface="+mj-lt"/>
              </a:rPr>
              <a:t>数据采集：</a:t>
            </a:r>
            <a:endParaRPr lang="zh-CN" altLang="en-US" sz="2400">
              <a:latin typeface="+mj-lt"/>
              <a:ea typeface="楷体" panose="02010609060101010101" charset="-122"/>
              <a:cs typeface="+mj-lt"/>
            </a:endParaRPr>
          </a:p>
          <a:p>
            <a:pPr marL="21590" indent="751840">
              <a:lnSpc>
                <a:spcPct val="80000"/>
              </a:lnSpc>
              <a:buNone/>
            </a:pPr>
            <a:r>
              <a:rPr lang="zh-CN" altLang="en-US" sz="2400">
                <a:latin typeface="+mj-lt"/>
                <a:ea typeface="楷体" panose="02010609060101010101" charset="-122"/>
                <a:cs typeface="+mj-lt"/>
              </a:rPr>
              <a:t>可编程放大</a:t>
            </a:r>
            <a:r>
              <a:rPr lang="en-US" altLang="zh-CN" sz="2400">
                <a:latin typeface="+mj-lt"/>
                <a:ea typeface="楷体" panose="02010609060101010101" charset="-122"/>
                <a:cs typeface="+mj-lt"/>
              </a:rPr>
              <a:t>---</a:t>
            </a:r>
            <a:r>
              <a:rPr lang="zh-CN" altLang="en-US" sz="2400">
                <a:latin typeface="+mj-lt"/>
                <a:ea typeface="楷体" panose="02010609060101010101" charset="-122"/>
                <a:cs typeface="+mj-lt"/>
              </a:rPr>
              <a:t>模拟开关、数字电位器、</a:t>
            </a:r>
            <a:r>
              <a:rPr lang="en-US" altLang="zh-CN" sz="2400">
                <a:latin typeface="+mj-lt"/>
                <a:ea typeface="楷体" panose="02010609060101010101" charset="-122"/>
                <a:cs typeface="+mj-lt"/>
              </a:rPr>
              <a:t>D/A</a:t>
            </a:r>
            <a:r>
              <a:rPr lang="zh-CN" altLang="en-US" sz="2400">
                <a:latin typeface="+mj-lt"/>
                <a:ea typeface="楷体" panose="02010609060101010101" charset="-122"/>
                <a:cs typeface="+mj-lt"/>
              </a:rPr>
              <a:t>芯片</a:t>
            </a:r>
            <a:endParaRPr lang="zh-CN" altLang="en-US" sz="2400">
              <a:latin typeface="+mj-lt"/>
              <a:ea typeface="楷体" panose="02010609060101010101" charset="-122"/>
              <a:cs typeface="+mj-lt"/>
            </a:endParaRPr>
          </a:p>
          <a:p>
            <a:pPr marL="21590" indent="773430">
              <a:lnSpc>
                <a:spcPct val="80000"/>
              </a:lnSpc>
              <a:buNone/>
            </a:pPr>
            <a:r>
              <a:rPr lang="zh-CN" altLang="en-US" sz="2400">
                <a:latin typeface="+mj-lt"/>
                <a:ea typeface="楷体" panose="02010609060101010101" charset="-122"/>
                <a:cs typeface="+mj-lt"/>
              </a:rPr>
              <a:t>滤波</a:t>
            </a:r>
            <a:r>
              <a:rPr lang="en-US" altLang="zh-CN" sz="2400">
                <a:latin typeface="+mj-lt"/>
                <a:ea typeface="楷体" panose="02010609060101010101" charset="-122"/>
                <a:cs typeface="+mj-lt"/>
              </a:rPr>
              <a:t>---------</a:t>
            </a:r>
            <a:r>
              <a:rPr lang="zh-CN" altLang="en-US" sz="2400">
                <a:latin typeface="+mj-lt"/>
                <a:ea typeface="楷体" panose="02010609060101010101" charset="-122"/>
                <a:cs typeface="+mj-lt"/>
              </a:rPr>
              <a:t>模拟滤波器、开关电容滤波</a:t>
            </a:r>
            <a:endParaRPr lang="zh-CN" altLang="en-US" sz="2400">
              <a:latin typeface="+mj-lt"/>
              <a:ea typeface="楷体" panose="02010609060101010101" charset="-122"/>
              <a:cs typeface="+mj-lt"/>
            </a:endParaRPr>
          </a:p>
          <a:p>
            <a:pPr marL="21590" indent="773430">
              <a:lnSpc>
                <a:spcPct val="80000"/>
              </a:lnSpc>
              <a:buNone/>
            </a:pPr>
            <a:r>
              <a:rPr lang="zh-CN" altLang="en-US" sz="2400">
                <a:latin typeface="+mj-lt"/>
                <a:ea typeface="楷体" panose="02010609060101010101" charset="-122"/>
                <a:cs typeface="+mj-lt"/>
              </a:rPr>
              <a:t> </a:t>
            </a:r>
            <a:r>
              <a:rPr lang="en-US" altLang="zh-CN" sz="2400">
                <a:latin typeface="+mj-lt"/>
                <a:ea typeface="楷体" panose="02010609060101010101" charset="-122"/>
                <a:cs typeface="+mj-lt"/>
              </a:rPr>
              <a:t>A/D----------VFC</a:t>
            </a:r>
            <a:r>
              <a:rPr lang="zh-CN" altLang="en-US" sz="2400">
                <a:latin typeface="+mj-lt"/>
                <a:ea typeface="楷体" panose="02010609060101010101" charset="-122"/>
                <a:cs typeface="+mj-lt"/>
              </a:rPr>
              <a:t>、双积分、逐次逼近、闪速并</a:t>
            </a:r>
            <a:endParaRPr lang="zh-CN" altLang="en-US" sz="2400">
              <a:latin typeface="+mj-lt"/>
              <a:ea typeface="楷体" panose="02010609060101010101" charset="-122"/>
              <a:cs typeface="+mj-lt"/>
            </a:endParaRPr>
          </a:p>
          <a:p>
            <a:pPr marL="21590" indent="773430">
              <a:lnSpc>
                <a:spcPct val="80000"/>
              </a:lnSpc>
              <a:buNone/>
            </a:pPr>
            <a:r>
              <a:rPr lang="zh-CN" altLang="en-US" sz="2400">
                <a:latin typeface="+mj-lt"/>
                <a:ea typeface="楷体" panose="02010609060101010101" charset="-122"/>
                <a:cs typeface="+mj-lt"/>
              </a:rPr>
              <a:t>数据传输</a:t>
            </a:r>
            <a:r>
              <a:rPr lang="en-US" altLang="zh-CN" sz="2400">
                <a:latin typeface="+mj-lt"/>
                <a:ea typeface="楷体" panose="02010609060101010101" charset="-122"/>
                <a:cs typeface="+mj-lt"/>
              </a:rPr>
              <a:t>--------</a:t>
            </a:r>
            <a:r>
              <a:rPr lang="zh-CN" altLang="en-US" sz="2400">
                <a:latin typeface="+mj-lt"/>
                <a:ea typeface="楷体" panose="02010609060101010101" charset="-122"/>
                <a:cs typeface="+mj-lt"/>
              </a:rPr>
              <a:t>红外、射频、电力载波</a:t>
            </a:r>
            <a:endParaRPr lang="zh-CN" altLang="en-US" sz="2400">
              <a:latin typeface="+mj-lt"/>
              <a:ea typeface="楷体" panose="02010609060101010101" charset="-122"/>
              <a:cs typeface="+mj-lt"/>
            </a:endParaRPr>
          </a:p>
          <a:p>
            <a:pPr marL="21590" indent="773430">
              <a:lnSpc>
                <a:spcPct val="80000"/>
              </a:lnSpc>
              <a:buNone/>
            </a:pPr>
            <a:r>
              <a:rPr lang="zh-CN" altLang="en-US" sz="2400">
                <a:latin typeface="+mj-lt"/>
                <a:ea typeface="楷体" panose="02010609060101010101" charset="-122"/>
                <a:cs typeface="+mj-lt"/>
              </a:rPr>
              <a:t>调制解调</a:t>
            </a:r>
            <a:r>
              <a:rPr lang="en-US" altLang="zh-CN" sz="2400">
                <a:latin typeface="+mj-lt"/>
                <a:ea typeface="楷体" panose="02010609060101010101" charset="-122"/>
                <a:cs typeface="+mj-lt"/>
              </a:rPr>
              <a:t>--------FSK</a:t>
            </a:r>
            <a:r>
              <a:rPr lang="zh-CN" altLang="en-US" sz="2400">
                <a:latin typeface="+mj-lt"/>
                <a:ea typeface="楷体" panose="02010609060101010101" charset="-122"/>
                <a:cs typeface="+mj-lt"/>
              </a:rPr>
              <a:t>、</a:t>
            </a:r>
            <a:r>
              <a:rPr lang="en-US" altLang="zh-CN" sz="2400">
                <a:latin typeface="+mj-lt"/>
                <a:ea typeface="楷体" panose="02010609060101010101" charset="-122"/>
                <a:cs typeface="+mj-lt"/>
              </a:rPr>
              <a:t>FM</a:t>
            </a:r>
            <a:r>
              <a:rPr lang="zh-CN" altLang="en-US" sz="2400">
                <a:latin typeface="+mj-lt"/>
                <a:ea typeface="楷体" panose="02010609060101010101" charset="-122"/>
                <a:cs typeface="+mj-lt"/>
              </a:rPr>
              <a:t>、</a:t>
            </a:r>
            <a:r>
              <a:rPr lang="en-US" altLang="zh-CN" sz="2400">
                <a:latin typeface="+mj-lt"/>
                <a:ea typeface="楷体" panose="02010609060101010101" charset="-122"/>
                <a:cs typeface="+mj-lt"/>
              </a:rPr>
              <a:t>DTMF</a:t>
            </a:r>
            <a:endParaRPr lang="en-US" altLang="zh-CN" sz="2400">
              <a:latin typeface="+mj-lt"/>
              <a:ea typeface="楷体" panose="02010609060101010101" charset="-122"/>
              <a:cs typeface="+mj-lt"/>
            </a:endParaRPr>
          </a:p>
          <a:p>
            <a:pPr marL="21590" indent="773430">
              <a:lnSpc>
                <a:spcPct val="80000"/>
              </a:lnSpc>
              <a:buNone/>
            </a:pPr>
            <a:r>
              <a:rPr lang="zh-CN" altLang="en-US" sz="2400">
                <a:latin typeface="+mj-lt"/>
                <a:ea typeface="楷体" panose="02010609060101010101" charset="-122"/>
                <a:cs typeface="+mj-lt"/>
              </a:rPr>
              <a:t>信号处理</a:t>
            </a:r>
            <a:r>
              <a:rPr lang="en-US" altLang="zh-CN" sz="2400">
                <a:latin typeface="+mj-lt"/>
                <a:ea typeface="楷体" panose="02010609060101010101" charset="-122"/>
                <a:cs typeface="+mj-lt"/>
              </a:rPr>
              <a:t>--------</a:t>
            </a:r>
            <a:r>
              <a:rPr lang="zh-CN" altLang="en-US" sz="2400">
                <a:latin typeface="+mj-lt"/>
                <a:ea typeface="楷体" panose="02010609060101010101" charset="-122"/>
                <a:cs typeface="+mj-lt"/>
              </a:rPr>
              <a:t>滤波用硬件实现、软件实现</a:t>
            </a:r>
            <a:endParaRPr lang="zh-CN" altLang="en-US" sz="2400">
              <a:latin typeface="+mj-lt"/>
              <a:ea typeface="楷体" panose="02010609060101010101" charset="-122"/>
              <a:cs typeface="+mj-lt"/>
            </a:endParaRPr>
          </a:p>
          <a:p>
            <a:pPr marL="21590" indent="0">
              <a:lnSpc>
                <a:spcPct val="80000"/>
              </a:lnSpc>
            </a:pPr>
            <a:r>
              <a:rPr lang="zh-CN" altLang="en-US" sz="2400">
                <a:latin typeface="+mj-lt"/>
                <a:ea typeface="楷体" panose="02010609060101010101" charset="-122"/>
                <a:cs typeface="+mj-lt"/>
              </a:rPr>
              <a:t>优缺点比较：</a:t>
            </a:r>
            <a:endParaRPr lang="zh-CN" altLang="en-US" sz="2400">
              <a:latin typeface="+mj-lt"/>
              <a:ea typeface="楷体" panose="02010609060101010101" charset="-122"/>
              <a:cs typeface="+mj-lt"/>
            </a:endParaRPr>
          </a:p>
          <a:p>
            <a:pPr marL="21590" indent="0">
              <a:lnSpc>
                <a:spcPct val="80000"/>
              </a:lnSpc>
              <a:buNone/>
            </a:pPr>
            <a:r>
              <a:rPr lang="zh-CN" altLang="en-US" sz="2400">
                <a:latin typeface="+mj-lt"/>
                <a:ea typeface="楷体" panose="02010609060101010101" charset="-122"/>
                <a:cs typeface="+mj-lt"/>
              </a:rPr>
              <a:t>       是否实现基本要求和发挥部分的功能和指标</a:t>
            </a:r>
            <a:endParaRPr lang="zh-CN" altLang="en-US" sz="2400">
              <a:latin typeface="+mj-lt"/>
              <a:ea typeface="楷体" panose="02010609060101010101" charset="-122"/>
              <a:cs typeface="+mj-lt"/>
            </a:endParaRPr>
          </a:p>
          <a:p>
            <a:pPr marL="21590" indent="0">
              <a:lnSpc>
                <a:spcPct val="80000"/>
              </a:lnSpc>
              <a:buNone/>
            </a:pPr>
            <a:r>
              <a:rPr lang="zh-CN" altLang="en-US" sz="2400">
                <a:latin typeface="+mj-lt"/>
                <a:ea typeface="楷体" panose="02010609060101010101" charset="-122"/>
                <a:cs typeface="+mj-lt"/>
              </a:rPr>
              <a:t>       实现的难易程度</a:t>
            </a:r>
            <a:endParaRPr lang="zh-CN" altLang="en-US" sz="2400">
              <a:latin typeface="+mj-lt"/>
              <a:ea typeface="楷体" panose="02010609060101010101" charset="-122"/>
              <a:cs typeface="+mj-lt"/>
            </a:endParaRPr>
          </a:p>
          <a:p>
            <a:pPr marL="21590" indent="0">
              <a:lnSpc>
                <a:spcPct val="80000"/>
              </a:lnSpc>
              <a:buNone/>
            </a:pPr>
            <a:r>
              <a:rPr lang="zh-CN" altLang="en-US" sz="2400">
                <a:latin typeface="+mj-lt"/>
                <a:ea typeface="楷体" panose="02010609060101010101" charset="-122"/>
                <a:cs typeface="+mj-lt"/>
              </a:rPr>
              <a:t>       硬件成本</a:t>
            </a:r>
            <a:endParaRPr lang="zh-CN" altLang="en-US" sz="2400">
              <a:latin typeface="+mj-lt"/>
              <a:ea typeface="楷体" panose="02010609060101010101" charset="-122"/>
              <a:cs typeface="+mj-lt"/>
            </a:endParaRPr>
          </a:p>
        </p:txBody>
      </p:sp>
    </p:spTree>
  </p:cSld>
  <p:clrMapOvr>
    <a:masterClrMapping/>
  </p:clrMapOvr>
  <p:transition>
    <p:pull dir="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18433"/>
          <p:cNvSpPr>
            <a:spLocks noGrp="1" noRot="1"/>
          </p:cNvSpPr>
          <p:nvPr>
            <p:ph type="title"/>
          </p:nvPr>
        </p:nvSpPr>
        <p:spPr>
          <a:xfrm>
            <a:off x="989965" y="45720"/>
            <a:ext cx="9625965" cy="791845"/>
          </a:xfrm>
          <a:solidFill>
            <a:schemeClr val="bg1"/>
          </a:solidFill>
        </p:spPr>
        <p:txBody>
          <a:bodyPr anchor="ctr"/>
          <a:p>
            <a:pPr algn="l">
              <a:buClrTx/>
              <a:buSzTx/>
              <a:buFontTx/>
            </a:pPr>
            <a:r>
              <a:rPr lang="en-US" altLang="zh-CN">
                <a:solidFill>
                  <a:schemeClr val="hlink"/>
                </a:solidFill>
                <a:ea typeface="楷体" panose="02010609060101010101" charset="-122"/>
                <a:cs typeface="+mj-lt"/>
                <a:sym typeface="+mn-ea"/>
              </a:rPr>
              <a:t>3.2  </a:t>
            </a:r>
            <a:r>
              <a:rPr lang="zh-CN" altLang="en-US" b="1">
                <a:solidFill>
                  <a:schemeClr val="hlink"/>
                </a:solidFill>
                <a:latin typeface="+mn-lt"/>
                <a:ea typeface="楷体" panose="02010609060101010101" charset="-122"/>
                <a:cs typeface="+mn-lt"/>
              </a:rPr>
              <a:t>方案比较设计与论证</a:t>
            </a:r>
            <a:r>
              <a:rPr lang="zh-CN" altLang="en-US" sz="2400" b="1" u="sng">
                <a:solidFill>
                  <a:srgbClr val="FF0000"/>
                </a:solidFill>
                <a:latin typeface="+mn-lt"/>
                <a:ea typeface="楷体" panose="02010609060101010101" charset="-122"/>
                <a:cs typeface="+mn-lt"/>
              </a:rPr>
              <a:t>（</a:t>
            </a:r>
            <a:r>
              <a:rPr lang="zh-CN" altLang="en-US" sz="2400" b="1" u="sng">
                <a:solidFill>
                  <a:srgbClr val="FF0000"/>
                </a:solidFill>
                <a:latin typeface="+mn-lt"/>
                <a:ea typeface="楷体" panose="02010609060101010101" charset="-122"/>
                <a:cs typeface="+mn-lt"/>
              </a:rPr>
              <a:t>写好方案论证的技术基础</a:t>
            </a:r>
            <a:r>
              <a:rPr lang="zh-CN" altLang="en-US" sz="2400" b="1" u="sng">
                <a:solidFill>
                  <a:srgbClr val="FF0000"/>
                </a:solidFill>
                <a:latin typeface="+mn-lt"/>
                <a:ea typeface="楷体" panose="02010609060101010101" charset="-122"/>
                <a:cs typeface="+mn-lt"/>
              </a:rPr>
              <a:t>）</a:t>
            </a:r>
            <a:endParaRPr lang="zh-CN" altLang="en-US" sz="2400" b="1" u="sng">
              <a:solidFill>
                <a:srgbClr val="FF0000"/>
              </a:solidFill>
              <a:latin typeface="+mn-lt"/>
              <a:ea typeface="楷体" panose="02010609060101010101" charset="-122"/>
              <a:cs typeface="+mn-lt"/>
            </a:endParaRPr>
          </a:p>
        </p:txBody>
      </p:sp>
      <p:sp>
        <p:nvSpPr>
          <p:cNvPr id="18435" name="文本占位符 18434"/>
          <p:cNvSpPr>
            <a:spLocks noGrp="1" noRot="1"/>
          </p:cNvSpPr>
          <p:nvPr>
            <p:ph type="body" idx="1"/>
          </p:nvPr>
        </p:nvSpPr>
        <p:spPr>
          <a:xfrm>
            <a:off x="989965" y="837565"/>
            <a:ext cx="10229850" cy="5472430"/>
          </a:xfrm>
          <a:solidFill>
            <a:schemeClr val="bg1"/>
          </a:solidFill>
        </p:spPr>
        <p:txBody>
          <a:bodyPr/>
          <a:p>
            <a:pPr>
              <a:lnSpc>
                <a:spcPct val="120000"/>
              </a:lnSpc>
            </a:pPr>
            <a:r>
              <a:rPr lang="zh-CN" altLang="en-US" u="sng">
                <a:solidFill>
                  <a:srgbClr val="FF0000"/>
                </a:solidFill>
                <a:ea typeface="楷体" panose="02010609060101010101" charset="-122"/>
                <a:cs typeface="+mn-lt"/>
              </a:rPr>
              <a:t>需要熟知</a:t>
            </a:r>
            <a:endParaRPr lang="zh-CN" altLang="en-US" u="sng">
              <a:solidFill>
                <a:srgbClr val="FF0000"/>
              </a:solidFill>
              <a:ea typeface="楷体" panose="02010609060101010101" charset="-122"/>
              <a:cs typeface="+mn-lt"/>
            </a:endParaRPr>
          </a:p>
          <a:p>
            <a:pPr>
              <a:lnSpc>
                <a:spcPct val="120000"/>
              </a:lnSpc>
              <a:buNone/>
            </a:pPr>
            <a:r>
              <a:rPr lang="zh-CN" altLang="en-US" sz="2000">
                <a:ea typeface="楷体" panose="02010609060101010101" charset="-122"/>
                <a:cs typeface="+mn-lt"/>
              </a:rPr>
              <a:t>       </a:t>
            </a:r>
            <a:r>
              <a:rPr lang="zh-CN" altLang="en-US" sz="2400">
                <a:ea typeface="楷体" panose="02010609060101010101" charset="-122"/>
                <a:cs typeface="+mn-lt"/>
              </a:rPr>
              <a:t>各种功能电路的实现方法、各种常用芯片的性能；</a:t>
            </a:r>
            <a:endParaRPr lang="zh-CN" altLang="en-US" sz="2400">
              <a:ea typeface="楷体" panose="02010609060101010101" charset="-122"/>
              <a:cs typeface="+mn-lt"/>
            </a:endParaRPr>
          </a:p>
          <a:p>
            <a:pPr>
              <a:lnSpc>
                <a:spcPct val="120000"/>
              </a:lnSpc>
              <a:buNone/>
            </a:pPr>
            <a:r>
              <a:rPr lang="zh-CN" altLang="en-US" sz="2400">
                <a:ea typeface="楷体" panose="02010609060101010101" charset="-122"/>
                <a:cs typeface="+mn-lt"/>
              </a:rPr>
              <a:t>       性能指标的定义：分辨率、线性度、仪表精度等级；</a:t>
            </a:r>
            <a:endParaRPr lang="zh-CN" altLang="en-US" sz="2400">
              <a:ea typeface="楷体" panose="02010609060101010101" charset="-122"/>
              <a:cs typeface="+mn-lt"/>
            </a:endParaRPr>
          </a:p>
          <a:p>
            <a:pPr>
              <a:lnSpc>
                <a:spcPct val="120000"/>
              </a:lnSpc>
            </a:pPr>
            <a:r>
              <a:rPr lang="zh-CN" altLang="en-US">
                <a:solidFill>
                  <a:srgbClr val="FF0000"/>
                </a:solidFill>
                <a:ea typeface="楷体" panose="02010609060101010101" charset="-122"/>
                <a:cs typeface="+mn-lt"/>
              </a:rPr>
              <a:t>单元电路包括</a:t>
            </a:r>
            <a:endParaRPr lang="zh-CN" altLang="en-US">
              <a:solidFill>
                <a:srgbClr val="FF0000"/>
              </a:solidFill>
              <a:ea typeface="楷体" panose="02010609060101010101" charset="-122"/>
              <a:cs typeface="+mn-lt"/>
            </a:endParaRPr>
          </a:p>
          <a:p>
            <a:pPr>
              <a:lnSpc>
                <a:spcPct val="120000"/>
              </a:lnSpc>
              <a:buNone/>
            </a:pPr>
            <a:r>
              <a:rPr lang="zh-CN" altLang="en-US" sz="2000">
                <a:ea typeface="楷体" panose="02010609060101010101" charset="-122"/>
                <a:cs typeface="+mn-lt"/>
              </a:rPr>
              <a:t>     </a:t>
            </a:r>
            <a:r>
              <a:rPr lang="zh-CN" altLang="en-US" sz="2400">
                <a:ea typeface="楷体" panose="02010609060101010101" charset="-122"/>
                <a:cs typeface="+mn-lt"/>
              </a:rPr>
              <a:t>  电源电路、基本放大电路、射频功率放大器电路；正弦波发生器电路、非正弦波发生器电路；     比较器电路、限幅器电路、检波电路；电压／频率变换电路、电压／电流变换电路；光电、红外、超声、金属传感器电路；电机驱动电路</a:t>
            </a:r>
            <a:endParaRPr lang="zh-CN" altLang="en-US" sz="2000">
              <a:ea typeface="楷体" panose="02010609060101010101" charset="-122"/>
              <a:cs typeface="+mn-lt"/>
            </a:endParaRPr>
          </a:p>
          <a:p>
            <a:pPr>
              <a:lnSpc>
                <a:spcPct val="120000"/>
              </a:lnSpc>
            </a:pPr>
            <a:r>
              <a:rPr lang="zh-CN" altLang="en-US" u="sng">
                <a:solidFill>
                  <a:srgbClr val="FF0000"/>
                </a:solidFill>
                <a:ea typeface="楷体" panose="02010609060101010101" charset="-122"/>
                <a:cs typeface="+mn-lt"/>
              </a:rPr>
              <a:t>单片机和可编程逻辑器件包括</a:t>
            </a:r>
            <a:endParaRPr lang="zh-CN" altLang="en-US" sz="2000">
              <a:ea typeface="楷体" panose="02010609060101010101" charset="-122"/>
              <a:cs typeface="+mn-lt"/>
            </a:endParaRPr>
          </a:p>
          <a:p>
            <a:pPr>
              <a:lnSpc>
                <a:spcPct val="120000"/>
              </a:lnSpc>
              <a:buNone/>
            </a:pPr>
            <a:r>
              <a:rPr lang="zh-CN" altLang="en-US" sz="2000">
                <a:ea typeface="楷体" panose="02010609060101010101" charset="-122"/>
                <a:cs typeface="+mn-lt"/>
              </a:rPr>
              <a:t>       </a:t>
            </a:r>
            <a:r>
              <a:rPr lang="zh-CN" altLang="en-US" sz="2400">
                <a:ea typeface="楷体" panose="02010609060101010101" charset="-122"/>
                <a:cs typeface="+mn-lt"/>
              </a:rPr>
              <a:t>最小系统；</a:t>
            </a:r>
            <a:r>
              <a:rPr lang="en-US" altLang="zh-CN" sz="2400">
                <a:ea typeface="楷体" panose="02010609060101010101" charset="-122"/>
                <a:cs typeface="+mn-lt"/>
              </a:rPr>
              <a:t>A</a:t>
            </a:r>
            <a:r>
              <a:rPr lang="zh-CN" altLang="en-US" sz="2400">
                <a:ea typeface="楷体" panose="02010609060101010101" charset="-122"/>
                <a:cs typeface="+mn-lt"/>
              </a:rPr>
              <a:t>／</a:t>
            </a:r>
            <a:r>
              <a:rPr lang="en-US" altLang="zh-CN" sz="2400">
                <a:ea typeface="楷体" panose="02010609060101010101" charset="-122"/>
                <a:cs typeface="+mn-lt"/>
              </a:rPr>
              <a:t>D</a:t>
            </a:r>
            <a:r>
              <a:rPr lang="zh-CN" altLang="en-US" sz="2400">
                <a:ea typeface="楷体" panose="02010609060101010101" charset="-122"/>
                <a:cs typeface="+mn-lt"/>
              </a:rPr>
              <a:t>、</a:t>
            </a:r>
            <a:r>
              <a:rPr lang="en-US" altLang="zh-CN" sz="2400">
                <a:ea typeface="楷体" panose="02010609060101010101" charset="-122"/>
                <a:cs typeface="+mn-lt"/>
              </a:rPr>
              <a:t>D</a:t>
            </a:r>
            <a:r>
              <a:rPr lang="zh-CN" altLang="en-US" sz="2400">
                <a:ea typeface="楷体" panose="02010609060101010101" charset="-122"/>
                <a:cs typeface="+mn-lt"/>
              </a:rPr>
              <a:t>／</a:t>
            </a:r>
            <a:r>
              <a:rPr lang="en-US" altLang="zh-CN" sz="2400">
                <a:ea typeface="楷体" panose="02010609060101010101" charset="-122"/>
                <a:cs typeface="+mn-lt"/>
              </a:rPr>
              <a:t>A</a:t>
            </a:r>
            <a:r>
              <a:rPr lang="zh-CN" altLang="en-US" sz="2400">
                <a:ea typeface="楷体" panose="02010609060101010101" charset="-122"/>
                <a:cs typeface="+mn-lt"/>
              </a:rPr>
              <a:t>电路；</a:t>
            </a:r>
            <a:r>
              <a:rPr lang="en-US" altLang="zh-CN" sz="2400">
                <a:ea typeface="楷体" panose="02010609060101010101" charset="-122"/>
                <a:cs typeface="+mn-lt"/>
              </a:rPr>
              <a:t>LED</a:t>
            </a:r>
            <a:r>
              <a:rPr lang="zh-CN" altLang="en-US" sz="2400">
                <a:ea typeface="楷体" panose="02010609060101010101" charset="-122"/>
                <a:cs typeface="+mn-lt"/>
              </a:rPr>
              <a:t>数码管显示电路；</a:t>
            </a:r>
            <a:r>
              <a:rPr lang="en-US" altLang="zh-CN" sz="2400">
                <a:ea typeface="楷体" panose="02010609060101010101" charset="-122"/>
                <a:cs typeface="+mn-lt"/>
              </a:rPr>
              <a:t>LCD</a:t>
            </a:r>
            <a:r>
              <a:rPr lang="zh-CN" altLang="en-US" sz="2400">
                <a:ea typeface="楷体" panose="02010609060101010101" charset="-122"/>
                <a:cs typeface="+mn-lt"/>
              </a:rPr>
              <a:t>显示电路。</a:t>
            </a:r>
            <a:endParaRPr lang="zh-CN" altLang="en-US" sz="2400">
              <a:ea typeface="楷体" panose="02010609060101010101" charset="-122"/>
              <a:cs typeface="+mn-lt"/>
            </a:endParaRPr>
          </a:p>
        </p:txBody>
      </p:sp>
    </p:spTree>
  </p:cSld>
  <p:clrMapOvr>
    <a:masterClrMapping/>
  </p:clrMapOvr>
  <p:transition>
    <p:pull dir="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标题 19457"/>
          <p:cNvSpPr>
            <a:spLocks noGrp="1" noRot="1"/>
          </p:cNvSpPr>
          <p:nvPr>
            <p:ph type="title"/>
          </p:nvPr>
        </p:nvSpPr>
        <p:spPr>
          <a:xfrm>
            <a:off x="1379220" y="501015"/>
            <a:ext cx="8540750" cy="908050"/>
          </a:xfrm>
        </p:spPr>
        <p:txBody>
          <a:bodyPr anchor="ctr"/>
          <a:p>
            <a:r>
              <a:rPr lang="en-US" altLang="zh-CN" b="1">
                <a:solidFill>
                  <a:schemeClr val="hlink"/>
                </a:solidFill>
                <a:ea typeface="楷体" panose="02010609060101010101" charset="-122"/>
                <a:cs typeface="+mj-lt"/>
              </a:rPr>
              <a:t>3.2  </a:t>
            </a:r>
            <a:r>
              <a:rPr lang="zh-CN" altLang="en-US" b="1">
                <a:solidFill>
                  <a:schemeClr val="hlink"/>
                </a:solidFill>
                <a:ea typeface="楷体" panose="02010609060101010101" charset="-122"/>
                <a:cs typeface="+mj-lt"/>
              </a:rPr>
              <a:t>方案比较设计与论证</a:t>
            </a:r>
            <a:r>
              <a:rPr lang="zh-CN" altLang="en-US" sz="2400" b="1" u="sng">
                <a:solidFill>
                  <a:srgbClr val="FF0000"/>
                </a:solidFill>
                <a:ea typeface="楷体" panose="02010609060101010101" charset="-122"/>
                <a:cs typeface="+mj-lt"/>
              </a:rPr>
              <a:t>（</a:t>
            </a:r>
            <a:r>
              <a:rPr lang="zh-CN" sz="2400" b="1" u="sng">
                <a:solidFill>
                  <a:srgbClr val="FF0000"/>
                </a:solidFill>
                <a:ea typeface="楷体" panose="02010609060101010101" charset="-122"/>
                <a:cs typeface="+mj-lt"/>
              </a:rPr>
              <a:t>案例）</a:t>
            </a:r>
            <a:endParaRPr lang="en-US" altLang="zh-CN" sz="2400" b="1" u="sng">
              <a:solidFill>
                <a:srgbClr val="FF0000"/>
              </a:solidFill>
              <a:ea typeface="楷体" panose="02010609060101010101" charset="-122"/>
              <a:cs typeface="+mj-lt"/>
            </a:endParaRPr>
          </a:p>
        </p:txBody>
      </p:sp>
      <p:sp>
        <p:nvSpPr>
          <p:cNvPr id="19459" name="文本占位符 19458"/>
          <p:cNvSpPr>
            <a:spLocks noGrp="1" noRot="1"/>
          </p:cNvSpPr>
          <p:nvPr>
            <p:ph type="body" idx="1"/>
          </p:nvPr>
        </p:nvSpPr>
        <p:spPr>
          <a:xfrm>
            <a:off x="560705" y="1303020"/>
            <a:ext cx="11115040" cy="5210175"/>
          </a:xfrm>
        </p:spPr>
        <p:txBody>
          <a:bodyPr/>
          <a:p>
            <a:pPr>
              <a:lnSpc>
                <a:spcPct val="120000"/>
              </a:lnSpc>
              <a:buNone/>
            </a:pPr>
            <a:r>
              <a:rPr lang="en-US" altLang="zh-CN" sz="2400">
                <a:latin typeface="+mj-lt"/>
                <a:ea typeface="楷体" panose="02010609060101010101" charset="-122"/>
                <a:cs typeface="+mj-lt"/>
              </a:rPr>
              <a:t>1</a:t>
            </a:r>
            <a:r>
              <a:rPr lang="zh-CN" altLang="en-US" sz="2400">
                <a:latin typeface="+mj-lt"/>
                <a:ea typeface="楷体" panose="02010609060101010101" charset="-122"/>
                <a:cs typeface="+mj-lt"/>
              </a:rPr>
              <a:t>．设计任务与要求</a:t>
            </a:r>
            <a:endParaRPr lang="zh-CN" altLang="en-US" sz="2400">
              <a:latin typeface="+mj-lt"/>
              <a:ea typeface="楷体" panose="02010609060101010101" charset="-122"/>
              <a:cs typeface="+mj-lt"/>
            </a:endParaRPr>
          </a:p>
          <a:p>
            <a:pPr>
              <a:lnSpc>
                <a:spcPct val="120000"/>
              </a:lnSpc>
              <a:buNone/>
            </a:pPr>
            <a:r>
              <a:rPr lang="zh-CN" altLang="en-US" sz="2400">
                <a:latin typeface="+mj-lt"/>
                <a:ea typeface="楷体" panose="02010609060101010101" charset="-122"/>
                <a:cs typeface="+mj-lt"/>
              </a:rPr>
              <a:t>      </a:t>
            </a:r>
            <a:r>
              <a:rPr lang="en-US" altLang="zh-CN" sz="2400">
                <a:latin typeface="+mj-lt"/>
                <a:ea typeface="楷体" panose="02010609060101010101" charset="-122"/>
                <a:cs typeface="+mj-lt"/>
              </a:rPr>
              <a:t>（</a:t>
            </a:r>
            <a:r>
              <a:rPr lang="zh-CN" altLang="en-US" sz="2400">
                <a:latin typeface="+mj-lt"/>
                <a:ea typeface="楷体" panose="02010609060101010101" charset="-122"/>
                <a:cs typeface="+mj-lt"/>
              </a:rPr>
              <a:t>设计任务与要求完全按照竞赛委员会提供的设计要求</a:t>
            </a:r>
            <a:r>
              <a:rPr lang="en-US" altLang="zh-CN" sz="2400">
                <a:latin typeface="+mj-lt"/>
                <a:ea typeface="楷体" panose="02010609060101010101" charset="-122"/>
                <a:cs typeface="+mj-lt"/>
              </a:rPr>
              <a:t>）</a:t>
            </a:r>
            <a:r>
              <a:rPr lang="zh-CN" altLang="en-US" sz="2400">
                <a:latin typeface="+mj-lt"/>
                <a:ea typeface="楷体" panose="02010609060101010101" charset="-122"/>
                <a:cs typeface="+mj-lt"/>
              </a:rPr>
              <a:t>。</a:t>
            </a:r>
            <a:endParaRPr lang="zh-CN" altLang="en-US" sz="2400">
              <a:latin typeface="+mj-lt"/>
              <a:ea typeface="楷体" panose="02010609060101010101" charset="-122"/>
              <a:cs typeface="+mj-lt"/>
            </a:endParaRPr>
          </a:p>
          <a:p>
            <a:pPr>
              <a:lnSpc>
                <a:spcPct val="120000"/>
              </a:lnSpc>
              <a:buNone/>
            </a:pPr>
            <a:r>
              <a:rPr lang="en-US" altLang="zh-CN" sz="2400">
                <a:latin typeface="+mj-lt"/>
                <a:ea typeface="楷体" panose="02010609060101010101" charset="-122"/>
                <a:cs typeface="+mj-lt"/>
              </a:rPr>
              <a:t>2</a:t>
            </a:r>
            <a:r>
              <a:rPr lang="zh-CN" altLang="en-US" sz="2400">
                <a:latin typeface="+mj-lt"/>
                <a:ea typeface="楷体" panose="02010609060101010101" charset="-122"/>
                <a:cs typeface="+mj-lt"/>
              </a:rPr>
              <a:t>．方案比较与论证 </a:t>
            </a:r>
            <a:endParaRPr lang="zh-CN" altLang="en-US" sz="2400">
              <a:latin typeface="+mj-lt"/>
              <a:ea typeface="楷体" panose="02010609060101010101" charset="-122"/>
              <a:cs typeface="+mj-lt"/>
            </a:endParaRPr>
          </a:p>
          <a:p>
            <a:pPr>
              <a:lnSpc>
                <a:spcPct val="120000"/>
              </a:lnSpc>
              <a:buNone/>
            </a:pPr>
            <a:r>
              <a:rPr lang="zh-CN" altLang="en-US" sz="2400">
                <a:latin typeface="+mj-lt"/>
                <a:ea typeface="楷体" panose="02010609060101010101" charset="-122"/>
                <a:cs typeface="+mj-lt"/>
              </a:rPr>
              <a:t>    </a:t>
            </a:r>
            <a:r>
              <a:rPr lang="en-US" altLang="zh-CN" sz="2400">
                <a:solidFill>
                  <a:srgbClr val="FF5050"/>
                </a:solidFill>
                <a:latin typeface="+mj-lt"/>
                <a:ea typeface="楷体" panose="02010609060101010101" charset="-122"/>
                <a:cs typeface="+mj-lt"/>
              </a:rPr>
              <a:t>（</a:t>
            </a:r>
            <a:r>
              <a:rPr lang="en-US" altLang="zh-CN" sz="2400">
                <a:solidFill>
                  <a:srgbClr val="FF5050"/>
                </a:solidFill>
                <a:latin typeface="+mj-lt"/>
                <a:ea typeface="楷体" panose="02010609060101010101" charset="-122"/>
                <a:cs typeface="+mj-lt"/>
              </a:rPr>
              <a:t>1）</a:t>
            </a:r>
            <a:r>
              <a:rPr lang="zh-CN" altLang="en-US" sz="2400">
                <a:solidFill>
                  <a:srgbClr val="FF5050"/>
                </a:solidFill>
                <a:latin typeface="+mj-lt"/>
                <a:ea typeface="楷体" panose="02010609060101010101" charset="-122"/>
                <a:cs typeface="+mj-lt"/>
              </a:rPr>
              <a:t>短波调频接收机设计方案</a:t>
            </a:r>
            <a:r>
              <a:rPr lang="en-US" altLang="zh-CN" sz="2400">
                <a:solidFill>
                  <a:srgbClr val="FF5050"/>
                </a:solidFill>
                <a:latin typeface="+mj-lt"/>
                <a:ea typeface="楷体" panose="02010609060101010101" charset="-122"/>
                <a:cs typeface="+mj-lt"/>
              </a:rPr>
              <a:t>1</a:t>
            </a:r>
            <a:r>
              <a:rPr lang="en-US" altLang="zh-CN" sz="2400">
                <a:latin typeface="+mj-lt"/>
                <a:ea typeface="楷体" panose="02010609060101010101" charset="-122"/>
                <a:cs typeface="+mj-lt"/>
              </a:rPr>
              <a:t> </a:t>
            </a:r>
            <a:endParaRPr lang="en-US" altLang="zh-CN" sz="2400">
              <a:latin typeface="+mj-lt"/>
              <a:ea typeface="楷体" panose="02010609060101010101" charset="-122"/>
              <a:cs typeface="+mj-lt"/>
            </a:endParaRPr>
          </a:p>
          <a:p>
            <a:pPr>
              <a:lnSpc>
                <a:spcPct val="120000"/>
              </a:lnSpc>
              <a:buNone/>
            </a:pPr>
            <a:r>
              <a:rPr lang="en-US" altLang="zh-CN" sz="2400">
                <a:latin typeface="+mj-lt"/>
                <a:ea typeface="楷体" panose="02010609060101010101" charset="-122"/>
                <a:cs typeface="+mj-lt"/>
              </a:rPr>
              <a:t>          </a:t>
            </a:r>
            <a:r>
              <a:rPr lang="zh-CN" altLang="en-US" sz="2400">
                <a:latin typeface="+mj-lt"/>
                <a:ea typeface="楷体" panose="02010609060101010101" charset="-122"/>
                <a:cs typeface="+mj-lt"/>
              </a:rPr>
              <a:t>短波调频接收机设计方案</a:t>
            </a:r>
            <a:r>
              <a:rPr lang="en-US" altLang="zh-CN" sz="2400">
                <a:latin typeface="+mj-lt"/>
                <a:ea typeface="楷体" panose="02010609060101010101" charset="-122"/>
                <a:cs typeface="+mj-lt"/>
              </a:rPr>
              <a:t>1</a:t>
            </a:r>
            <a:r>
              <a:rPr lang="zh-CN" altLang="en-US" sz="2400">
                <a:latin typeface="+mj-lt"/>
                <a:ea typeface="楷体" panose="02010609060101010101" charset="-122"/>
                <a:cs typeface="+mj-lt"/>
              </a:rPr>
              <a:t>如图</a:t>
            </a:r>
            <a:r>
              <a:rPr lang="en-US" altLang="zh-CN" sz="2400">
                <a:latin typeface="+mj-lt"/>
                <a:ea typeface="楷体" panose="02010609060101010101" charset="-122"/>
                <a:cs typeface="+mj-lt"/>
              </a:rPr>
              <a:t>X.X.X</a:t>
            </a:r>
            <a:r>
              <a:rPr lang="zh-CN" altLang="en-US" sz="2400">
                <a:latin typeface="+mj-lt"/>
                <a:ea typeface="楷体" panose="02010609060101010101" charset="-122"/>
                <a:cs typeface="+mj-lt"/>
              </a:rPr>
              <a:t>所示。系统采用窄带</a:t>
            </a:r>
            <a:r>
              <a:rPr lang="en-US" altLang="zh-CN" sz="2400">
                <a:latin typeface="+mj-lt"/>
                <a:ea typeface="楷体" panose="02010609060101010101" charset="-122"/>
                <a:cs typeface="+mj-lt"/>
              </a:rPr>
              <a:t>FM/IF</a:t>
            </a:r>
            <a:r>
              <a:rPr lang="zh-CN" altLang="en-US" sz="2400">
                <a:latin typeface="+mj-lt"/>
                <a:ea typeface="楷体" panose="02010609060101010101" charset="-122"/>
                <a:cs typeface="+mj-lt"/>
              </a:rPr>
              <a:t>芯片</a:t>
            </a:r>
            <a:r>
              <a:rPr lang="en-US" altLang="zh-CN" sz="2400">
                <a:latin typeface="+mj-lt"/>
                <a:ea typeface="楷体" panose="02010609060101010101" charset="-122"/>
                <a:cs typeface="+mj-lt"/>
              </a:rPr>
              <a:t>MC3361B</a:t>
            </a:r>
            <a:r>
              <a:rPr lang="zh-CN" altLang="en-US" sz="2400">
                <a:latin typeface="+mj-lt"/>
                <a:ea typeface="楷体" panose="02010609060101010101" charset="-122"/>
                <a:cs typeface="+mj-lt"/>
              </a:rPr>
              <a:t>完成混频、中放解调，以</a:t>
            </a:r>
            <a:r>
              <a:rPr lang="en-US" altLang="zh-CN" sz="2400">
                <a:latin typeface="+mj-lt"/>
                <a:ea typeface="楷体" panose="02010609060101010101" charset="-122"/>
                <a:cs typeface="+mj-lt"/>
              </a:rPr>
              <a:t>PLL</a:t>
            </a:r>
            <a:r>
              <a:rPr lang="zh-CN" altLang="en-US" sz="2400">
                <a:latin typeface="+mj-lt"/>
                <a:ea typeface="楷体" panose="02010609060101010101" charset="-122"/>
                <a:cs typeface="+mj-lt"/>
              </a:rPr>
              <a:t>频率合成方法产生稳定的本振，以</a:t>
            </a:r>
            <a:r>
              <a:rPr lang="en-US" altLang="zh-CN" sz="2400">
                <a:latin typeface="+mj-lt"/>
                <a:ea typeface="楷体" panose="02010609060101010101" charset="-122"/>
                <a:cs typeface="+mj-lt"/>
              </a:rPr>
              <a:t>D/A</a:t>
            </a:r>
            <a:r>
              <a:rPr lang="zh-CN" altLang="en-US" sz="2400">
                <a:latin typeface="+mj-lt"/>
                <a:ea typeface="楷体" panose="02010609060101010101" charset="-122"/>
                <a:cs typeface="+mj-lt"/>
              </a:rPr>
              <a:t>转换方法控制输入调谐回路的谐振频率，从而实现电调谐。采用</a:t>
            </a:r>
            <a:r>
              <a:rPr lang="en-US" altLang="zh-CN" sz="2400">
                <a:latin typeface="+mj-lt"/>
                <a:ea typeface="楷体" panose="02010609060101010101" charset="-122"/>
                <a:cs typeface="+mj-lt"/>
              </a:rPr>
              <a:t>MCS-51</a:t>
            </a:r>
            <a:r>
              <a:rPr lang="zh-CN" altLang="en-US" sz="2400">
                <a:latin typeface="+mj-lt"/>
                <a:ea typeface="楷体" panose="02010609060101010101" charset="-122"/>
                <a:cs typeface="+mj-lt"/>
              </a:rPr>
              <a:t>系列单片机对串行输入锁相频率合成器</a:t>
            </a:r>
            <a:r>
              <a:rPr lang="en-US" altLang="zh-CN" sz="2400">
                <a:latin typeface="+mj-lt"/>
                <a:ea typeface="楷体" panose="02010609060101010101" charset="-122"/>
                <a:cs typeface="+mj-lt"/>
              </a:rPr>
              <a:t>MCl45155-2</a:t>
            </a:r>
            <a:r>
              <a:rPr lang="zh-CN" altLang="en-US" sz="2400">
                <a:latin typeface="+mj-lt"/>
                <a:ea typeface="楷体" panose="02010609060101010101" charset="-122"/>
                <a:cs typeface="+mj-lt"/>
              </a:rPr>
              <a:t>的分频比进行预置，通过</a:t>
            </a:r>
            <a:r>
              <a:rPr lang="en-US" altLang="zh-CN" sz="2400">
                <a:latin typeface="+mj-lt"/>
                <a:ea typeface="楷体" panose="02010609060101010101" charset="-122"/>
                <a:cs typeface="+mj-lt"/>
              </a:rPr>
              <a:t>D</a:t>
            </a:r>
            <a:r>
              <a:rPr lang="zh-CN" altLang="en-US" sz="2400">
                <a:latin typeface="+mj-lt"/>
                <a:ea typeface="楷体" panose="02010609060101010101" charset="-122"/>
                <a:cs typeface="+mj-lt"/>
              </a:rPr>
              <a:t>／</a:t>
            </a:r>
            <a:r>
              <a:rPr lang="en-US" altLang="zh-CN" sz="2400">
                <a:latin typeface="+mj-lt"/>
                <a:ea typeface="楷体" panose="02010609060101010101" charset="-122"/>
                <a:cs typeface="+mj-lt"/>
              </a:rPr>
              <a:t>A</a:t>
            </a:r>
            <a:r>
              <a:rPr lang="zh-CN" altLang="en-US" sz="2400">
                <a:latin typeface="+mj-lt"/>
                <a:ea typeface="楷体" panose="02010609060101010101" charset="-122"/>
                <a:cs typeface="+mj-lt"/>
              </a:rPr>
              <a:t>输出控制电压，采用</a:t>
            </a:r>
            <a:r>
              <a:rPr lang="en-US" altLang="zh-CN" sz="2400">
                <a:latin typeface="+mj-lt"/>
                <a:ea typeface="楷体" panose="02010609060101010101" charset="-122"/>
                <a:cs typeface="+mj-lt"/>
              </a:rPr>
              <a:t>8279</a:t>
            </a:r>
            <a:r>
              <a:rPr lang="zh-CN" altLang="en-US" sz="2400">
                <a:latin typeface="+mj-lt"/>
                <a:ea typeface="楷体" panose="02010609060101010101" charset="-122"/>
                <a:cs typeface="+mj-lt"/>
              </a:rPr>
              <a:t>键盘显示电路，以串行</a:t>
            </a:r>
            <a:r>
              <a:rPr lang="en-US" altLang="zh-CN" sz="2400">
                <a:latin typeface="+mj-lt"/>
                <a:ea typeface="楷体" panose="02010609060101010101" charset="-122"/>
                <a:cs typeface="+mj-lt"/>
              </a:rPr>
              <a:t>E2PROM</a:t>
            </a:r>
            <a:r>
              <a:rPr lang="zh-CN" altLang="en-US" sz="2400">
                <a:latin typeface="+mj-lt"/>
                <a:ea typeface="楷体" panose="02010609060101010101" charset="-122"/>
                <a:cs typeface="+mj-lt"/>
              </a:rPr>
              <a:t>实现多种程控搜索、电台存储和载波显示。</a:t>
            </a:r>
            <a:endParaRPr lang="zh-CN" altLang="en-US" sz="2400">
              <a:latin typeface="+mj-lt"/>
              <a:ea typeface="楷体" panose="02010609060101010101" charset="-122"/>
              <a:cs typeface="+mj-lt"/>
            </a:endParaRPr>
          </a:p>
        </p:txBody>
      </p:sp>
    </p:spTree>
  </p:cSld>
  <p:clrMapOvr>
    <a:masterClrMapping/>
  </p:clrMapOvr>
  <p:transition>
    <p:pull dir="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20481"/>
          <p:cNvSpPr>
            <a:spLocks noGrp="1" noRot="1"/>
          </p:cNvSpPr>
          <p:nvPr>
            <p:ph type="title"/>
          </p:nvPr>
        </p:nvSpPr>
        <p:spPr>
          <a:xfrm>
            <a:off x="965200" y="838200"/>
            <a:ext cx="8540750" cy="620713"/>
          </a:xfrm>
        </p:spPr>
        <p:txBody>
          <a:bodyPr anchor="ctr"/>
          <a:p>
            <a:r>
              <a:rPr lang="en-US" altLang="zh-CN" sz="4000" b="1">
                <a:solidFill>
                  <a:schemeClr val="hlink"/>
                </a:solidFill>
                <a:ea typeface="楷体" panose="02010609060101010101" charset="-122"/>
                <a:cs typeface="+mj-lt"/>
              </a:rPr>
              <a:t>3. 2  </a:t>
            </a:r>
            <a:r>
              <a:rPr lang="zh-CN" altLang="en-US" sz="4000" b="1">
                <a:solidFill>
                  <a:schemeClr val="hlink"/>
                </a:solidFill>
                <a:ea typeface="楷体" panose="02010609060101010101" charset="-122"/>
                <a:cs typeface="+mj-lt"/>
              </a:rPr>
              <a:t>方案比较设计与论证</a:t>
            </a:r>
            <a:r>
              <a:rPr lang="zh-CN" altLang="en-US" sz="2400" u="sng">
                <a:solidFill>
                  <a:srgbClr val="FF0000"/>
                </a:solidFill>
                <a:ea typeface="楷体" panose="02010609060101010101" charset="-122"/>
                <a:cs typeface="+mj-lt"/>
                <a:sym typeface="+mn-ea"/>
              </a:rPr>
              <a:t>（</a:t>
            </a:r>
            <a:r>
              <a:rPr lang="zh-CN" sz="2400" u="sng">
                <a:solidFill>
                  <a:srgbClr val="FF0000"/>
                </a:solidFill>
                <a:ea typeface="楷体" panose="02010609060101010101" charset="-122"/>
                <a:cs typeface="+mj-lt"/>
                <a:sym typeface="+mn-ea"/>
              </a:rPr>
              <a:t>案例）</a:t>
            </a:r>
            <a:endParaRPr lang="en-US" altLang="zh-CN" sz="2400" b="1">
              <a:solidFill>
                <a:srgbClr val="FF0000"/>
              </a:solidFill>
              <a:ea typeface="楷体" panose="02010609060101010101" charset="-122"/>
              <a:cs typeface="+mj-lt"/>
            </a:endParaRPr>
          </a:p>
        </p:txBody>
      </p:sp>
      <p:sp>
        <p:nvSpPr>
          <p:cNvPr id="20483" name="文本占位符 20482"/>
          <p:cNvSpPr>
            <a:spLocks noGrp="1" noRot="1"/>
          </p:cNvSpPr>
          <p:nvPr>
            <p:ph type="body" idx="1"/>
          </p:nvPr>
        </p:nvSpPr>
        <p:spPr>
          <a:xfrm>
            <a:off x="488950" y="1743075"/>
            <a:ext cx="11395075" cy="4370070"/>
          </a:xfrm>
        </p:spPr>
        <p:txBody>
          <a:bodyPr/>
          <a:p>
            <a:pPr>
              <a:lnSpc>
                <a:spcPct val="120000"/>
              </a:lnSpc>
              <a:buNone/>
            </a:pPr>
            <a:r>
              <a:rPr lang="en-US" altLang="zh-CN" sz="2800">
                <a:solidFill>
                  <a:srgbClr val="FF5050"/>
                </a:solidFill>
                <a:latin typeface="+mj-lt"/>
                <a:ea typeface="楷体" panose="02010609060101010101" charset="-122"/>
                <a:cs typeface="+mj-lt"/>
              </a:rPr>
              <a:t>（2）</a:t>
            </a:r>
            <a:r>
              <a:rPr lang="zh-CN" altLang="en-US" sz="2800">
                <a:solidFill>
                  <a:srgbClr val="FF5050"/>
                </a:solidFill>
                <a:latin typeface="+mj-lt"/>
                <a:ea typeface="楷体" panose="02010609060101010101" charset="-122"/>
                <a:cs typeface="+mj-lt"/>
              </a:rPr>
              <a:t>短波调频接收机设计方案</a:t>
            </a:r>
            <a:r>
              <a:rPr lang="en-US" altLang="zh-CN" sz="2800">
                <a:solidFill>
                  <a:srgbClr val="FF5050"/>
                </a:solidFill>
                <a:latin typeface="+mj-lt"/>
                <a:ea typeface="楷体" panose="02010609060101010101" charset="-122"/>
                <a:cs typeface="+mj-lt"/>
              </a:rPr>
              <a:t>2</a:t>
            </a:r>
            <a:endParaRPr lang="en-US" altLang="zh-CN" sz="2800">
              <a:solidFill>
                <a:srgbClr val="FF5050"/>
              </a:solidFill>
              <a:latin typeface="+mj-lt"/>
              <a:ea typeface="楷体" panose="02010609060101010101" charset="-122"/>
              <a:cs typeface="+mj-lt"/>
            </a:endParaRPr>
          </a:p>
          <a:p>
            <a:pPr>
              <a:lnSpc>
                <a:spcPct val="120000"/>
              </a:lnSpc>
              <a:buNone/>
            </a:pPr>
            <a:r>
              <a:rPr lang="en-US" altLang="zh-CN" sz="2800">
                <a:latin typeface="+mj-lt"/>
                <a:ea typeface="楷体" panose="02010609060101010101" charset="-122"/>
                <a:cs typeface="+mj-lt"/>
              </a:rPr>
              <a:t>          </a:t>
            </a:r>
            <a:r>
              <a:rPr lang="zh-CN" altLang="en-US" sz="2800">
                <a:latin typeface="+mj-lt"/>
                <a:ea typeface="楷体" panose="02010609060101010101" charset="-122"/>
                <a:cs typeface="+mj-lt"/>
              </a:rPr>
              <a:t>短波调频接收机设计方案</a:t>
            </a:r>
            <a:r>
              <a:rPr lang="en-US" altLang="zh-CN" sz="2800">
                <a:latin typeface="+mj-lt"/>
                <a:ea typeface="楷体" panose="02010609060101010101" charset="-122"/>
                <a:cs typeface="+mj-lt"/>
              </a:rPr>
              <a:t>2</a:t>
            </a:r>
            <a:r>
              <a:rPr lang="zh-CN" altLang="en-US" sz="2800">
                <a:latin typeface="+mj-lt"/>
                <a:ea typeface="楷体" panose="02010609060101010101" charset="-122"/>
                <a:cs typeface="+mj-lt"/>
              </a:rPr>
              <a:t>如图</a:t>
            </a:r>
            <a:r>
              <a:rPr lang="en-US" altLang="zh-CN" sz="2800">
                <a:latin typeface="+mj-lt"/>
                <a:ea typeface="楷体" panose="02010609060101010101" charset="-122"/>
                <a:cs typeface="+mj-lt"/>
              </a:rPr>
              <a:t>X.X.X</a:t>
            </a:r>
            <a:r>
              <a:rPr lang="zh-CN" altLang="en-US" sz="2800">
                <a:latin typeface="+mj-lt"/>
                <a:ea typeface="楷体" panose="02010609060101010101" charset="-122"/>
                <a:cs typeface="+mj-lt"/>
              </a:rPr>
              <a:t>所示。系统由接收机、频率合成器、单片机系统三部分组成。从天线输入的信号经</a:t>
            </a:r>
            <a:r>
              <a:rPr lang="en-US" altLang="zh-CN" sz="2800">
                <a:latin typeface="+mj-lt"/>
                <a:ea typeface="楷体" panose="02010609060101010101" charset="-122"/>
                <a:cs typeface="+mj-lt"/>
              </a:rPr>
              <a:t>8-10 MHz</a:t>
            </a:r>
            <a:r>
              <a:rPr lang="zh-CN" altLang="en-US" sz="2800">
                <a:latin typeface="+mj-lt"/>
                <a:ea typeface="楷体" panose="02010609060101010101" charset="-122"/>
                <a:cs typeface="+mj-lt"/>
              </a:rPr>
              <a:t>带通滤波器滤波、</a:t>
            </a:r>
            <a:r>
              <a:rPr lang="en-US" altLang="zh-CN" sz="2800">
                <a:latin typeface="+mj-lt"/>
                <a:ea typeface="楷体" panose="02010609060101010101" charset="-122"/>
                <a:cs typeface="+mj-lt"/>
              </a:rPr>
              <a:t>10.7 MHz</a:t>
            </a:r>
            <a:r>
              <a:rPr lang="zh-CN" altLang="en-US" sz="2800">
                <a:latin typeface="+mj-lt"/>
                <a:ea typeface="楷体" panose="02010609060101010101" charset="-122"/>
                <a:cs typeface="+mj-lt"/>
              </a:rPr>
              <a:t>陷波器陷波后</a:t>
            </a:r>
            <a:r>
              <a:rPr lang="en-US" altLang="zh-CN" sz="2800">
                <a:latin typeface="+mj-lt"/>
                <a:ea typeface="楷体" panose="02010609060101010101" charset="-122"/>
                <a:cs typeface="+mj-lt"/>
              </a:rPr>
              <a:t>（</a:t>
            </a:r>
            <a:r>
              <a:rPr lang="zh-CN" altLang="en-US" sz="2800">
                <a:latin typeface="+mj-lt"/>
                <a:ea typeface="楷体" panose="02010609060101010101" charset="-122"/>
                <a:cs typeface="+mj-lt"/>
              </a:rPr>
              <a:t>抑制中频干扰</a:t>
            </a:r>
            <a:r>
              <a:rPr lang="en-US" altLang="zh-CN" sz="2800">
                <a:latin typeface="+mj-lt"/>
                <a:ea typeface="楷体" panose="02010609060101010101" charset="-122"/>
                <a:cs typeface="+mj-lt"/>
              </a:rPr>
              <a:t>）</a:t>
            </a:r>
            <a:r>
              <a:rPr lang="zh-CN" altLang="en-US" sz="2800">
                <a:latin typeface="+mj-lt"/>
                <a:ea typeface="楷体" panose="02010609060101010101" charset="-122"/>
                <a:cs typeface="+mj-lt"/>
              </a:rPr>
              <a:t>，送入</a:t>
            </a:r>
            <a:r>
              <a:rPr lang="en-US" altLang="zh-CN" sz="2800">
                <a:latin typeface="+mj-lt"/>
                <a:ea typeface="楷体" panose="02010609060101010101" charset="-122"/>
                <a:cs typeface="+mj-lt"/>
              </a:rPr>
              <a:t>MC3362</a:t>
            </a:r>
            <a:r>
              <a:rPr lang="zh-CN" altLang="en-US" sz="2800">
                <a:latin typeface="+mj-lt"/>
                <a:ea typeface="楷体" panose="02010609060101010101" charset="-122"/>
                <a:cs typeface="+mj-lt"/>
              </a:rPr>
              <a:t>进行二次混频、鉴频处理，还原出音频信号。</a:t>
            </a:r>
            <a:r>
              <a:rPr lang="en-US" altLang="zh-CN" sz="2800">
                <a:latin typeface="+mj-lt"/>
                <a:ea typeface="楷体" panose="02010609060101010101" charset="-122"/>
                <a:cs typeface="+mj-lt"/>
              </a:rPr>
              <a:t>MC3362</a:t>
            </a:r>
            <a:r>
              <a:rPr lang="zh-CN" altLang="en-US" sz="2800">
                <a:latin typeface="+mj-lt"/>
                <a:ea typeface="楷体" panose="02010609060101010101" charset="-122"/>
                <a:cs typeface="+mj-lt"/>
              </a:rPr>
              <a:t>的本振频率由频率合成器产生，并给单片机提供锁台电平，同时单片机系统根据不同的搜索模式产生相应的并行码送至频率合成器，产生不同频率的本振信号，并在数码管上显示出相应信息。</a:t>
            </a:r>
            <a:endParaRPr lang="zh-CN" altLang="en-US" sz="2800">
              <a:latin typeface="+mj-lt"/>
              <a:ea typeface="楷体" panose="02010609060101010101" charset="-122"/>
              <a:cs typeface="+mj-lt"/>
            </a:endParaRPr>
          </a:p>
        </p:txBody>
      </p:sp>
    </p:spTree>
  </p:cSld>
  <p:clrMapOvr>
    <a:masterClrMapping/>
  </p:clrMapOvr>
  <p:transition>
    <p:pull dir="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7" name="文本占位符 21506"/>
          <p:cNvSpPr>
            <a:spLocks noGrp="1" noRot="1"/>
          </p:cNvSpPr>
          <p:nvPr>
            <p:ph type="body" idx="1"/>
          </p:nvPr>
        </p:nvSpPr>
        <p:spPr>
          <a:xfrm>
            <a:off x="424180" y="1700530"/>
            <a:ext cx="11317605" cy="4171315"/>
          </a:xfrm>
        </p:spPr>
        <p:txBody>
          <a:bodyPr/>
          <a:p>
            <a:pPr marL="10160" indent="718820">
              <a:lnSpc>
                <a:spcPct val="120000"/>
              </a:lnSpc>
              <a:buNone/>
            </a:pPr>
            <a:r>
              <a:rPr lang="zh-CN" altLang="en-US">
                <a:latin typeface="楷体" panose="02010609060101010101" charset="-122"/>
                <a:ea typeface="楷体" panose="02010609060101010101" charset="-122"/>
                <a:cs typeface="楷体" panose="02010609060101010101" charset="-122"/>
              </a:rPr>
              <a:t>调谐方式采用</a:t>
            </a:r>
            <a:r>
              <a:rPr lang="en-US" altLang="zh-CN">
                <a:latin typeface="楷体" panose="02010609060101010101" charset="-122"/>
                <a:ea typeface="楷体" panose="02010609060101010101" charset="-122"/>
                <a:cs typeface="楷体" panose="02010609060101010101" charset="-122"/>
              </a:rPr>
              <a:t>PLL</a:t>
            </a:r>
            <a:r>
              <a:rPr lang="zh-CN" altLang="en-US">
                <a:latin typeface="楷体" panose="02010609060101010101" charset="-122"/>
                <a:ea typeface="楷体" panose="02010609060101010101" charset="-122"/>
                <a:cs typeface="楷体" panose="02010609060101010101" charset="-122"/>
              </a:rPr>
              <a:t>频率合成方式。利用锁相频率合成技术，可以获得高稳定度的本振信号。通过改变可编程分频器的预置数值，可得到一系列的本振信号，此时本振的稳定度与晶振的频率稳定度相同，而且能在单片机的控制下实现频率步进搜索、自动搜索、预置电台、载频显示等功能。</a:t>
            </a:r>
            <a:endParaRPr lang="zh-CN" altLang="en-US">
              <a:latin typeface="楷体" panose="02010609060101010101" charset="-122"/>
              <a:ea typeface="楷体" panose="02010609060101010101" charset="-122"/>
              <a:cs typeface="楷体" panose="02010609060101010101" charset="-122"/>
            </a:endParaRPr>
          </a:p>
          <a:p>
            <a:pPr marL="10160" indent="718820">
              <a:lnSpc>
                <a:spcPct val="120000"/>
              </a:lnSpc>
              <a:buNone/>
            </a:pPr>
            <a:r>
              <a:rPr lang="zh-CN" altLang="en-US">
                <a:latin typeface="楷体" panose="02010609060101010101" charset="-122"/>
                <a:ea typeface="楷体" panose="02010609060101010101" charset="-122"/>
                <a:cs typeface="楷体" panose="02010609060101010101" charset="-122"/>
              </a:rPr>
              <a:t>    </a:t>
            </a:r>
            <a:r>
              <a:rPr lang="en-US" altLang="zh-CN">
                <a:latin typeface="楷体" panose="02010609060101010101" charset="-122"/>
                <a:ea typeface="楷体" panose="02010609060101010101" charset="-122"/>
                <a:cs typeface="楷体" panose="02010609060101010101" charset="-122"/>
              </a:rPr>
              <a:t>……       </a:t>
            </a:r>
            <a:endParaRPr lang="en-US" altLang="zh-CN">
              <a:latin typeface="楷体" panose="02010609060101010101" charset="-122"/>
              <a:ea typeface="楷体" panose="02010609060101010101" charset="-122"/>
              <a:cs typeface="楷体" panose="02010609060101010101" charset="-122"/>
            </a:endParaRPr>
          </a:p>
        </p:txBody>
      </p:sp>
      <p:sp>
        <p:nvSpPr>
          <p:cNvPr id="20482" name="标题 20481"/>
          <p:cNvSpPr>
            <a:spLocks noGrp="1" noRot="1"/>
          </p:cNvSpPr>
          <p:nvPr>
            <p:ph type="title"/>
          </p:nvPr>
        </p:nvSpPr>
        <p:spPr>
          <a:xfrm>
            <a:off x="965200" y="838200"/>
            <a:ext cx="8540750" cy="620713"/>
          </a:xfrm>
        </p:spPr>
        <p:txBody>
          <a:bodyPr anchor="ctr"/>
          <a:p>
            <a:r>
              <a:rPr lang="en-US" altLang="zh-CN" sz="4000" b="1">
                <a:solidFill>
                  <a:schemeClr val="hlink"/>
                </a:solidFill>
                <a:latin typeface="楷体" panose="02010609060101010101" charset="-122"/>
                <a:ea typeface="楷体" panose="02010609060101010101" charset="-122"/>
                <a:cs typeface="楷体" panose="02010609060101010101" charset="-122"/>
              </a:rPr>
              <a:t>3.2 </a:t>
            </a:r>
            <a:r>
              <a:rPr lang="zh-CN" altLang="en-US" sz="4000" b="1">
                <a:solidFill>
                  <a:schemeClr val="hlink"/>
                </a:solidFill>
                <a:latin typeface="楷体" panose="02010609060101010101" charset="-122"/>
                <a:ea typeface="楷体" panose="02010609060101010101" charset="-122"/>
                <a:cs typeface="楷体" panose="02010609060101010101" charset="-122"/>
              </a:rPr>
              <a:t>方案比较设计与论证</a:t>
            </a:r>
            <a:r>
              <a:rPr lang="zh-CN" altLang="en-US" sz="2400" u="sng">
                <a:solidFill>
                  <a:srgbClr val="FF0000"/>
                </a:solidFill>
                <a:latin typeface="楷体" panose="02010609060101010101" charset="-122"/>
                <a:ea typeface="楷体" panose="02010609060101010101" charset="-122"/>
                <a:cs typeface="楷体" panose="02010609060101010101" charset="-122"/>
                <a:sym typeface="+mn-ea"/>
              </a:rPr>
              <a:t>（</a:t>
            </a:r>
            <a:r>
              <a:rPr lang="zh-CN" sz="2400" u="sng">
                <a:solidFill>
                  <a:srgbClr val="FF0000"/>
                </a:solidFill>
                <a:latin typeface="楷体" panose="02010609060101010101" charset="-122"/>
                <a:ea typeface="楷体" panose="02010609060101010101" charset="-122"/>
                <a:cs typeface="楷体" panose="02010609060101010101" charset="-122"/>
                <a:sym typeface="+mn-ea"/>
              </a:rPr>
              <a:t>案例）</a:t>
            </a:r>
            <a:endParaRPr lang="en-US" altLang="zh-CN" sz="2400" b="1">
              <a:solidFill>
                <a:srgbClr val="FF0000"/>
              </a:solidFill>
              <a:latin typeface="楷体" panose="02010609060101010101" charset="-122"/>
              <a:ea typeface="楷体" panose="02010609060101010101" charset="-122"/>
              <a:cs typeface="楷体" panose="02010609060101010101" charset="-122"/>
            </a:endParaRPr>
          </a:p>
        </p:txBody>
      </p:sp>
    </p:spTree>
  </p:cSld>
  <p:clrMapOvr>
    <a:masterClrMapping/>
  </p:clrMapOvr>
  <p:transition>
    <p:pull dir="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1" name="文本占位符 22530"/>
          <p:cNvSpPr>
            <a:spLocks noGrp="1" noRot="1"/>
          </p:cNvSpPr>
          <p:nvPr>
            <p:ph type="body" idx="1"/>
          </p:nvPr>
        </p:nvSpPr>
        <p:spPr>
          <a:xfrm>
            <a:off x="842010" y="1243965"/>
            <a:ext cx="10893425" cy="4850130"/>
          </a:xfrm>
        </p:spPr>
        <p:txBody>
          <a:bodyPr/>
          <a:p>
            <a:pPr marL="0" indent="715010" eaLnBrk="1">
              <a:lnSpc>
                <a:spcPct val="140000"/>
              </a:lnSpc>
              <a:spcBef>
                <a:spcPts val="0"/>
              </a:spcBef>
              <a:buNone/>
            </a:pPr>
            <a:r>
              <a:rPr lang="zh-CN" altLang="en-US" sz="2800">
                <a:latin typeface="+mj-lt"/>
                <a:ea typeface="楷体" panose="02010609060101010101" charset="-122"/>
                <a:cs typeface="+mj-lt"/>
              </a:rPr>
              <a:t>经过方案比较与论证，发射和接收部分的组成框图分别如图</a:t>
            </a:r>
            <a:r>
              <a:rPr lang="en-US" altLang="zh-CN" sz="2800">
                <a:latin typeface="+mj-lt"/>
                <a:ea typeface="楷体" panose="02010609060101010101" charset="-122"/>
                <a:cs typeface="+mj-lt"/>
              </a:rPr>
              <a:t>X.X.a</a:t>
            </a:r>
            <a:r>
              <a:rPr lang="zh-CN" altLang="en-US" sz="2800">
                <a:latin typeface="+mj-lt"/>
                <a:ea typeface="楷体" panose="02010609060101010101" charset="-122"/>
                <a:cs typeface="+mj-lt"/>
              </a:rPr>
              <a:t>和图</a:t>
            </a:r>
            <a:r>
              <a:rPr lang="en-US" altLang="zh-CN" sz="2800">
                <a:latin typeface="+mj-lt"/>
                <a:ea typeface="楷体" panose="02010609060101010101" charset="-122"/>
                <a:cs typeface="+mj-lt"/>
              </a:rPr>
              <a:t>X.X.b</a:t>
            </a:r>
            <a:r>
              <a:rPr lang="zh-CN" altLang="en-US" sz="2800">
                <a:latin typeface="+mj-lt"/>
                <a:ea typeface="楷体" panose="02010609060101010101" charset="-122"/>
                <a:cs typeface="+mj-lt"/>
              </a:rPr>
              <a:t>所示。其中发射部分的集成电路</a:t>
            </a:r>
            <a:r>
              <a:rPr lang="en-US" altLang="zh-CN" sz="2800">
                <a:latin typeface="+mj-lt"/>
                <a:ea typeface="楷体" panose="02010609060101010101" charset="-122"/>
                <a:cs typeface="+mj-lt"/>
              </a:rPr>
              <a:t>MCl648</a:t>
            </a:r>
            <a:r>
              <a:rPr lang="zh-CN" altLang="en-US" sz="2800">
                <a:latin typeface="+mj-lt"/>
                <a:ea typeface="楷体" panose="02010609060101010101" charset="-122"/>
                <a:cs typeface="+mj-lt"/>
              </a:rPr>
              <a:t>、</a:t>
            </a:r>
            <a:r>
              <a:rPr lang="en-US" altLang="zh-CN" sz="2800">
                <a:latin typeface="+mj-lt"/>
                <a:ea typeface="楷体" panose="02010609060101010101" charset="-122"/>
                <a:cs typeface="+mj-lt"/>
              </a:rPr>
              <a:t>MCl45152</a:t>
            </a:r>
            <a:r>
              <a:rPr lang="zh-CN" altLang="en-US" sz="2800">
                <a:latin typeface="+mj-lt"/>
                <a:ea typeface="楷体" panose="02010609060101010101" charset="-122"/>
                <a:cs typeface="+mj-lt"/>
              </a:rPr>
              <a:t>、</a:t>
            </a:r>
            <a:r>
              <a:rPr lang="en-US" altLang="zh-CN" sz="2800">
                <a:latin typeface="+mj-lt"/>
                <a:ea typeface="楷体" panose="02010609060101010101" charset="-122"/>
                <a:cs typeface="+mj-lt"/>
              </a:rPr>
              <a:t>MCl2022</a:t>
            </a:r>
            <a:r>
              <a:rPr lang="zh-CN" altLang="en-US" sz="2800">
                <a:latin typeface="+mj-lt"/>
                <a:ea typeface="楷体" panose="02010609060101010101" charset="-122"/>
                <a:cs typeface="+mj-lt"/>
              </a:rPr>
              <a:t>、低通滤波器和晶振构成锁相环频率合成器、音频处理器、数据编码器、单片机进行数据处理、按键处理、</a:t>
            </a:r>
            <a:r>
              <a:rPr lang="en-US" altLang="zh-CN" sz="2800">
                <a:latin typeface="+mj-lt"/>
                <a:ea typeface="楷体" panose="02010609060101010101" charset="-122"/>
                <a:cs typeface="+mj-lt"/>
              </a:rPr>
              <a:t>LCD</a:t>
            </a:r>
            <a:r>
              <a:rPr lang="zh-CN" altLang="en-US" sz="2800">
                <a:latin typeface="+mj-lt"/>
                <a:ea typeface="楷体" panose="02010609060101010101" charset="-122"/>
                <a:cs typeface="+mj-lt"/>
              </a:rPr>
              <a:t>驱动。接收部分由收音模块、音频输出模块、数据接收模块以及控制模块四大部分组成，单片机起控制作用。电路中既有数字电路又有高频电路，需将高频地和数字地分开，以及高频电路用金属屏蔽隔离，以减小交叉调制等干扰。</a:t>
            </a:r>
            <a:endParaRPr lang="zh-CN" altLang="en-US" sz="2800">
              <a:latin typeface="+mj-lt"/>
              <a:ea typeface="楷体" panose="02010609060101010101" charset="-122"/>
              <a:cs typeface="+mj-lt"/>
            </a:endParaRPr>
          </a:p>
          <a:p>
            <a:endParaRPr lang="zh-CN" altLang="en-US" sz="2800">
              <a:latin typeface="+mj-lt"/>
              <a:ea typeface="楷体" panose="02010609060101010101" charset="-122"/>
              <a:cs typeface="+mj-lt"/>
            </a:endParaRPr>
          </a:p>
        </p:txBody>
      </p:sp>
      <p:sp>
        <p:nvSpPr>
          <p:cNvPr id="20482" name="标题 20481"/>
          <p:cNvSpPr>
            <a:spLocks noGrp="1" noRot="1"/>
          </p:cNvSpPr>
          <p:nvPr>
            <p:ph type="title"/>
          </p:nvPr>
        </p:nvSpPr>
        <p:spPr>
          <a:xfrm>
            <a:off x="965200" y="622935"/>
            <a:ext cx="8540750" cy="620713"/>
          </a:xfrm>
        </p:spPr>
        <p:txBody>
          <a:bodyPr anchor="ctr"/>
          <a:p>
            <a:r>
              <a:rPr lang="en-US" altLang="zh-CN" sz="4000" b="1">
                <a:solidFill>
                  <a:schemeClr val="hlink"/>
                </a:solidFill>
                <a:ea typeface="楷体" panose="02010609060101010101" charset="-122"/>
                <a:cs typeface="+mj-lt"/>
              </a:rPr>
              <a:t>3.2  </a:t>
            </a:r>
            <a:r>
              <a:rPr lang="zh-CN" altLang="en-US" sz="4000" b="1">
                <a:solidFill>
                  <a:schemeClr val="hlink"/>
                </a:solidFill>
                <a:ea typeface="楷体" panose="02010609060101010101" charset="-122"/>
                <a:cs typeface="+mj-lt"/>
              </a:rPr>
              <a:t>方案比较设计与论证</a:t>
            </a:r>
            <a:r>
              <a:rPr lang="zh-CN" altLang="en-US" sz="2400" u="sng">
                <a:solidFill>
                  <a:srgbClr val="FF0000"/>
                </a:solidFill>
                <a:ea typeface="楷体" panose="02010609060101010101" charset="-122"/>
                <a:cs typeface="+mj-lt"/>
                <a:sym typeface="+mn-ea"/>
              </a:rPr>
              <a:t>（</a:t>
            </a:r>
            <a:r>
              <a:rPr lang="zh-CN" sz="2400" u="sng">
                <a:solidFill>
                  <a:srgbClr val="FF0000"/>
                </a:solidFill>
                <a:ea typeface="楷体" panose="02010609060101010101" charset="-122"/>
                <a:cs typeface="+mj-lt"/>
                <a:sym typeface="+mn-ea"/>
              </a:rPr>
              <a:t>案例）</a:t>
            </a:r>
            <a:endParaRPr lang="en-US" altLang="zh-CN" sz="2400" b="1">
              <a:solidFill>
                <a:srgbClr val="FF0000"/>
              </a:solidFill>
              <a:ea typeface="楷体" panose="02010609060101010101" charset="-122"/>
              <a:cs typeface="+mj-lt"/>
            </a:endParaRPr>
          </a:p>
        </p:txBody>
      </p:sp>
    </p:spTree>
  </p:cSld>
  <p:clrMapOvr>
    <a:masterClrMapping/>
  </p:clrMapOvr>
  <p:transition>
    <p:pull dir="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标题 23553"/>
          <p:cNvSpPr>
            <a:spLocks noGrp="1" noRot="1"/>
          </p:cNvSpPr>
          <p:nvPr>
            <p:ph type="title"/>
          </p:nvPr>
        </p:nvSpPr>
        <p:spPr>
          <a:xfrm>
            <a:off x="1542415" y="809943"/>
            <a:ext cx="8540750" cy="792162"/>
          </a:xfrm>
        </p:spPr>
        <p:txBody>
          <a:bodyPr anchor="ctr"/>
          <a:p>
            <a:r>
              <a:rPr lang="en-US" altLang="zh-CN" sz="4000" b="1" u="sng">
                <a:solidFill>
                  <a:srgbClr val="FF0000"/>
                </a:solidFill>
                <a:ea typeface="楷体" panose="02010609060101010101" charset="-122"/>
                <a:cs typeface="+mj-lt"/>
              </a:rPr>
              <a:t>3.3  </a:t>
            </a:r>
            <a:r>
              <a:rPr lang="zh-CN" altLang="en-US" sz="4000" b="1" u="sng">
                <a:solidFill>
                  <a:srgbClr val="FF0000"/>
                </a:solidFill>
                <a:ea typeface="楷体" panose="02010609060101010101" charset="-122"/>
                <a:cs typeface="+mj-lt"/>
              </a:rPr>
              <a:t>系统硬件设计</a:t>
            </a:r>
            <a:endParaRPr lang="zh-CN" altLang="en-US" sz="4000" b="1" u="sng">
              <a:solidFill>
                <a:srgbClr val="FF0000"/>
              </a:solidFill>
              <a:ea typeface="楷体" panose="02010609060101010101" charset="-122"/>
              <a:cs typeface="+mj-lt"/>
            </a:endParaRPr>
          </a:p>
        </p:txBody>
      </p:sp>
      <p:sp>
        <p:nvSpPr>
          <p:cNvPr id="23555" name="文本占位符 23554"/>
          <p:cNvSpPr>
            <a:spLocks noGrp="1" noRot="1"/>
          </p:cNvSpPr>
          <p:nvPr>
            <p:ph type="body" idx="1"/>
          </p:nvPr>
        </p:nvSpPr>
        <p:spPr>
          <a:xfrm>
            <a:off x="682625" y="1939925"/>
            <a:ext cx="11089640" cy="3778885"/>
          </a:xfrm>
        </p:spPr>
        <p:txBody>
          <a:bodyPr/>
          <a:p>
            <a:pPr>
              <a:lnSpc>
                <a:spcPct val="120000"/>
              </a:lnSpc>
              <a:buFont typeface="Wingdings" panose="05000000000000000000" pitchFamily="2" charset="2"/>
              <a:buChar char="u"/>
            </a:pPr>
            <a:r>
              <a:rPr lang="zh-CN" altLang="en-US">
                <a:latin typeface="+mj-lt"/>
                <a:ea typeface="楷体" panose="02010609060101010101" charset="-122"/>
                <a:cs typeface="+mj-lt"/>
              </a:rPr>
              <a:t>系统的</a:t>
            </a:r>
            <a:r>
              <a:rPr lang="zh-CN" altLang="en-US">
                <a:solidFill>
                  <a:srgbClr val="FF0000"/>
                </a:solidFill>
                <a:latin typeface="+mj-lt"/>
                <a:ea typeface="楷体" panose="02010609060101010101" charset="-122"/>
                <a:cs typeface="+mj-lt"/>
              </a:rPr>
              <a:t>总体设计</a:t>
            </a:r>
            <a:r>
              <a:rPr lang="en-US" altLang="zh-CN">
                <a:latin typeface="+mj-lt"/>
                <a:ea typeface="楷体" panose="02010609060101010101" charset="-122"/>
                <a:cs typeface="+mj-lt"/>
              </a:rPr>
              <a:t>（</a:t>
            </a:r>
            <a:r>
              <a:rPr lang="zh-CN" altLang="en-US">
                <a:latin typeface="+mj-lt"/>
                <a:ea typeface="楷体" panose="02010609060101010101" charset="-122"/>
                <a:cs typeface="+mj-lt"/>
              </a:rPr>
              <a:t>设计思想、设计步骤</a:t>
            </a:r>
            <a:r>
              <a:rPr lang="en-US" altLang="zh-CN">
                <a:latin typeface="+mj-lt"/>
                <a:ea typeface="楷体" panose="02010609060101010101" charset="-122"/>
                <a:cs typeface="+mj-lt"/>
              </a:rPr>
              <a:t>）</a:t>
            </a:r>
            <a:r>
              <a:rPr lang="zh-CN" altLang="en-US">
                <a:latin typeface="+mj-lt"/>
                <a:ea typeface="楷体" panose="02010609060101010101" charset="-122"/>
                <a:cs typeface="+mj-lt"/>
              </a:rPr>
              <a:t>，系统的计算。</a:t>
            </a:r>
            <a:endParaRPr lang="zh-CN" altLang="en-US">
              <a:latin typeface="+mj-lt"/>
              <a:ea typeface="楷体" panose="02010609060101010101" charset="-122"/>
              <a:cs typeface="+mj-lt"/>
            </a:endParaRPr>
          </a:p>
          <a:p>
            <a:pPr>
              <a:lnSpc>
                <a:spcPct val="120000"/>
              </a:lnSpc>
            </a:pPr>
            <a:r>
              <a:rPr lang="zh-CN" altLang="en-US">
                <a:solidFill>
                  <a:srgbClr val="FF0000"/>
                </a:solidFill>
                <a:latin typeface="+mj-lt"/>
                <a:ea typeface="楷体" panose="02010609060101010101" charset="-122"/>
                <a:cs typeface="+mj-lt"/>
              </a:rPr>
              <a:t>单元电路</a:t>
            </a:r>
            <a:r>
              <a:rPr lang="zh-CN" altLang="en-US">
                <a:latin typeface="+mj-lt"/>
                <a:ea typeface="楷体" panose="02010609060101010101" charset="-122"/>
                <a:cs typeface="+mj-lt"/>
              </a:rPr>
              <a:t>的功能以及工作原理的分析</a:t>
            </a:r>
            <a:r>
              <a:rPr lang="en-US" altLang="zh-CN">
                <a:latin typeface="+mj-lt"/>
                <a:ea typeface="楷体" panose="02010609060101010101" charset="-122"/>
                <a:cs typeface="+mj-lt"/>
              </a:rPr>
              <a:t>（</a:t>
            </a:r>
            <a:r>
              <a:rPr lang="zh-CN" altLang="en-US">
                <a:latin typeface="+mj-lt"/>
                <a:ea typeface="楷体" panose="02010609060101010101" charset="-122"/>
                <a:cs typeface="+mj-lt"/>
              </a:rPr>
              <a:t>单元具体电路图</a:t>
            </a:r>
            <a:r>
              <a:rPr lang="en-US" altLang="zh-CN">
                <a:latin typeface="+mj-lt"/>
                <a:ea typeface="楷体" panose="02010609060101010101" charset="-122"/>
                <a:cs typeface="+mj-lt"/>
              </a:rPr>
              <a:t>）</a:t>
            </a:r>
            <a:r>
              <a:rPr lang="zh-CN" altLang="en-US">
                <a:latin typeface="+mj-lt"/>
                <a:ea typeface="楷体" panose="02010609060101010101" charset="-122"/>
                <a:cs typeface="+mj-lt"/>
              </a:rPr>
              <a:t>。单元电路</a:t>
            </a:r>
            <a:r>
              <a:rPr lang="en-US" altLang="zh-CN">
                <a:latin typeface="+mj-lt"/>
                <a:ea typeface="楷体" panose="02010609060101010101" charset="-122"/>
                <a:cs typeface="+mj-lt"/>
              </a:rPr>
              <a:t>（</a:t>
            </a:r>
            <a:r>
              <a:rPr lang="zh-CN" altLang="en-US">
                <a:latin typeface="+mj-lt"/>
                <a:ea typeface="楷体" panose="02010609060101010101" charset="-122"/>
                <a:cs typeface="+mj-lt"/>
              </a:rPr>
              <a:t>或称功能模块</a:t>
            </a:r>
            <a:r>
              <a:rPr lang="en-US" altLang="zh-CN">
                <a:latin typeface="+mj-lt"/>
                <a:ea typeface="楷体" panose="02010609060101010101" charset="-122"/>
                <a:cs typeface="+mj-lt"/>
              </a:rPr>
              <a:t>）</a:t>
            </a:r>
            <a:r>
              <a:rPr lang="zh-CN" altLang="en-US">
                <a:latin typeface="+mj-lt"/>
                <a:ea typeface="楷体" panose="02010609060101010101" charset="-122"/>
                <a:cs typeface="+mj-lt"/>
              </a:rPr>
              <a:t>的设计，单元的参数计算。</a:t>
            </a:r>
            <a:endParaRPr lang="zh-CN" altLang="en-US">
              <a:latin typeface="+mj-lt"/>
              <a:ea typeface="楷体" panose="02010609060101010101" charset="-122"/>
              <a:cs typeface="+mj-lt"/>
            </a:endParaRPr>
          </a:p>
          <a:p>
            <a:pPr>
              <a:lnSpc>
                <a:spcPct val="120000"/>
              </a:lnSpc>
            </a:pPr>
            <a:r>
              <a:rPr lang="zh-CN" altLang="en-US">
                <a:solidFill>
                  <a:srgbClr val="FF0000"/>
                </a:solidFill>
                <a:latin typeface="+mj-lt"/>
                <a:ea typeface="楷体" panose="02010609060101010101" charset="-122"/>
                <a:cs typeface="+mj-lt"/>
              </a:rPr>
              <a:t>发挥部分</a:t>
            </a:r>
            <a:r>
              <a:rPr lang="zh-CN" altLang="en-US">
                <a:latin typeface="+mj-lt"/>
                <a:ea typeface="楷体" panose="02010609060101010101" charset="-122"/>
                <a:cs typeface="+mj-lt"/>
              </a:rPr>
              <a:t>的设计与实现</a:t>
            </a:r>
            <a:r>
              <a:rPr lang="en-US" altLang="zh-CN">
                <a:latin typeface="+mj-lt"/>
                <a:ea typeface="楷体" panose="02010609060101010101" charset="-122"/>
                <a:cs typeface="+mj-lt"/>
              </a:rPr>
              <a:t>（</a:t>
            </a:r>
            <a:r>
              <a:rPr lang="zh-CN" altLang="en-US">
                <a:latin typeface="+mj-lt"/>
                <a:ea typeface="楷体" panose="02010609060101010101" charset="-122"/>
                <a:cs typeface="+mj-lt"/>
              </a:rPr>
              <a:t>如完成了发挥部分，应突出该部分，这是很好的采分点</a:t>
            </a:r>
            <a:r>
              <a:rPr lang="en-US" altLang="zh-CN">
                <a:latin typeface="+mj-lt"/>
                <a:ea typeface="楷体" panose="02010609060101010101" charset="-122"/>
                <a:cs typeface="+mj-lt"/>
              </a:rPr>
              <a:t>）</a:t>
            </a:r>
            <a:r>
              <a:rPr lang="zh-CN" altLang="en-US">
                <a:latin typeface="+mj-lt"/>
                <a:ea typeface="楷体" panose="02010609060101010101" charset="-122"/>
                <a:cs typeface="+mj-lt"/>
              </a:rPr>
              <a:t>。</a:t>
            </a:r>
            <a:endParaRPr lang="zh-CN" altLang="en-US">
              <a:latin typeface="+mj-lt"/>
              <a:ea typeface="楷体" panose="02010609060101010101" charset="-122"/>
              <a:cs typeface="+mj-lt"/>
            </a:endParaRPr>
          </a:p>
          <a:p>
            <a:pPr>
              <a:lnSpc>
                <a:spcPct val="120000"/>
              </a:lnSpc>
            </a:pPr>
            <a:r>
              <a:rPr lang="zh-CN" altLang="en-US">
                <a:solidFill>
                  <a:srgbClr val="FF0000"/>
                </a:solidFill>
                <a:latin typeface="+mj-lt"/>
                <a:ea typeface="楷体" panose="02010609060101010101" charset="-122"/>
                <a:cs typeface="+mj-lt"/>
              </a:rPr>
              <a:t>电原理图</a:t>
            </a:r>
            <a:r>
              <a:rPr lang="en-US" altLang="zh-CN">
                <a:latin typeface="+mj-lt"/>
                <a:ea typeface="楷体" panose="02010609060101010101" charset="-122"/>
                <a:cs typeface="+mj-lt"/>
              </a:rPr>
              <a:t>（</a:t>
            </a:r>
            <a:r>
              <a:rPr lang="zh-CN" altLang="en-US">
                <a:latin typeface="+mj-lt"/>
                <a:ea typeface="楷体" panose="02010609060101010101" charset="-122"/>
                <a:cs typeface="+mj-lt"/>
              </a:rPr>
              <a:t>可列入附录</a:t>
            </a:r>
            <a:r>
              <a:rPr lang="en-US" altLang="zh-CN">
                <a:latin typeface="+mj-lt"/>
                <a:ea typeface="楷体" panose="02010609060101010101" charset="-122"/>
                <a:cs typeface="+mj-lt"/>
              </a:rPr>
              <a:t>）</a:t>
            </a:r>
            <a:r>
              <a:rPr lang="en-US" altLang="zh-CN">
                <a:latin typeface="+mj-lt"/>
                <a:ea typeface="楷体" panose="02010609060101010101" charset="-122"/>
                <a:cs typeface="+mj-lt"/>
              </a:rPr>
              <a:t>    </a:t>
            </a:r>
            <a:endParaRPr lang="en-US" altLang="zh-CN">
              <a:latin typeface="+mj-lt"/>
              <a:ea typeface="楷体" panose="02010609060101010101" charset="-122"/>
              <a:cs typeface="+mj-lt"/>
            </a:endParaRPr>
          </a:p>
        </p:txBody>
      </p:sp>
    </p:spTree>
  </p:cSld>
  <p:clrMapOvr>
    <a:masterClrMapping/>
  </p:clrMapOvr>
  <p:transition>
    <p:pull dir="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标题 24577"/>
          <p:cNvSpPr>
            <a:spLocks noGrp="1" noRot="1"/>
          </p:cNvSpPr>
          <p:nvPr>
            <p:ph type="title"/>
          </p:nvPr>
        </p:nvSpPr>
        <p:spPr>
          <a:xfrm>
            <a:off x="1477010" y="716915"/>
            <a:ext cx="8086725" cy="647700"/>
          </a:xfrm>
        </p:spPr>
        <p:txBody>
          <a:bodyPr anchor="ctr"/>
          <a:p>
            <a:r>
              <a:rPr lang="en-US" altLang="zh-CN" sz="4000" b="1" u="sng">
                <a:solidFill>
                  <a:srgbClr val="FF0000"/>
                </a:solidFill>
                <a:ea typeface="楷体" panose="02010609060101010101" charset="-122"/>
                <a:cs typeface="+mj-lt"/>
              </a:rPr>
              <a:t>3.4  </a:t>
            </a:r>
            <a:r>
              <a:rPr lang="zh-CN" altLang="en-US" sz="4000" b="1" u="sng">
                <a:solidFill>
                  <a:srgbClr val="FF0000"/>
                </a:solidFill>
                <a:ea typeface="楷体" panose="02010609060101010101" charset="-122"/>
                <a:cs typeface="+mj-lt"/>
              </a:rPr>
              <a:t>系统软件设计</a:t>
            </a:r>
            <a:endParaRPr lang="zh-CN" altLang="en-US" sz="4000" b="1" u="sng">
              <a:solidFill>
                <a:srgbClr val="FF0000"/>
              </a:solidFill>
              <a:ea typeface="楷体" panose="02010609060101010101" charset="-122"/>
              <a:cs typeface="+mj-lt"/>
            </a:endParaRPr>
          </a:p>
        </p:txBody>
      </p:sp>
      <p:sp>
        <p:nvSpPr>
          <p:cNvPr id="24579" name="文本占位符 24578"/>
          <p:cNvSpPr>
            <a:spLocks noGrp="1" noRot="1"/>
          </p:cNvSpPr>
          <p:nvPr>
            <p:ph type="body" idx="1"/>
          </p:nvPr>
        </p:nvSpPr>
        <p:spPr>
          <a:xfrm>
            <a:off x="1477010" y="1687195"/>
            <a:ext cx="9670415" cy="3557905"/>
          </a:xfrm>
        </p:spPr>
        <p:txBody>
          <a:bodyPr/>
          <a:p>
            <a:pPr>
              <a:lnSpc>
                <a:spcPct val="120000"/>
              </a:lnSpc>
            </a:pPr>
            <a:r>
              <a:rPr lang="zh-CN" altLang="en-US">
                <a:latin typeface="+mj-lt"/>
                <a:ea typeface="楷体" panose="02010609060101010101" charset="-122"/>
                <a:cs typeface="+mj-lt"/>
              </a:rPr>
              <a:t>包括微处理器、</a:t>
            </a:r>
            <a:r>
              <a:rPr lang="en-US" altLang="zh-CN">
                <a:latin typeface="+mj-lt"/>
                <a:ea typeface="楷体" panose="02010609060101010101" charset="-122"/>
                <a:cs typeface="+mj-lt"/>
              </a:rPr>
              <a:t>DSP</a:t>
            </a:r>
            <a:r>
              <a:rPr lang="zh-CN" altLang="en-US">
                <a:latin typeface="+mj-lt"/>
                <a:ea typeface="楷体" panose="02010609060101010101" charset="-122"/>
                <a:cs typeface="+mj-lt"/>
              </a:rPr>
              <a:t>和</a:t>
            </a:r>
            <a:r>
              <a:rPr lang="en-US" altLang="zh-CN">
                <a:latin typeface="+mj-lt"/>
                <a:ea typeface="楷体" panose="02010609060101010101" charset="-122"/>
                <a:cs typeface="+mj-lt"/>
              </a:rPr>
              <a:t>FPGA</a:t>
            </a:r>
            <a:r>
              <a:rPr lang="zh-CN" altLang="en-US">
                <a:latin typeface="+mj-lt"/>
                <a:ea typeface="楷体" panose="02010609060101010101" charset="-122"/>
                <a:cs typeface="+mj-lt"/>
              </a:rPr>
              <a:t>。  </a:t>
            </a:r>
            <a:endParaRPr lang="zh-CN" altLang="en-US">
              <a:latin typeface="+mj-lt"/>
              <a:ea typeface="楷体" panose="02010609060101010101" charset="-122"/>
              <a:cs typeface="+mj-lt"/>
            </a:endParaRPr>
          </a:p>
          <a:p>
            <a:pPr>
              <a:lnSpc>
                <a:spcPct val="120000"/>
              </a:lnSpc>
            </a:pPr>
            <a:r>
              <a:rPr lang="zh-CN" altLang="en-US">
                <a:latin typeface="+mj-lt"/>
                <a:ea typeface="楷体" panose="02010609060101010101" charset="-122"/>
                <a:cs typeface="+mj-lt"/>
              </a:rPr>
              <a:t>程序总体流程图</a:t>
            </a:r>
            <a:endParaRPr lang="zh-CN" altLang="en-US">
              <a:latin typeface="+mj-lt"/>
              <a:ea typeface="楷体" panose="02010609060101010101" charset="-122"/>
              <a:cs typeface="+mj-lt"/>
            </a:endParaRPr>
          </a:p>
          <a:p>
            <a:pPr>
              <a:lnSpc>
                <a:spcPct val="120000"/>
              </a:lnSpc>
            </a:pPr>
            <a:r>
              <a:rPr lang="zh-CN" altLang="en-US">
                <a:latin typeface="+mj-lt"/>
                <a:ea typeface="楷体" panose="02010609060101010101" charset="-122"/>
                <a:cs typeface="+mj-lt"/>
              </a:rPr>
              <a:t>各个功能模块流程图</a:t>
            </a:r>
            <a:endParaRPr lang="zh-CN" altLang="en-US">
              <a:latin typeface="+mj-lt"/>
              <a:ea typeface="楷体" panose="02010609060101010101" charset="-122"/>
              <a:cs typeface="+mj-lt"/>
            </a:endParaRPr>
          </a:p>
          <a:p>
            <a:pPr>
              <a:lnSpc>
                <a:spcPct val="120000"/>
              </a:lnSpc>
            </a:pPr>
            <a:r>
              <a:rPr lang="zh-CN" altLang="en-US">
                <a:latin typeface="+mj-lt"/>
                <a:ea typeface="楷体" panose="02010609060101010101" charset="-122"/>
                <a:cs typeface="+mj-lt"/>
              </a:rPr>
              <a:t>程序清单</a:t>
            </a:r>
            <a:r>
              <a:rPr lang="en-US" altLang="zh-CN">
                <a:latin typeface="+mj-lt"/>
                <a:ea typeface="楷体" panose="02010609060101010101" charset="-122"/>
                <a:cs typeface="+mj-lt"/>
              </a:rPr>
              <a:t>（</a:t>
            </a:r>
            <a:r>
              <a:rPr lang="zh-CN" altLang="en-US">
                <a:latin typeface="+mj-lt"/>
                <a:ea typeface="楷体" panose="02010609060101010101" charset="-122"/>
                <a:cs typeface="+mj-lt"/>
              </a:rPr>
              <a:t>可列入附录</a:t>
            </a:r>
            <a:r>
              <a:rPr lang="en-US" altLang="zh-CN">
                <a:latin typeface="+mj-lt"/>
                <a:ea typeface="楷体" panose="02010609060101010101" charset="-122"/>
                <a:cs typeface="+mj-lt"/>
              </a:rPr>
              <a:t>） </a:t>
            </a:r>
            <a:endParaRPr lang="en-US" altLang="zh-CN">
              <a:latin typeface="+mj-lt"/>
              <a:ea typeface="楷体" panose="02010609060101010101" charset="-122"/>
              <a:cs typeface="+mj-lt"/>
            </a:endParaRPr>
          </a:p>
          <a:p>
            <a:pPr marL="0" indent="0">
              <a:lnSpc>
                <a:spcPct val="120000"/>
              </a:lnSpc>
              <a:buNone/>
            </a:pPr>
            <a:r>
              <a:rPr lang="zh-CN" altLang="en-US" u="sng">
                <a:solidFill>
                  <a:srgbClr val="FF0000"/>
                </a:solidFill>
                <a:latin typeface="+mj-lt"/>
                <a:ea typeface="楷体" panose="02010609060101010101" charset="-122"/>
                <a:cs typeface="+mj-lt"/>
              </a:rPr>
              <a:t>表现出设计：思路</a:t>
            </a:r>
            <a:r>
              <a:rPr lang="en-US" altLang="zh-CN" u="sng">
                <a:solidFill>
                  <a:srgbClr val="FF0000"/>
                </a:solidFill>
                <a:latin typeface="+mj-lt"/>
                <a:ea typeface="楷体" panose="02010609060101010101" charset="-122"/>
                <a:cs typeface="+mj-lt"/>
              </a:rPr>
              <a:t>/</a:t>
            </a:r>
            <a:r>
              <a:rPr lang="zh-CN" altLang="en-US" u="sng">
                <a:solidFill>
                  <a:srgbClr val="FF0000"/>
                </a:solidFill>
                <a:latin typeface="+mj-lt"/>
                <a:ea typeface="楷体" panose="02010609060101010101" charset="-122"/>
                <a:cs typeface="+mj-lt"/>
              </a:rPr>
              <a:t>方法</a:t>
            </a:r>
            <a:r>
              <a:rPr lang="en-US" altLang="zh-CN" u="sng">
                <a:solidFill>
                  <a:srgbClr val="FF0000"/>
                </a:solidFill>
                <a:latin typeface="+mj-lt"/>
                <a:ea typeface="楷体" panose="02010609060101010101" charset="-122"/>
                <a:cs typeface="+mj-lt"/>
              </a:rPr>
              <a:t>/</a:t>
            </a:r>
            <a:r>
              <a:rPr lang="zh-CN" altLang="en-US" u="sng">
                <a:solidFill>
                  <a:srgbClr val="FF0000"/>
                </a:solidFill>
                <a:latin typeface="+mj-lt"/>
                <a:ea typeface="楷体" panose="02010609060101010101" charset="-122"/>
                <a:cs typeface="+mj-lt"/>
              </a:rPr>
              <a:t>关键电路的确定和电路选型</a:t>
            </a:r>
            <a:endParaRPr lang="en-US" altLang="zh-CN">
              <a:latin typeface="+mj-lt"/>
              <a:ea typeface="楷体" panose="02010609060101010101" charset="-122"/>
              <a:cs typeface="+mj-lt"/>
            </a:endParaRPr>
          </a:p>
        </p:txBody>
      </p:sp>
    </p:spTree>
  </p:cSld>
  <p:clrMapOvr>
    <a:masterClrMapping/>
  </p:clrMapOvr>
  <p:transition>
    <p:pull dir="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标题 25601"/>
          <p:cNvSpPr>
            <a:spLocks noGrp="1" noRot="1"/>
          </p:cNvSpPr>
          <p:nvPr>
            <p:ph type="title"/>
          </p:nvPr>
        </p:nvSpPr>
        <p:spPr>
          <a:xfrm>
            <a:off x="1825625" y="180658"/>
            <a:ext cx="8540750" cy="727075"/>
          </a:xfrm>
        </p:spPr>
        <p:txBody>
          <a:bodyPr anchor="ctr"/>
          <a:p>
            <a:r>
              <a:rPr lang="en-US" altLang="zh-CN" sz="4000" b="1">
                <a:solidFill>
                  <a:schemeClr val="hlink"/>
                </a:solidFill>
                <a:latin typeface="Times New Roman" panose="02020603050405020304" pitchFamily="18" charset="0"/>
                <a:ea typeface="楷体" panose="02010609060101010101" charset="-122"/>
                <a:cs typeface="Times New Roman" panose="02020603050405020304" pitchFamily="18" charset="0"/>
              </a:rPr>
              <a:t>3.5  </a:t>
            </a:r>
            <a:r>
              <a:rPr lang="zh-CN" altLang="en-US" sz="4000" b="1">
                <a:solidFill>
                  <a:schemeClr val="hlink"/>
                </a:solidFill>
                <a:latin typeface="Times New Roman" panose="02020603050405020304" pitchFamily="18" charset="0"/>
                <a:ea typeface="楷体" panose="02010609060101010101" charset="-122"/>
                <a:cs typeface="Times New Roman" panose="02020603050405020304" pitchFamily="18" charset="0"/>
              </a:rPr>
              <a:t>理论分析与计算（</a:t>
            </a:r>
            <a:r>
              <a:rPr lang="en-US" altLang="zh-CN" sz="4000" b="1">
                <a:solidFill>
                  <a:schemeClr val="hlink"/>
                </a:solidFill>
                <a:latin typeface="Times New Roman" panose="02020603050405020304" pitchFamily="18" charset="0"/>
                <a:ea typeface="楷体" panose="02010609060101010101" charset="-122"/>
                <a:cs typeface="Times New Roman" panose="02020603050405020304" pitchFamily="18" charset="0"/>
              </a:rPr>
              <a:t>14</a:t>
            </a:r>
            <a:r>
              <a:rPr lang="zh-CN" altLang="en-US" sz="4000" b="1">
                <a:solidFill>
                  <a:schemeClr val="hlink"/>
                </a:solidFill>
                <a:latin typeface="Times New Roman" panose="02020603050405020304" pitchFamily="18" charset="0"/>
                <a:ea typeface="楷体" panose="02010609060101010101" charset="-122"/>
                <a:cs typeface="Times New Roman" panose="02020603050405020304" pitchFamily="18" charset="0"/>
              </a:rPr>
              <a:t>分）</a:t>
            </a:r>
            <a:r>
              <a:rPr lang="zh-CN" altLang="en-US" sz="4000" b="1">
                <a:latin typeface="Times New Roman" panose="02020603050405020304" pitchFamily="18" charset="0"/>
                <a:ea typeface="楷体" panose="02010609060101010101" charset="-122"/>
                <a:cs typeface="Times New Roman" panose="02020603050405020304" pitchFamily="18" charset="0"/>
              </a:rPr>
              <a:t> </a:t>
            </a:r>
            <a:endParaRPr lang="zh-CN" altLang="en-US" sz="4000" b="1">
              <a:latin typeface="Times New Roman" panose="02020603050405020304" pitchFamily="18" charset="0"/>
              <a:ea typeface="楷体" panose="02010609060101010101" charset="-122"/>
              <a:cs typeface="Times New Roman" panose="02020603050405020304" pitchFamily="18" charset="0"/>
            </a:endParaRPr>
          </a:p>
        </p:txBody>
      </p:sp>
      <p:sp>
        <p:nvSpPr>
          <p:cNvPr id="25603" name="文本占位符 25602"/>
          <p:cNvSpPr>
            <a:spLocks noGrp="1" noRot="1"/>
          </p:cNvSpPr>
          <p:nvPr>
            <p:ph type="body" idx="1"/>
          </p:nvPr>
        </p:nvSpPr>
        <p:spPr>
          <a:xfrm>
            <a:off x="396875" y="764540"/>
            <a:ext cx="11494135" cy="5742305"/>
          </a:xfrm>
        </p:spPr>
        <p:txBody>
          <a:bodyPr>
            <a:normAutofit lnSpcReduction="10000"/>
          </a:bodyPr>
          <a:p>
            <a:pPr marL="0" indent="632460" algn="just">
              <a:lnSpc>
                <a:spcPct val="130000"/>
              </a:lnSpc>
              <a:buNone/>
            </a:pPr>
            <a:r>
              <a:rPr lang="zh-CN" altLang="en-US" sz="2400" b="1">
                <a:solidFill>
                  <a:srgbClr val="FF0000"/>
                </a:solidFill>
                <a:latin typeface="Times New Roman" panose="02020603050405020304" pitchFamily="18" charset="0"/>
                <a:ea typeface="楷体" panose="02010609060101010101" charset="-122"/>
                <a:cs typeface="Times New Roman" panose="02020603050405020304" pitchFamily="18" charset="0"/>
              </a:rPr>
              <a:t>评分细则：完成程度</a:t>
            </a:r>
            <a:r>
              <a:rPr lang="en-US" altLang="zh-CN" sz="2400" b="1">
                <a:solidFill>
                  <a:srgbClr val="FF0000"/>
                </a:solidFill>
                <a:latin typeface="Times New Roman" panose="02020603050405020304" pitchFamily="18" charset="0"/>
                <a:ea typeface="楷体" panose="02010609060101010101" charset="-122"/>
                <a:cs typeface="Times New Roman" panose="02020603050405020304" pitchFamily="18" charset="0"/>
              </a:rPr>
              <a:t>8  </a:t>
            </a:r>
            <a:r>
              <a:rPr lang="zh-CN" altLang="en-US" sz="2400" b="1">
                <a:solidFill>
                  <a:srgbClr val="FF0000"/>
                </a:solidFill>
                <a:latin typeface="Times New Roman" panose="02020603050405020304" pitchFamily="18" charset="0"/>
                <a:ea typeface="楷体" panose="02010609060101010101" charset="-122"/>
                <a:cs typeface="Times New Roman" panose="02020603050405020304" pitchFamily="18" charset="0"/>
              </a:rPr>
              <a:t>正确性</a:t>
            </a:r>
            <a:r>
              <a:rPr lang="en-US" altLang="zh-CN" sz="2400" b="1">
                <a:solidFill>
                  <a:srgbClr val="FF0000"/>
                </a:solidFill>
                <a:latin typeface="Times New Roman" panose="02020603050405020304" pitchFamily="18" charset="0"/>
                <a:ea typeface="楷体" panose="02010609060101010101" charset="-122"/>
                <a:cs typeface="Times New Roman" panose="02020603050405020304" pitchFamily="18" charset="0"/>
              </a:rPr>
              <a:t>6</a:t>
            </a:r>
            <a:endParaRPr lang="en-US" altLang="zh-CN" sz="2400" b="1">
              <a:latin typeface="Times New Roman" panose="02020603050405020304" pitchFamily="18" charset="0"/>
              <a:ea typeface="楷体" panose="02010609060101010101" charset="-122"/>
              <a:cs typeface="Times New Roman" panose="02020603050405020304" pitchFamily="18" charset="0"/>
            </a:endParaRPr>
          </a:p>
          <a:p>
            <a:pPr marL="0" indent="619125" algn="just">
              <a:lnSpc>
                <a:spcPct val="130000"/>
              </a:lnSpc>
              <a:buNone/>
            </a:pPr>
            <a:r>
              <a:rPr lang="zh-CN" altLang="en-US" sz="2400" b="1">
                <a:latin typeface="Times New Roman" panose="02020603050405020304" pitchFamily="18" charset="0"/>
                <a:ea typeface="楷体" panose="02010609060101010101" charset="-122"/>
                <a:cs typeface="Times New Roman" panose="02020603050405020304" pitchFamily="18" charset="0"/>
              </a:rPr>
              <a:t>通过硬件电路和软件流程的理论分析和设计，说明性能指标能否达到。</a:t>
            </a:r>
            <a:endParaRPr lang="zh-CN" altLang="en-US" sz="2400" b="1">
              <a:latin typeface="Times New Roman" panose="02020603050405020304" pitchFamily="18" charset="0"/>
              <a:ea typeface="楷体" panose="02010609060101010101" charset="-122"/>
              <a:cs typeface="Times New Roman" panose="02020603050405020304" pitchFamily="18" charset="0"/>
            </a:endParaRPr>
          </a:p>
          <a:p>
            <a:pPr marL="0" indent="619125">
              <a:lnSpc>
                <a:spcPct val="130000"/>
              </a:lnSpc>
              <a:buNone/>
            </a:pPr>
            <a:r>
              <a:rPr lang="zh-CN" altLang="en-US" sz="2400" b="1">
                <a:latin typeface="Times New Roman" panose="02020603050405020304" pitchFamily="18" charset="0"/>
                <a:ea typeface="楷体" panose="02010609060101010101" charset="-122"/>
                <a:cs typeface="Times New Roman" panose="02020603050405020304" pitchFamily="18" charset="0"/>
              </a:rPr>
              <a:t>        频率计</a:t>
            </a:r>
            <a:r>
              <a:rPr lang="en-US" altLang="zh-CN" sz="2400" b="1">
                <a:latin typeface="Times New Roman" panose="02020603050405020304" pitchFamily="18" charset="0"/>
                <a:ea typeface="楷体" panose="02010609060101010101" charset="-122"/>
                <a:cs typeface="Times New Roman" panose="02020603050405020304" pitchFamily="18" charset="0"/>
              </a:rPr>
              <a:t>——</a:t>
            </a:r>
            <a:r>
              <a:rPr lang="zh-CN" altLang="en-US" sz="2400" b="1">
                <a:latin typeface="Times New Roman" panose="02020603050405020304" pitchFamily="18" charset="0"/>
                <a:ea typeface="楷体" panose="02010609060101010101" charset="-122"/>
                <a:cs typeface="Times New Roman" panose="02020603050405020304" pitchFamily="18" charset="0"/>
              </a:rPr>
              <a:t>量程</a:t>
            </a:r>
            <a:r>
              <a:rPr lang="en-US" altLang="zh-CN" sz="2400" b="1">
                <a:latin typeface="Times New Roman" panose="02020603050405020304" pitchFamily="18" charset="0"/>
                <a:ea typeface="楷体" panose="02010609060101010101" charset="-122"/>
                <a:cs typeface="Times New Roman" panose="02020603050405020304" pitchFamily="18" charset="0"/>
              </a:rPr>
              <a:t>0.1Hz</a:t>
            </a:r>
            <a:r>
              <a:rPr lang="zh-CN" altLang="en-US" sz="2400" b="1">
                <a:latin typeface="Times New Roman" panose="02020603050405020304" pitchFamily="18" charset="0"/>
                <a:ea typeface="楷体" panose="02010609060101010101" charset="-122"/>
                <a:cs typeface="Times New Roman" panose="02020603050405020304" pitchFamily="18" charset="0"/>
              </a:rPr>
              <a:t>～</a:t>
            </a:r>
            <a:r>
              <a:rPr lang="en-US" altLang="zh-CN" sz="2400" b="1">
                <a:latin typeface="Times New Roman" panose="02020603050405020304" pitchFamily="18" charset="0"/>
                <a:ea typeface="楷体" panose="02010609060101010101" charset="-122"/>
                <a:cs typeface="Times New Roman" panose="02020603050405020304" pitchFamily="18" charset="0"/>
              </a:rPr>
              <a:t>1MHz</a:t>
            </a:r>
            <a:r>
              <a:rPr lang="zh-CN" altLang="en-US" sz="2400" b="1">
                <a:latin typeface="Times New Roman" panose="02020603050405020304" pitchFamily="18" charset="0"/>
                <a:ea typeface="楷体" panose="02010609060101010101" charset="-122"/>
                <a:cs typeface="Times New Roman" panose="02020603050405020304" pitchFamily="18" charset="0"/>
              </a:rPr>
              <a:t>，精度</a:t>
            </a:r>
            <a:r>
              <a:rPr lang="en-US" altLang="zh-CN" sz="2400" b="1">
                <a:latin typeface="Times New Roman" panose="02020603050405020304" pitchFamily="18" charset="0"/>
                <a:ea typeface="楷体" panose="02010609060101010101" charset="-122"/>
                <a:cs typeface="Times New Roman" panose="02020603050405020304" pitchFamily="18" charset="0"/>
              </a:rPr>
              <a:t>0.1%</a:t>
            </a:r>
            <a:r>
              <a:rPr lang="zh-CN" altLang="en-US" sz="2400" b="1">
                <a:latin typeface="Times New Roman" panose="02020603050405020304" pitchFamily="18" charset="0"/>
                <a:ea typeface="楷体" panose="02010609060101010101" charset="-122"/>
                <a:cs typeface="Times New Roman" panose="02020603050405020304" pitchFamily="18" charset="0"/>
              </a:rPr>
              <a:t>；</a:t>
            </a:r>
            <a:endParaRPr lang="en-US" altLang="zh-CN" sz="2400" b="1">
              <a:latin typeface="Times New Roman" panose="02020603050405020304" pitchFamily="18" charset="0"/>
              <a:ea typeface="楷体" panose="02010609060101010101" charset="-122"/>
              <a:cs typeface="Times New Roman" panose="02020603050405020304" pitchFamily="18" charset="0"/>
            </a:endParaRPr>
          </a:p>
          <a:p>
            <a:pPr marL="0" indent="619125">
              <a:lnSpc>
                <a:spcPct val="130000"/>
              </a:lnSpc>
              <a:buNone/>
            </a:pPr>
            <a:r>
              <a:rPr lang="en-US" altLang="zh-CN" sz="2400" b="1">
                <a:latin typeface="Times New Roman" panose="02020603050405020304" pitchFamily="18" charset="0"/>
                <a:ea typeface="楷体" panose="02010609060101010101" charset="-122"/>
                <a:cs typeface="Times New Roman" panose="02020603050405020304" pitchFamily="18" charset="0"/>
              </a:rPr>
              <a:t>        </a:t>
            </a:r>
            <a:r>
              <a:rPr lang="zh-CN" altLang="en-US" sz="2400" b="1">
                <a:latin typeface="Times New Roman" panose="02020603050405020304" pitchFamily="18" charset="0"/>
                <a:ea typeface="楷体" panose="02010609060101010101" charset="-122"/>
                <a:cs typeface="Times New Roman" panose="02020603050405020304" pitchFamily="18" charset="0"/>
              </a:rPr>
              <a:t>温度控制</a:t>
            </a:r>
            <a:r>
              <a:rPr lang="en-US" altLang="zh-CN" sz="2400" b="1">
                <a:latin typeface="Times New Roman" panose="02020603050405020304" pitchFamily="18" charset="0"/>
                <a:ea typeface="楷体" panose="02010609060101010101" charset="-122"/>
                <a:cs typeface="Times New Roman" panose="02020603050405020304" pitchFamily="18" charset="0"/>
              </a:rPr>
              <a:t>——</a:t>
            </a:r>
            <a:r>
              <a:rPr lang="zh-CN" altLang="en-US" sz="2400" b="1">
                <a:latin typeface="Times New Roman" panose="02020603050405020304" pitchFamily="18" charset="0"/>
                <a:ea typeface="楷体" panose="02010609060101010101" charset="-122"/>
                <a:cs typeface="Times New Roman" panose="02020603050405020304" pitchFamily="18" charset="0"/>
              </a:rPr>
              <a:t>静态误差</a:t>
            </a:r>
            <a:r>
              <a:rPr lang="en-US" altLang="zh-CN" sz="2400" b="1">
                <a:latin typeface="Times New Roman" panose="02020603050405020304" pitchFamily="18" charset="0"/>
                <a:ea typeface="楷体" panose="02010609060101010101" charset="-122"/>
                <a:cs typeface="Times New Roman" panose="02020603050405020304" pitchFamily="18" charset="0"/>
              </a:rPr>
              <a:t>&lt;0.2%</a:t>
            </a:r>
            <a:r>
              <a:rPr lang="zh-CN" altLang="en-US" sz="2400" b="1">
                <a:latin typeface="Times New Roman" panose="02020603050405020304" pitchFamily="18" charset="0"/>
                <a:ea typeface="楷体" panose="02010609060101010101" charset="-122"/>
                <a:cs typeface="Times New Roman" panose="02020603050405020304" pitchFamily="18" charset="0"/>
              </a:rPr>
              <a:t>；</a:t>
            </a:r>
            <a:endParaRPr lang="en-US" altLang="zh-CN" sz="2400" b="1">
              <a:latin typeface="Times New Roman" panose="02020603050405020304" pitchFamily="18" charset="0"/>
              <a:ea typeface="楷体" panose="02010609060101010101" charset="-122"/>
              <a:cs typeface="Times New Roman" panose="02020603050405020304" pitchFamily="18" charset="0"/>
            </a:endParaRPr>
          </a:p>
          <a:p>
            <a:pPr marL="0" indent="619125">
              <a:lnSpc>
                <a:spcPct val="130000"/>
              </a:lnSpc>
              <a:buNone/>
            </a:pPr>
            <a:r>
              <a:rPr lang="en-US" altLang="zh-CN" sz="2400" b="1">
                <a:latin typeface="Times New Roman" panose="02020603050405020304" pitchFamily="18" charset="0"/>
                <a:ea typeface="楷体" panose="02010609060101010101" charset="-122"/>
                <a:cs typeface="Times New Roman" panose="02020603050405020304" pitchFamily="18" charset="0"/>
              </a:rPr>
              <a:t>        </a:t>
            </a:r>
            <a:r>
              <a:rPr lang="zh-CN" altLang="en-US" sz="2400" b="1">
                <a:latin typeface="Times New Roman" panose="02020603050405020304" pitchFamily="18" charset="0"/>
                <a:ea typeface="楷体" panose="02010609060101010101" charset="-122"/>
                <a:cs typeface="Times New Roman" panose="02020603050405020304" pitchFamily="18" charset="0"/>
              </a:rPr>
              <a:t>示波器</a:t>
            </a:r>
            <a:r>
              <a:rPr lang="en-US" altLang="zh-CN" sz="2400" b="1">
                <a:latin typeface="Times New Roman" panose="02020603050405020304" pitchFamily="18" charset="0"/>
                <a:ea typeface="楷体" panose="02010609060101010101" charset="-122"/>
                <a:cs typeface="Times New Roman" panose="02020603050405020304" pitchFamily="18" charset="0"/>
              </a:rPr>
              <a:t>——</a:t>
            </a:r>
            <a:r>
              <a:rPr lang="zh-CN" altLang="en-US" sz="2400" b="1">
                <a:latin typeface="Times New Roman" panose="02020603050405020304" pitchFamily="18" charset="0"/>
                <a:ea typeface="楷体" panose="02010609060101010101" charset="-122"/>
                <a:cs typeface="Times New Roman" panose="02020603050405020304" pitchFamily="18" charset="0"/>
              </a:rPr>
              <a:t>垂直灵敏度</a:t>
            </a:r>
            <a:r>
              <a:rPr lang="en-US" altLang="zh-CN" sz="2400" b="1">
                <a:latin typeface="Times New Roman" panose="02020603050405020304" pitchFamily="18" charset="0"/>
                <a:ea typeface="楷体" panose="02010609060101010101" charset="-122"/>
                <a:cs typeface="Times New Roman" panose="02020603050405020304" pitchFamily="18" charset="0"/>
              </a:rPr>
              <a:t>0.1V/div</a:t>
            </a:r>
            <a:r>
              <a:rPr lang="zh-CN" altLang="en-US" sz="2400" b="1">
                <a:latin typeface="Times New Roman" panose="02020603050405020304" pitchFamily="18" charset="0"/>
                <a:ea typeface="楷体" panose="02010609060101010101" charset="-122"/>
                <a:cs typeface="Times New Roman" panose="02020603050405020304" pitchFamily="18" charset="0"/>
              </a:rPr>
              <a:t>；</a:t>
            </a:r>
            <a:endParaRPr lang="en-US" altLang="zh-CN" sz="2400" b="1">
              <a:latin typeface="Times New Roman" panose="02020603050405020304" pitchFamily="18" charset="0"/>
              <a:ea typeface="楷体" panose="02010609060101010101" charset="-122"/>
              <a:cs typeface="Times New Roman" panose="02020603050405020304" pitchFamily="18" charset="0"/>
            </a:endParaRPr>
          </a:p>
          <a:p>
            <a:pPr marL="0" indent="619125">
              <a:lnSpc>
                <a:spcPct val="130000"/>
              </a:lnSpc>
              <a:buNone/>
            </a:pPr>
            <a:r>
              <a:rPr lang="zh-CN" altLang="en-US" sz="2400" b="1">
                <a:latin typeface="Times New Roman" panose="02020603050405020304" pitchFamily="18" charset="0"/>
                <a:ea typeface="楷体" panose="02010609060101010101" charset="-122"/>
                <a:cs typeface="Times New Roman" panose="02020603050405020304" pitchFamily="18" charset="0"/>
              </a:rPr>
              <a:t>理论计算时，注意公式的完整性、参数和单位的匹配，计算的正确性。</a:t>
            </a:r>
            <a:endParaRPr lang="zh-CN" altLang="en-US" sz="2400" b="1">
              <a:latin typeface="Times New Roman" panose="02020603050405020304" pitchFamily="18" charset="0"/>
              <a:ea typeface="楷体" panose="02010609060101010101" charset="-122"/>
              <a:cs typeface="Times New Roman" panose="02020603050405020304" pitchFamily="18" charset="0"/>
            </a:endParaRPr>
          </a:p>
          <a:p>
            <a:pPr marL="0" indent="619125">
              <a:lnSpc>
                <a:spcPct val="130000"/>
              </a:lnSpc>
              <a:buNone/>
            </a:pPr>
            <a:r>
              <a:rPr lang="zh-CN" altLang="en-US" sz="2400" b="1">
                <a:latin typeface="Times New Roman" panose="02020603050405020304" pitchFamily="18" charset="0"/>
                <a:ea typeface="楷体" panose="02010609060101010101" charset="-122"/>
                <a:cs typeface="Times New Roman" panose="02020603050405020304" pitchFamily="18" charset="0"/>
              </a:rPr>
              <a:t>注意计算值与实际选择的元器件参数值的差别。</a:t>
            </a:r>
            <a:endParaRPr lang="zh-CN" altLang="en-US" sz="2400" b="1">
              <a:latin typeface="Times New Roman" panose="02020603050405020304" pitchFamily="18" charset="0"/>
              <a:ea typeface="楷体" panose="02010609060101010101" charset="-122"/>
              <a:cs typeface="Times New Roman" panose="02020603050405020304" pitchFamily="18" charset="0"/>
            </a:endParaRPr>
          </a:p>
          <a:p>
            <a:pPr marL="0" indent="619125">
              <a:lnSpc>
                <a:spcPct val="130000"/>
              </a:lnSpc>
              <a:buNone/>
            </a:pPr>
            <a:r>
              <a:rPr lang="zh-CN" altLang="en-US" sz="2400" b="1">
                <a:latin typeface="Times New Roman" panose="02020603050405020304" pitchFamily="18" charset="0"/>
                <a:ea typeface="楷体" panose="02010609060101010101" charset="-122"/>
                <a:cs typeface="Times New Roman" panose="02020603050405020304" pitchFamily="18" charset="0"/>
              </a:rPr>
              <a:t>电路图可以采用常用的工程软件工具绘画，应注意元器件符号、参数标注、图纸页面的规范化。</a:t>
            </a:r>
            <a:endParaRPr lang="zh-CN" altLang="en-US" sz="2400" b="1">
              <a:latin typeface="Times New Roman" panose="02020603050405020304" pitchFamily="18" charset="0"/>
              <a:ea typeface="楷体" panose="02010609060101010101" charset="-122"/>
              <a:cs typeface="Times New Roman" panose="02020603050405020304" pitchFamily="18" charset="0"/>
            </a:endParaRPr>
          </a:p>
          <a:p>
            <a:pPr marL="0" indent="619125">
              <a:lnSpc>
                <a:spcPct val="130000"/>
              </a:lnSpc>
              <a:buNone/>
            </a:pPr>
            <a:r>
              <a:rPr lang="zh-CN" altLang="en-US" sz="2400" b="1">
                <a:latin typeface="Times New Roman" panose="02020603050405020304" pitchFamily="18" charset="0"/>
                <a:ea typeface="楷体" panose="02010609060101010101" charset="-122"/>
                <a:cs typeface="Times New Roman" panose="02020603050405020304" pitchFamily="18" charset="0"/>
              </a:rPr>
              <a:t>如果采用仿真工具进行分析，则可以将仿真分析结果给出来。</a:t>
            </a:r>
            <a:endParaRPr lang="zh-CN" altLang="en-US" sz="2400" b="1">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26625"/>
          <p:cNvSpPr>
            <a:spLocks noGrp="1" noRot="1"/>
          </p:cNvSpPr>
          <p:nvPr>
            <p:ph type="title"/>
          </p:nvPr>
        </p:nvSpPr>
        <p:spPr>
          <a:xfrm>
            <a:off x="1847850" y="0"/>
            <a:ext cx="8540750" cy="1143000"/>
          </a:xfrm>
        </p:spPr>
        <p:txBody>
          <a:bodyPr anchor="ctr"/>
          <a:p>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3.5 </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  </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分析与计算（</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14</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分）</a:t>
            </a:r>
            <a:endPar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endParaRPr>
          </a:p>
        </p:txBody>
      </p:sp>
      <p:sp>
        <p:nvSpPr>
          <p:cNvPr id="26627" name="文本占位符 26626"/>
          <p:cNvSpPr>
            <a:spLocks noGrp="1" noRot="1"/>
          </p:cNvSpPr>
          <p:nvPr>
            <p:ph type="body" sz="half" idx="1"/>
          </p:nvPr>
        </p:nvSpPr>
        <p:spPr>
          <a:xfrm>
            <a:off x="750570" y="949960"/>
            <a:ext cx="10776585" cy="4568825"/>
          </a:xfrm>
        </p:spPr>
        <p:txBody>
          <a:bodyPr>
            <a:noAutofit/>
          </a:bodyPr>
          <a:p>
            <a:pPr>
              <a:lnSpc>
                <a:spcPct val="90000"/>
              </a:lnSpc>
            </a:pPr>
            <a:r>
              <a:rPr lang="zh-CN" altLang="en-US" b="1" u="sng">
                <a:solidFill>
                  <a:srgbClr val="FF0000"/>
                </a:solidFill>
                <a:latin typeface="Times New Roman" panose="02020603050405020304" pitchFamily="18" charset="0"/>
                <a:ea typeface="楷体" panose="02010609060101010101" charset="-122"/>
                <a:cs typeface="Times New Roman" panose="02020603050405020304" pitchFamily="18" charset="0"/>
              </a:rPr>
              <a:t>求解</a:t>
            </a:r>
            <a:endParaRPr lang="zh-CN" altLang="en-US" b="1" u="sng">
              <a:solidFill>
                <a:srgbClr val="FF0000"/>
              </a:solidFill>
              <a:latin typeface="Times New Roman" panose="02020603050405020304" pitchFamily="18" charset="0"/>
              <a:ea typeface="楷体" panose="02010609060101010101" charset="-122"/>
              <a:cs typeface="Times New Roman" panose="02020603050405020304" pitchFamily="18" charset="0"/>
            </a:endParaRPr>
          </a:p>
          <a:p>
            <a:pPr>
              <a:lnSpc>
                <a:spcPct val="90000"/>
              </a:lnSpc>
              <a:buNone/>
            </a:pPr>
            <a:r>
              <a:rPr lang="zh-CN" altLang="en-US" sz="2400" b="1">
                <a:latin typeface="Times New Roman" panose="02020603050405020304" pitchFamily="18" charset="0"/>
                <a:ea typeface="楷体" panose="02010609060101010101" charset="-122"/>
                <a:cs typeface="Times New Roman" panose="02020603050405020304" pitchFamily="18" charset="0"/>
              </a:rPr>
              <a:t>    电路元件参数</a:t>
            </a:r>
            <a:r>
              <a:rPr lang="en-US" altLang="zh-CN" sz="2400" b="1">
                <a:latin typeface="Times New Roman" panose="02020603050405020304" pitchFamily="18" charset="0"/>
                <a:ea typeface="楷体" panose="02010609060101010101" charset="-122"/>
                <a:cs typeface="Times New Roman" panose="02020603050405020304" pitchFamily="18" charset="0"/>
              </a:rPr>
              <a:t>——</a:t>
            </a:r>
            <a:r>
              <a:rPr lang="zh-CN" altLang="en-US" sz="2400" b="1">
                <a:latin typeface="Times New Roman" panose="02020603050405020304" pitchFamily="18" charset="0"/>
                <a:ea typeface="楷体" panose="02010609060101010101" charset="-122"/>
                <a:cs typeface="Times New Roman" panose="02020603050405020304" pitchFamily="18" charset="0"/>
              </a:rPr>
              <a:t>模拟滤波器</a:t>
            </a:r>
            <a:r>
              <a:rPr lang="en-US" altLang="zh-CN" sz="2400" b="1">
                <a:latin typeface="Times New Roman" panose="02020603050405020304" pitchFamily="18" charset="0"/>
                <a:ea typeface="楷体" panose="02010609060101010101" charset="-122"/>
                <a:cs typeface="Times New Roman" panose="02020603050405020304" pitchFamily="18" charset="0"/>
              </a:rPr>
              <a:t>RC</a:t>
            </a:r>
            <a:r>
              <a:rPr lang="zh-CN" altLang="en-US" sz="2400" b="1">
                <a:latin typeface="Times New Roman" panose="02020603050405020304" pitchFamily="18" charset="0"/>
                <a:ea typeface="楷体" panose="02010609060101010101" charset="-122"/>
                <a:cs typeface="Times New Roman" panose="02020603050405020304" pitchFamily="18" charset="0"/>
              </a:rPr>
              <a:t>值</a:t>
            </a:r>
            <a:endParaRPr lang="zh-CN" altLang="en-US" sz="2400" b="1">
              <a:latin typeface="Times New Roman" panose="02020603050405020304" pitchFamily="18" charset="0"/>
              <a:ea typeface="楷体" panose="02010609060101010101" charset="-122"/>
              <a:cs typeface="Times New Roman" panose="02020603050405020304" pitchFamily="18" charset="0"/>
            </a:endParaRPr>
          </a:p>
          <a:p>
            <a:pPr>
              <a:lnSpc>
                <a:spcPct val="90000"/>
              </a:lnSpc>
              <a:buNone/>
            </a:pPr>
            <a:r>
              <a:rPr lang="zh-CN" altLang="en-US" sz="2400" b="1">
                <a:latin typeface="Times New Roman" panose="02020603050405020304" pitchFamily="18" charset="0"/>
                <a:ea typeface="楷体" panose="02010609060101010101" charset="-122"/>
                <a:cs typeface="Times New Roman" panose="02020603050405020304" pitchFamily="18" charset="0"/>
              </a:rPr>
              <a:t>    软件参数设置</a:t>
            </a:r>
            <a:r>
              <a:rPr lang="en-US" altLang="zh-CN" sz="2400" b="1">
                <a:latin typeface="Times New Roman" panose="02020603050405020304" pitchFamily="18" charset="0"/>
                <a:ea typeface="楷体" panose="02010609060101010101" charset="-122"/>
                <a:cs typeface="Times New Roman" panose="02020603050405020304" pitchFamily="18" charset="0"/>
              </a:rPr>
              <a:t>——</a:t>
            </a:r>
            <a:r>
              <a:rPr lang="en-US" altLang="zh-CN" sz="2400" b="1">
                <a:latin typeface="Times New Roman" panose="02020603050405020304" pitchFamily="18" charset="0"/>
                <a:ea typeface="楷体" panose="02010609060101010101" charset="-122"/>
                <a:cs typeface="Times New Roman" panose="02020603050405020304" pitchFamily="18" charset="0"/>
              </a:rPr>
              <a:t>PID</a:t>
            </a:r>
            <a:r>
              <a:rPr lang="zh-CN" altLang="en-US" sz="2400" b="1">
                <a:latin typeface="Times New Roman" panose="02020603050405020304" pitchFamily="18" charset="0"/>
                <a:ea typeface="楷体" panose="02010609060101010101" charset="-122"/>
                <a:cs typeface="Times New Roman" panose="02020603050405020304" pitchFamily="18" charset="0"/>
              </a:rPr>
              <a:t>控制的比例、积分、微分常数</a:t>
            </a:r>
            <a:endParaRPr lang="zh-CN" altLang="en-US" sz="2400" b="1">
              <a:latin typeface="Times New Roman" panose="02020603050405020304" pitchFamily="18" charset="0"/>
              <a:ea typeface="楷体" panose="02010609060101010101" charset="-122"/>
              <a:cs typeface="Times New Roman" panose="02020603050405020304" pitchFamily="18" charset="0"/>
            </a:endParaRPr>
          </a:p>
          <a:p>
            <a:pPr algn="l">
              <a:lnSpc>
                <a:spcPct val="90000"/>
              </a:lnSpc>
              <a:buClrTx/>
              <a:buSzTx/>
            </a:pPr>
            <a:r>
              <a:rPr lang="zh-CN" altLang="en-US" sz="2800" b="1" u="sng">
                <a:solidFill>
                  <a:srgbClr val="FF0000"/>
                </a:solidFill>
                <a:latin typeface="Times New Roman" panose="02020603050405020304" pitchFamily="18" charset="0"/>
                <a:ea typeface="楷体" panose="02010609060101010101" charset="-122"/>
                <a:cs typeface="Times New Roman" panose="02020603050405020304" pitchFamily="18" charset="0"/>
              </a:rPr>
              <a:t>可以运用</a:t>
            </a:r>
            <a:endParaRPr lang="zh-CN" altLang="en-US" sz="2800" b="1" u="sng">
              <a:solidFill>
                <a:srgbClr val="FF0000"/>
              </a:solidFill>
              <a:latin typeface="Times New Roman" panose="02020603050405020304" pitchFamily="18" charset="0"/>
              <a:ea typeface="楷体" panose="02010609060101010101" charset="-122"/>
              <a:cs typeface="Times New Roman" panose="02020603050405020304" pitchFamily="18" charset="0"/>
            </a:endParaRPr>
          </a:p>
          <a:p>
            <a:pPr>
              <a:lnSpc>
                <a:spcPct val="90000"/>
              </a:lnSpc>
              <a:buNone/>
            </a:pPr>
            <a:r>
              <a:rPr lang="zh-CN" altLang="en-US" sz="2400" b="1">
                <a:latin typeface="Times New Roman" panose="02020603050405020304" pitchFamily="18" charset="0"/>
                <a:ea typeface="楷体" panose="02010609060101010101" charset="-122"/>
                <a:cs typeface="Times New Roman" panose="02020603050405020304" pitchFamily="18" charset="0"/>
              </a:rPr>
              <a:t>      理论公式计算</a:t>
            </a:r>
            <a:endParaRPr lang="zh-CN" altLang="en-US" sz="2400" b="1">
              <a:latin typeface="Times New Roman" panose="02020603050405020304" pitchFamily="18" charset="0"/>
              <a:ea typeface="楷体" panose="02010609060101010101" charset="-122"/>
              <a:cs typeface="Times New Roman" panose="02020603050405020304" pitchFamily="18" charset="0"/>
            </a:endParaRPr>
          </a:p>
          <a:p>
            <a:pPr>
              <a:lnSpc>
                <a:spcPct val="90000"/>
              </a:lnSpc>
              <a:buNone/>
            </a:pPr>
            <a:r>
              <a:rPr lang="zh-CN" altLang="en-US" sz="2400" b="1">
                <a:latin typeface="Times New Roman" panose="02020603050405020304" pitchFamily="18" charset="0"/>
                <a:ea typeface="楷体" panose="02010609060101010101" charset="-122"/>
                <a:cs typeface="Times New Roman" panose="02020603050405020304" pitchFamily="18" charset="0"/>
              </a:rPr>
              <a:t>      仿真软件（</a:t>
            </a:r>
            <a:r>
              <a:rPr lang="en-US" altLang="zh-CN" sz="2400" b="1">
                <a:latin typeface="Times New Roman" panose="02020603050405020304" pitchFamily="18" charset="0"/>
                <a:ea typeface="楷体" panose="02010609060101010101" charset="-122"/>
                <a:cs typeface="Times New Roman" panose="02020603050405020304" pitchFamily="18" charset="0"/>
              </a:rPr>
              <a:t>Matlab</a:t>
            </a:r>
            <a:r>
              <a:rPr lang="zh-CN" altLang="en-US" sz="2400" b="1">
                <a:latin typeface="Times New Roman" panose="02020603050405020304" pitchFamily="18" charset="0"/>
                <a:ea typeface="楷体" panose="02010609060101010101" charset="-122"/>
                <a:cs typeface="Times New Roman" panose="02020603050405020304" pitchFamily="18" charset="0"/>
              </a:rPr>
              <a:t>、</a:t>
            </a:r>
            <a:r>
              <a:rPr lang="en-US" altLang="zh-CN" sz="2400" b="1">
                <a:latin typeface="Times New Roman" panose="02020603050405020304" pitchFamily="18" charset="0"/>
                <a:ea typeface="楷体" panose="02010609060101010101" charset="-122"/>
                <a:cs typeface="Times New Roman" panose="02020603050405020304" pitchFamily="18" charset="0"/>
              </a:rPr>
              <a:t>Multisim</a:t>
            </a:r>
            <a:r>
              <a:rPr lang="zh-CN" altLang="en-US" sz="2400" b="1">
                <a:latin typeface="Times New Roman" panose="02020603050405020304" pitchFamily="18" charset="0"/>
                <a:ea typeface="楷体" panose="02010609060101010101" charset="-122"/>
                <a:cs typeface="Times New Roman" panose="02020603050405020304" pitchFamily="18" charset="0"/>
              </a:rPr>
              <a:t>） </a:t>
            </a:r>
            <a:endParaRPr lang="zh-CN" altLang="en-US" sz="2400" b="1">
              <a:latin typeface="Times New Roman" panose="02020603050405020304" pitchFamily="18" charset="0"/>
              <a:ea typeface="楷体" panose="02010609060101010101" charset="-122"/>
              <a:cs typeface="Times New Roman" panose="02020603050405020304" pitchFamily="18" charset="0"/>
            </a:endParaRPr>
          </a:p>
          <a:p>
            <a:pPr>
              <a:lnSpc>
                <a:spcPct val="90000"/>
              </a:lnSpc>
            </a:pPr>
            <a:r>
              <a:rPr lang="zh-CN" altLang="en-US" sz="2800" b="1" u="sng">
                <a:solidFill>
                  <a:srgbClr val="FF0000"/>
                </a:solidFill>
                <a:latin typeface="Times New Roman" panose="02020603050405020304" pitchFamily="18" charset="0"/>
                <a:ea typeface="楷体" panose="02010609060101010101" charset="-122"/>
                <a:cs typeface="Times New Roman" panose="02020603050405020304" pitchFamily="18" charset="0"/>
              </a:rPr>
              <a:t>硬件和软件分析时</a:t>
            </a:r>
            <a:r>
              <a:rPr lang="zh-CN" altLang="en-US" sz="2400" b="1">
                <a:latin typeface="Times New Roman" panose="02020603050405020304" pitchFamily="18" charset="0"/>
                <a:ea typeface="楷体" panose="02010609060101010101" charset="-122"/>
                <a:cs typeface="Times New Roman" panose="02020603050405020304" pitchFamily="18" charset="0"/>
              </a:rPr>
              <a:t>突出重点、难点和有特色部分（手写板输入任意波形）。</a:t>
            </a:r>
            <a:endParaRPr lang="zh-CN" altLang="en-US" sz="2400" b="1">
              <a:latin typeface="Times New Roman" panose="02020603050405020304" pitchFamily="18" charset="0"/>
              <a:ea typeface="楷体" panose="02010609060101010101" charset="-122"/>
              <a:cs typeface="Times New Roman" panose="02020603050405020304" pitchFamily="18" charset="0"/>
            </a:endParaRPr>
          </a:p>
          <a:p>
            <a:pPr>
              <a:lnSpc>
                <a:spcPct val="90000"/>
              </a:lnSpc>
            </a:pPr>
            <a:r>
              <a:rPr lang="zh-CN" altLang="en-US" sz="2800" b="1" u="sng">
                <a:solidFill>
                  <a:srgbClr val="FF0000"/>
                </a:solidFill>
                <a:latin typeface="Times New Roman" panose="02020603050405020304" pitchFamily="18" charset="0"/>
                <a:ea typeface="楷体" panose="02010609060101010101" charset="-122"/>
                <a:cs typeface="Times New Roman" panose="02020603050405020304" pitchFamily="18" charset="0"/>
              </a:rPr>
              <a:t>把熟知的电路、程序</a:t>
            </a:r>
            <a:r>
              <a:rPr lang="zh-CN" altLang="en-US" sz="2400" b="1">
                <a:latin typeface="Times New Roman" panose="02020603050405020304" pitchFamily="18" charset="0"/>
                <a:ea typeface="楷体" panose="02010609060101010101" charset="-122"/>
                <a:cs typeface="Times New Roman" panose="02020603050405020304" pitchFamily="18" charset="0"/>
              </a:rPr>
              <a:t>换个角度去描述，有新意</a:t>
            </a:r>
            <a:endParaRPr lang="zh-CN" altLang="en-US" sz="2400" b="1">
              <a:latin typeface="Times New Roman" panose="02020603050405020304" pitchFamily="18" charset="0"/>
              <a:ea typeface="楷体" panose="02010609060101010101" charset="-122"/>
              <a:cs typeface="Times New Roman" panose="02020603050405020304" pitchFamily="18" charset="0"/>
            </a:endParaRPr>
          </a:p>
          <a:p>
            <a:pPr>
              <a:lnSpc>
                <a:spcPct val="90000"/>
              </a:lnSpc>
            </a:pPr>
            <a:r>
              <a:rPr lang="zh-CN" altLang="en-US" sz="2800" b="1" u="sng">
                <a:solidFill>
                  <a:srgbClr val="FF0000"/>
                </a:solidFill>
                <a:latin typeface="Times New Roman" panose="02020603050405020304" pitchFamily="18" charset="0"/>
                <a:ea typeface="楷体" panose="02010609060101010101" charset="-122"/>
                <a:cs typeface="Times New Roman" panose="02020603050405020304" pitchFamily="18" charset="0"/>
              </a:rPr>
              <a:t>多阅读</a:t>
            </a:r>
            <a:r>
              <a:rPr lang="zh-CN" altLang="en-US" sz="2400" b="1">
                <a:latin typeface="Times New Roman" panose="02020603050405020304" pitchFamily="18" charset="0"/>
                <a:ea typeface="楷体" panose="02010609060101010101" charset="-122"/>
                <a:cs typeface="Times New Roman" panose="02020603050405020304" pitchFamily="18" charset="0"/>
              </a:rPr>
              <a:t>电子方面的科技论文。</a:t>
            </a:r>
            <a:endParaRPr lang="zh-CN" altLang="en-US" sz="2400" b="1">
              <a:latin typeface="Times New Roman" panose="02020603050405020304" pitchFamily="18" charset="0"/>
              <a:ea typeface="楷体" panose="02010609060101010101" charset="-122"/>
              <a:cs typeface="Times New Roman" panose="02020603050405020304" pitchFamily="18" charset="0"/>
            </a:endParaRPr>
          </a:p>
          <a:p>
            <a:pPr>
              <a:lnSpc>
                <a:spcPct val="90000"/>
              </a:lnSpc>
            </a:pPr>
            <a:r>
              <a:rPr lang="zh-CN" altLang="en-US" sz="2800" b="1" u="sng">
                <a:solidFill>
                  <a:srgbClr val="FF0000"/>
                </a:solidFill>
                <a:latin typeface="Times New Roman" panose="02020603050405020304" pitchFamily="18" charset="0"/>
                <a:ea typeface="楷体" panose="02010609060101010101" charset="-122"/>
                <a:cs typeface="Times New Roman" panose="02020603050405020304" pitchFamily="18" charset="0"/>
              </a:rPr>
              <a:t>软件描述</a:t>
            </a:r>
            <a:r>
              <a:rPr lang="zh-CN" altLang="en-US" sz="2400" b="1">
                <a:latin typeface="Times New Roman" panose="02020603050405020304" pitchFamily="18" charset="0"/>
                <a:ea typeface="楷体" panose="02010609060101010101" charset="-122"/>
                <a:cs typeface="Times New Roman" panose="02020603050405020304" pitchFamily="18" charset="0"/>
              </a:rPr>
              <a:t>使用面向对象的程序设计</a:t>
            </a:r>
            <a:endParaRPr lang="zh-CN" altLang="en-US" sz="2400" b="1">
              <a:latin typeface="Times New Roman" panose="02020603050405020304" pitchFamily="18" charset="0"/>
              <a:ea typeface="楷体" panose="02010609060101010101" charset="-122"/>
              <a:cs typeface="Times New Roman" panose="02020603050405020304" pitchFamily="18" charset="0"/>
            </a:endParaRPr>
          </a:p>
        </p:txBody>
      </p:sp>
      <p:graphicFrame>
        <p:nvGraphicFramePr>
          <p:cNvPr id="26628" name="内容占位符 26627"/>
          <p:cNvGraphicFramePr/>
          <p:nvPr>
            <p:ph sz="half" idx="2"/>
            <p:custDataLst>
              <p:tags r:id="rId1"/>
            </p:custDataLst>
          </p:nvPr>
        </p:nvGraphicFramePr>
        <p:xfrm>
          <a:off x="6837363" y="4969510"/>
          <a:ext cx="4487545" cy="1188720"/>
        </p:xfrm>
        <a:graphic>
          <a:graphicData uri="http://schemas.openxmlformats.org/drawingml/2006/table">
            <a:tbl>
              <a:tblPr/>
              <a:tblGrid>
                <a:gridCol w="1196975"/>
                <a:gridCol w="1450340"/>
                <a:gridCol w="1840230"/>
              </a:tblGrid>
              <a:tr h="39624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ClrTx/>
                        <a:buNone/>
                      </a:pPr>
                      <a:r>
                        <a:rPr lang="en-US" altLang="zh-CN" sz="2000" b="1">
                          <a:latin typeface="Times New Roman" panose="02020603050405020304" pitchFamily="18" charset="0"/>
                          <a:ea typeface="楷体" panose="02010609060101010101" charset="-122"/>
                          <a:cs typeface="Times New Roman" panose="02020603050405020304" pitchFamily="18" charset="0"/>
                        </a:rPr>
                        <a:t>   </a:t>
                      </a:r>
                      <a:r>
                        <a:rPr lang="zh-CN" altLang="en-US" sz="2000" b="1">
                          <a:latin typeface="Times New Roman" panose="02020603050405020304" pitchFamily="18" charset="0"/>
                          <a:ea typeface="楷体" panose="02010609060101010101" charset="-122"/>
                          <a:cs typeface="Times New Roman" panose="02020603050405020304" pitchFamily="18" charset="0"/>
                        </a:rPr>
                        <a:t>对象</a:t>
                      </a:r>
                      <a:endParaRPr lang="zh-CN" altLang="en-US" sz="2000" b="1">
                        <a:latin typeface="Times New Roman" panose="02020603050405020304" pitchFamily="18" charset="0"/>
                        <a:ea typeface="楷体" panose="02010609060101010101" charset="-122"/>
                        <a:cs typeface="Times New Roman" panose="02020603050405020304" pitchFamily="18" charset="0"/>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ClrTx/>
                        <a:buNone/>
                      </a:pPr>
                      <a:r>
                        <a:rPr lang="en-US" altLang="zh-CN" sz="2000" b="1">
                          <a:latin typeface="Times New Roman" panose="02020603050405020304" pitchFamily="18" charset="0"/>
                          <a:ea typeface="楷体" panose="02010609060101010101" charset="-122"/>
                          <a:cs typeface="Times New Roman" panose="02020603050405020304" pitchFamily="18" charset="0"/>
                        </a:rPr>
                        <a:t>LED</a:t>
                      </a:r>
                      <a:endParaRPr lang="en-US" altLang="zh-CN" sz="2000" b="1">
                        <a:latin typeface="Times New Roman" panose="02020603050405020304" pitchFamily="18" charset="0"/>
                        <a:ea typeface="楷体" panose="02010609060101010101" charset="-122"/>
                        <a:cs typeface="Times New Roman" panose="02020603050405020304" pitchFamily="18" charset="0"/>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ClrTx/>
                        <a:buNone/>
                      </a:pPr>
                      <a:r>
                        <a:rPr lang="en-US" altLang="zh-CN" sz="2000" b="1">
                          <a:latin typeface="Times New Roman" panose="02020603050405020304" pitchFamily="18" charset="0"/>
                          <a:ea typeface="楷体" panose="02010609060101010101" charset="-122"/>
                          <a:cs typeface="Times New Roman" panose="02020603050405020304" pitchFamily="18" charset="0"/>
                        </a:rPr>
                        <a:t>KEY</a:t>
                      </a:r>
                      <a:endParaRPr lang="en-US" altLang="zh-CN" sz="2000" b="1">
                        <a:latin typeface="Times New Roman" panose="02020603050405020304" pitchFamily="18" charset="0"/>
                        <a:ea typeface="楷体" panose="02010609060101010101" charset="-122"/>
                        <a:cs typeface="Times New Roman" panose="02020603050405020304" pitchFamily="18" charset="0"/>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528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ClrTx/>
                        <a:buNone/>
                      </a:pPr>
                      <a:r>
                        <a:rPr lang="en-US" altLang="zh-CN" sz="2000" b="1">
                          <a:latin typeface="Times New Roman" panose="02020603050405020304" pitchFamily="18" charset="0"/>
                          <a:ea typeface="楷体" panose="02010609060101010101" charset="-122"/>
                          <a:cs typeface="Times New Roman" panose="02020603050405020304" pitchFamily="18" charset="0"/>
                        </a:rPr>
                        <a:t>   </a:t>
                      </a:r>
                      <a:r>
                        <a:rPr lang="zh-CN" altLang="en-US" sz="2000" b="1">
                          <a:latin typeface="Times New Roman" panose="02020603050405020304" pitchFamily="18" charset="0"/>
                          <a:ea typeface="楷体" panose="02010609060101010101" charset="-122"/>
                          <a:cs typeface="Times New Roman" panose="02020603050405020304" pitchFamily="18" charset="0"/>
                        </a:rPr>
                        <a:t>属性</a:t>
                      </a:r>
                      <a:endParaRPr lang="zh-CN" altLang="en-US" sz="2000" b="1">
                        <a:latin typeface="Times New Roman" panose="02020603050405020304" pitchFamily="18" charset="0"/>
                        <a:ea typeface="楷体" panose="02010609060101010101" charset="-122"/>
                        <a:cs typeface="Times New Roman" panose="02020603050405020304" pitchFamily="18" charset="0"/>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ClrTx/>
                        <a:buNone/>
                      </a:pPr>
                      <a:r>
                        <a:rPr lang="zh-CN" altLang="en-US" sz="2000" b="1">
                          <a:latin typeface="Times New Roman" panose="02020603050405020304" pitchFamily="18" charset="0"/>
                          <a:ea typeface="楷体" panose="02010609060101010101" charset="-122"/>
                        </a:rPr>
                        <a:t>点亮状态</a:t>
                      </a:r>
                      <a:endParaRPr lang="zh-CN" altLang="en-US" sz="2000" b="1">
                        <a:latin typeface="Times New Roman" panose="02020603050405020304" pitchFamily="18" charset="0"/>
                        <a:ea typeface="楷体" panose="0201060906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ClrTx/>
                        <a:buNone/>
                      </a:pPr>
                      <a:r>
                        <a:rPr lang="zh-CN" altLang="en-US" sz="2000" b="1">
                          <a:latin typeface="Times New Roman" panose="02020603050405020304" pitchFamily="18" charset="0"/>
                          <a:ea typeface="楷体" panose="02010609060101010101" charset="-122"/>
                        </a:rPr>
                        <a:t>按键状态</a:t>
                      </a:r>
                      <a:endParaRPr lang="zh-CN" altLang="en-US" sz="2000" b="1">
                        <a:latin typeface="Times New Roman" panose="02020603050405020304" pitchFamily="18" charset="0"/>
                        <a:ea typeface="楷体" panose="0201060906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3655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ClrTx/>
                        <a:buNone/>
                      </a:pPr>
                      <a:r>
                        <a:rPr lang="en-US" altLang="zh-CN" sz="2000" b="1">
                          <a:latin typeface="Times New Roman" panose="02020603050405020304" pitchFamily="18" charset="0"/>
                          <a:ea typeface="楷体" panose="02010609060101010101" charset="-122"/>
                          <a:cs typeface="Times New Roman" panose="02020603050405020304" pitchFamily="18" charset="0"/>
                        </a:rPr>
                        <a:t>   </a:t>
                      </a:r>
                      <a:r>
                        <a:rPr lang="zh-CN" altLang="en-US" sz="2000" b="1">
                          <a:latin typeface="Times New Roman" panose="02020603050405020304" pitchFamily="18" charset="0"/>
                          <a:ea typeface="楷体" panose="02010609060101010101" charset="-122"/>
                          <a:cs typeface="Times New Roman" panose="02020603050405020304" pitchFamily="18" charset="0"/>
                        </a:rPr>
                        <a:t>操作</a:t>
                      </a:r>
                      <a:endParaRPr lang="zh-CN" altLang="en-US" sz="2000" b="1">
                        <a:latin typeface="Times New Roman" panose="02020603050405020304" pitchFamily="18" charset="0"/>
                        <a:ea typeface="楷体" panose="02010609060101010101" charset="-122"/>
                        <a:cs typeface="Times New Roman" panose="02020603050405020304" pitchFamily="18" charset="0"/>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ClrTx/>
                        <a:buNone/>
                      </a:pPr>
                      <a:r>
                        <a:rPr lang="zh-CN" altLang="en-US" sz="2000" b="1">
                          <a:latin typeface="Times New Roman" panose="02020603050405020304" pitchFamily="18" charset="0"/>
                          <a:ea typeface="楷体" panose="02010609060101010101" charset="-122"/>
                        </a:rPr>
                        <a:t>扫描</a:t>
                      </a:r>
                      <a:endParaRPr lang="zh-CN" altLang="en-US" sz="2000" b="1">
                        <a:latin typeface="Times New Roman" panose="02020603050405020304" pitchFamily="18" charset="0"/>
                        <a:ea typeface="楷体" panose="0201060906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ClrTx/>
                        <a:buNone/>
                      </a:pPr>
                      <a:r>
                        <a:rPr lang="zh-CN" altLang="en-US" sz="2000" b="1">
                          <a:latin typeface="Times New Roman" panose="02020603050405020304" pitchFamily="18" charset="0"/>
                          <a:ea typeface="楷体" panose="02010609060101010101" charset="-122"/>
                        </a:rPr>
                        <a:t>功能选择</a:t>
                      </a:r>
                      <a:endParaRPr lang="zh-CN" altLang="en-US" sz="2000" b="1">
                        <a:latin typeface="Times New Roman" panose="02020603050405020304" pitchFamily="18" charset="0"/>
                        <a:ea typeface="楷体" panose="0201060906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标题 27649"/>
          <p:cNvSpPr>
            <a:spLocks noGrp="1" noRot="1"/>
          </p:cNvSpPr>
          <p:nvPr>
            <p:ph type="title"/>
          </p:nvPr>
        </p:nvSpPr>
        <p:spPr>
          <a:xfrm>
            <a:off x="417195" y="123825"/>
            <a:ext cx="5956300" cy="689610"/>
          </a:xfrm>
          <a:solidFill>
            <a:schemeClr val="bg1"/>
          </a:solidFill>
        </p:spPr>
        <p:txBody>
          <a:bodyPr anchor="ctr"/>
          <a:p>
            <a:pPr marL="685800" indent="-685800">
              <a:lnSpc>
                <a:spcPct val="90000"/>
              </a:lnSpc>
            </a:pP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3.5  </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理论分析与计算</a:t>
            </a:r>
            <a:r>
              <a:rPr lang="zh-CN" altLang="en-US" sz="2800" b="1" u="sng">
                <a:solidFill>
                  <a:srgbClr val="FF0000"/>
                </a:solidFill>
                <a:latin typeface="Times New Roman" panose="02020603050405020304" pitchFamily="18" charset="0"/>
                <a:ea typeface="楷体" panose="02010609060101010101" charset="-122"/>
                <a:cs typeface="Times New Roman" panose="02020603050405020304" pitchFamily="18" charset="0"/>
              </a:rPr>
              <a:t>（案例）</a:t>
            </a:r>
            <a:endParaRPr lang="zh-CN" altLang="en-US" sz="2800" b="1" u="sng">
              <a:solidFill>
                <a:srgbClr val="FF0000"/>
              </a:solidFill>
              <a:latin typeface="Times New Roman" panose="02020603050405020304" pitchFamily="18" charset="0"/>
              <a:ea typeface="楷体" panose="02010609060101010101" charset="-122"/>
              <a:cs typeface="Times New Roman" panose="02020603050405020304" pitchFamily="18" charset="0"/>
            </a:endParaRPr>
          </a:p>
        </p:txBody>
      </p:sp>
      <p:sp>
        <p:nvSpPr>
          <p:cNvPr id="27651" name="文本占位符 27650"/>
          <p:cNvSpPr>
            <a:spLocks noGrp="1" noRot="1"/>
          </p:cNvSpPr>
          <p:nvPr>
            <p:ph type="body" sz="half" idx="1"/>
          </p:nvPr>
        </p:nvSpPr>
        <p:spPr>
          <a:xfrm>
            <a:off x="380365" y="980440"/>
            <a:ext cx="11474450" cy="5483860"/>
          </a:xfrm>
          <a:solidFill>
            <a:schemeClr val="bg1"/>
          </a:solidFill>
        </p:spPr>
        <p:txBody>
          <a:bodyPr/>
          <a:p>
            <a:pPr marL="0" indent="617220" eaLnBrk="1">
              <a:lnSpc>
                <a:spcPct val="100000"/>
              </a:lnSpc>
              <a:spcBef>
                <a:spcPts val="0"/>
              </a:spcBef>
              <a:buNone/>
            </a:pPr>
            <a:r>
              <a:rPr lang="zh-CN" altLang="en-US" u="sng">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可控增益宽带放大器设计</a:t>
            </a:r>
            <a:r>
              <a:rPr lang="zh-CN" altLang="en-US">
                <a:latin typeface="Times New Roman" panose="02020603050405020304" pitchFamily="18" charset="0"/>
                <a:ea typeface="楷体" panose="02010609060101010101" charset="-122"/>
                <a:cs typeface="Times New Roman" panose="02020603050405020304" pitchFamily="18" charset="0"/>
              </a:rPr>
              <a:t>可控增益宽带放大器由芯片</a:t>
            </a:r>
            <a:r>
              <a:rPr lang="en-US" altLang="zh-CN">
                <a:latin typeface="Times New Roman" panose="02020603050405020304" pitchFamily="18" charset="0"/>
                <a:ea typeface="楷体" panose="02010609060101010101" charset="-122"/>
                <a:cs typeface="Times New Roman" panose="02020603050405020304" pitchFamily="18" charset="0"/>
              </a:rPr>
              <a:t>AD603</a:t>
            </a:r>
            <a:r>
              <a:rPr lang="zh-CN" altLang="en-US">
                <a:latin typeface="Times New Roman" panose="02020603050405020304" pitchFamily="18" charset="0"/>
                <a:ea typeface="楷体" panose="02010609060101010101" charset="-122"/>
                <a:cs typeface="Times New Roman" panose="02020603050405020304" pitchFamily="18" charset="0"/>
              </a:rPr>
              <a:t>构成。</a:t>
            </a:r>
            <a:r>
              <a:rPr lang="en-US" altLang="zh-CN">
                <a:latin typeface="Times New Roman" panose="02020603050405020304" pitchFamily="18" charset="0"/>
                <a:ea typeface="楷体" panose="02010609060101010101" charset="-122"/>
                <a:cs typeface="Times New Roman" panose="02020603050405020304" pitchFamily="18" charset="0"/>
              </a:rPr>
              <a:t>AD603</a:t>
            </a:r>
            <a:r>
              <a:rPr lang="zh-CN" altLang="en-US">
                <a:latin typeface="Times New Roman" panose="02020603050405020304" pitchFamily="18" charset="0"/>
                <a:ea typeface="楷体" panose="02010609060101010101" charset="-122"/>
                <a:cs typeface="Times New Roman" panose="02020603050405020304" pitchFamily="18" charset="0"/>
              </a:rPr>
              <a:t>为单通道、低噪声、增益变化范围线性连续可调的可控增益放大器。</a:t>
            </a:r>
            <a:endParaRPr lang="zh-CN" altLang="en-US">
              <a:latin typeface="Times New Roman" panose="02020603050405020304" pitchFamily="18" charset="0"/>
              <a:ea typeface="楷体" panose="02010609060101010101" charset="-122"/>
              <a:cs typeface="Times New Roman" panose="02020603050405020304" pitchFamily="18" charset="0"/>
            </a:endParaRPr>
          </a:p>
          <a:p>
            <a:pPr marL="0" indent="617220" eaLnBrk="1">
              <a:lnSpc>
                <a:spcPct val="100000"/>
              </a:lnSpc>
              <a:spcBef>
                <a:spcPts val="0"/>
              </a:spcBef>
              <a:buNone/>
            </a:pPr>
            <a:r>
              <a:rPr lang="en-US" altLang="zh-CN">
                <a:latin typeface="Times New Roman" panose="02020603050405020304" pitchFamily="18" charset="0"/>
                <a:ea typeface="楷体" panose="02010609060101010101" charset="-122"/>
                <a:cs typeface="Times New Roman" panose="02020603050405020304" pitchFamily="18" charset="0"/>
              </a:rPr>
              <a:t>AD603</a:t>
            </a:r>
            <a:r>
              <a:rPr lang="zh-CN" altLang="en-US">
                <a:latin typeface="Times New Roman" panose="02020603050405020304" pitchFamily="18" charset="0"/>
                <a:ea typeface="楷体" panose="02010609060101010101" charset="-122"/>
                <a:cs typeface="Times New Roman" panose="02020603050405020304" pitchFamily="18" charset="0"/>
              </a:rPr>
              <a:t>引脚端封装形式和内部结构如图</a:t>
            </a:r>
            <a:r>
              <a:rPr lang="en-US" altLang="zh-CN">
                <a:latin typeface="Times New Roman" panose="02020603050405020304" pitchFamily="18" charset="0"/>
                <a:ea typeface="楷体" panose="02010609060101010101" charset="-122"/>
                <a:cs typeface="Times New Roman" panose="02020603050405020304" pitchFamily="18" charset="0"/>
              </a:rPr>
              <a:t>X.X.X</a:t>
            </a:r>
            <a:r>
              <a:rPr lang="zh-CN" altLang="en-US">
                <a:latin typeface="Times New Roman" panose="02020603050405020304" pitchFamily="18" charset="0"/>
                <a:ea typeface="楷体" panose="02010609060101010101" charset="-122"/>
                <a:cs typeface="Times New Roman" panose="02020603050405020304" pitchFamily="18" charset="0"/>
              </a:rPr>
              <a:t>所示，引脚端功能如表</a:t>
            </a:r>
            <a:r>
              <a:rPr lang="en-US" altLang="zh-CN">
                <a:latin typeface="Times New Roman" panose="02020603050405020304" pitchFamily="18" charset="0"/>
                <a:ea typeface="楷体" panose="02010609060101010101" charset="-122"/>
                <a:cs typeface="Times New Roman" panose="02020603050405020304" pitchFamily="18" charset="0"/>
              </a:rPr>
              <a:t>X.X.X</a:t>
            </a:r>
            <a:r>
              <a:rPr lang="zh-CN" altLang="en-US">
                <a:latin typeface="Times New Roman" panose="02020603050405020304" pitchFamily="18" charset="0"/>
                <a:ea typeface="楷体" panose="02010609060101010101" charset="-122"/>
                <a:cs typeface="Times New Roman" panose="02020603050405020304" pitchFamily="18" charset="0"/>
              </a:rPr>
              <a:t>所示。</a:t>
            </a:r>
            <a:r>
              <a:rPr lang="en-US" altLang="zh-CN">
                <a:latin typeface="Times New Roman" panose="02020603050405020304" pitchFamily="18" charset="0"/>
                <a:ea typeface="楷体" panose="02010609060101010101" charset="-122"/>
                <a:cs typeface="Times New Roman" panose="02020603050405020304" pitchFamily="18" charset="0"/>
              </a:rPr>
              <a:t>AD603</a:t>
            </a:r>
            <a:r>
              <a:rPr lang="zh-CN" altLang="en-US">
                <a:latin typeface="Times New Roman" panose="02020603050405020304" pitchFamily="18" charset="0"/>
                <a:ea typeface="楷体" panose="02010609060101010101" charset="-122"/>
                <a:cs typeface="Times New Roman" panose="02020603050405020304" pitchFamily="18" charset="0"/>
              </a:rPr>
              <a:t>的内部结构由无源输入衰减器、增益控制界面和固定增益放大器三部分组成。图中加在梯形网络输入端</a:t>
            </a:r>
            <a:r>
              <a:rPr lang="en-US" altLang="zh-CN">
                <a:latin typeface="Times New Roman" panose="02020603050405020304" pitchFamily="18" charset="0"/>
                <a:ea typeface="楷体" panose="02010609060101010101" charset="-122"/>
                <a:cs typeface="Times New Roman" panose="02020603050405020304" pitchFamily="18" charset="0"/>
              </a:rPr>
              <a:t>（VINP）</a:t>
            </a:r>
            <a:r>
              <a:rPr lang="zh-CN" altLang="en-US">
                <a:latin typeface="Times New Roman" panose="02020603050405020304" pitchFamily="18" charset="0"/>
                <a:ea typeface="楷体" panose="02010609060101010101" charset="-122"/>
                <a:cs typeface="Times New Roman" panose="02020603050405020304" pitchFamily="18" charset="0"/>
              </a:rPr>
              <a:t>的信号经衰减后，由固定增益放大器输出，衰减量是由加在增益控制接口的电压决定。增益的调整与其自身电压值无关，而仅与</a:t>
            </a:r>
            <a:r>
              <a:rPr lang="en-US" altLang="zh-CN">
                <a:latin typeface="Times New Roman" panose="02020603050405020304" pitchFamily="18" charset="0"/>
                <a:ea typeface="楷体" panose="02010609060101010101" charset="-122"/>
                <a:cs typeface="Times New Roman" panose="02020603050405020304" pitchFamily="18" charset="0"/>
              </a:rPr>
              <a:t>GPOS/GNEG</a:t>
            </a:r>
            <a:r>
              <a:rPr lang="zh-CN" altLang="en-US">
                <a:latin typeface="Times New Roman" panose="02020603050405020304" pitchFamily="18" charset="0"/>
                <a:ea typeface="楷体" panose="02010609060101010101" charset="-122"/>
                <a:cs typeface="Times New Roman" panose="02020603050405020304" pitchFamily="18" charset="0"/>
              </a:rPr>
              <a:t>端口差值</a:t>
            </a:r>
            <a:r>
              <a:rPr lang="en-US" altLang="zh-CN">
                <a:latin typeface="Times New Roman" panose="02020603050405020304" pitchFamily="18" charset="0"/>
                <a:ea typeface="楷体" panose="02010609060101010101" charset="-122"/>
                <a:cs typeface="Times New Roman" panose="02020603050405020304" pitchFamily="18" charset="0"/>
              </a:rPr>
              <a:t>Ug</a:t>
            </a:r>
            <a:r>
              <a:rPr lang="zh-CN" altLang="en-US">
                <a:latin typeface="Times New Roman" panose="02020603050405020304" pitchFamily="18" charset="0"/>
                <a:ea typeface="楷体" panose="02010609060101010101" charset="-122"/>
                <a:cs typeface="Times New Roman" panose="02020603050405020304" pitchFamily="18" charset="0"/>
              </a:rPr>
              <a:t>有关。由于控制电压</a:t>
            </a:r>
            <a:r>
              <a:rPr lang="en-US" altLang="zh-CN">
                <a:latin typeface="Times New Roman" panose="02020603050405020304" pitchFamily="18" charset="0"/>
                <a:ea typeface="楷体" panose="02010609060101010101" charset="-122"/>
                <a:cs typeface="Times New Roman" panose="02020603050405020304" pitchFamily="18" charset="0"/>
              </a:rPr>
              <a:t>GPOS/GNEG</a:t>
            </a:r>
            <a:r>
              <a:rPr lang="zh-CN" altLang="en-US">
                <a:latin typeface="Times New Roman" panose="02020603050405020304" pitchFamily="18" charset="0"/>
                <a:ea typeface="楷体" panose="02010609060101010101" charset="-122"/>
                <a:cs typeface="Times New Roman" panose="02020603050405020304" pitchFamily="18" charset="0"/>
              </a:rPr>
              <a:t>端的输入电阻高达</a:t>
            </a:r>
            <a:r>
              <a:rPr lang="en-US" altLang="zh-CN">
                <a:latin typeface="Times New Roman" panose="02020603050405020304" pitchFamily="18" charset="0"/>
                <a:ea typeface="楷体" panose="02010609060101010101" charset="-122"/>
                <a:cs typeface="Times New Roman" panose="02020603050405020304" pitchFamily="18" charset="0"/>
              </a:rPr>
              <a:t>50MΩ</a:t>
            </a:r>
            <a:r>
              <a:rPr lang="zh-CN" altLang="en-US">
                <a:latin typeface="Times New Roman" panose="02020603050405020304" pitchFamily="18" charset="0"/>
                <a:ea typeface="楷体" panose="02010609060101010101" charset="-122"/>
                <a:cs typeface="Times New Roman" panose="02020603050405020304" pitchFamily="18" charset="0"/>
              </a:rPr>
              <a:t>，输入电流很小，片内控制电路对提供增益控制电压的外电路影响很小。</a:t>
            </a:r>
            <a:endParaRPr lang="zh-CN" altLang="en-US">
              <a:latin typeface="Times New Roman" panose="02020603050405020304" pitchFamily="18" charset="0"/>
              <a:ea typeface="楷体" panose="02010609060101010101" charset="-122"/>
              <a:cs typeface="Times New Roman" panose="02020603050405020304" pitchFamily="18" charset="0"/>
            </a:endParaRPr>
          </a:p>
          <a:p>
            <a:pPr marL="0" indent="617220" eaLnBrk="1">
              <a:lnSpc>
                <a:spcPct val="100000"/>
              </a:lnSpc>
              <a:spcBef>
                <a:spcPts val="0"/>
              </a:spcBef>
              <a:buNone/>
            </a:pPr>
            <a:r>
              <a:rPr lang="en-US" altLang="zh-CN">
                <a:latin typeface="Times New Roman" panose="02020603050405020304" pitchFamily="18" charset="0"/>
                <a:ea typeface="楷体" panose="02010609060101010101" charset="-122"/>
                <a:cs typeface="Times New Roman" panose="02020603050405020304" pitchFamily="18" charset="0"/>
              </a:rPr>
              <a:t>AD603</a:t>
            </a:r>
            <a:r>
              <a:rPr lang="zh-CN" altLang="en-US">
                <a:latin typeface="Times New Roman" panose="02020603050405020304" pitchFamily="18" charset="0"/>
                <a:ea typeface="楷体" panose="02010609060101010101" charset="-122"/>
                <a:cs typeface="Times New Roman" panose="02020603050405020304" pitchFamily="18" charset="0"/>
              </a:rPr>
              <a:t>在带宽</a:t>
            </a:r>
            <a:r>
              <a:rPr lang="en-US" altLang="zh-CN">
                <a:latin typeface="Times New Roman" panose="02020603050405020304" pitchFamily="18" charset="0"/>
                <a:ea typeface="楷体" panose="02010609060101010101" charset="-122"/>
                <a:cs typeface="Times New Roman" panose="02020603050405020304" pitchFamily="18" charset="0"/>
              </a:rPr>
              <a:t>90MHz</a:t>
            </a:r>
            <a:r>
              <a:rPr lang="zh-CN" altLang="en-US">
                <a:latin typeface="Times New Roman" panose="02020603050405020304" pitchFamily="18" charset="0"/>
                <a:ea typeface="楷体" panose="02010609060101010101" charset="-122"/>
                <a:cs typeface="Times New Roman" panose="02020603050405020304" pitchFamily="18" charset="0"/>
              </a:rPr>
              <a:t>时，其增益变化范围为</a:t>
            </a:r>
            <a:r>
              <a:rPr lang="en-US" altLang="zh-CN">
                <a:latin typeface="Times New Roman" panose="02020603050405020304" pitchFamily="18" charset="0"/>
                <a:ea typeface="楷体" panose="02010609060101010101" charset="-122"/>
                <a:cs typeface="Times New Roman" panose="02020603050405020304" pitchFamily="18" charset="0"/>
              </a:rPr>
              <a:t>-10</a:t>
            </a:r>
            <a:r>
              <a:rPr lang="zh-CN" altLang="en-US">
                <a:latin typeface="Times New Roman" panose="02020603050405020304" pitchFamily="18" charset="0"/>
                <a:ea typeface="楷体" panose="02010609060101010101" charset="-122"/>
                <a:cs typeface="Times New Roman" panose="02020603050405020304" pitchFamily="18" charset="0"/>
              </a:rPr>
              <a:t>～</a:t>
            </a:r>
            <a:r>
              <a:rPr lang="en-US" altLang="zh-CN">
                <a:latin typeface="Times New Roman" panose="02020603050405020304" pitchFamily="18" charset="0"/>
                <a:ea typeface="楷体" panose="02010609060101010101" charset="-122"/>
                <a:cs typeface="Times New Roman" panose="02020603050405020304" pitchFamily="18" charset="0"/>
              </a:rPr>
              <a:t>+30 dB</a:t>
            </a:r>
            <a:r>
              <a:rPr lang="zh-CN" altLang="en-US">
                <a:latin typeface="Times New Roman" panose="02020603050405020304" pitchFamily="18" charset="0"/>
                <a:ea typeface="楷体" panose="02010609060101010101" charset="-122"/>
                <a:cs typeface="Times New Roman" panose="02020603050405020304" pitchFamily="18" charset="0"/>
              </a:rPr>
              <a:t>；带宽</a:t>
            </a:r>
            <a:r>
              <a:rPr lang="en-US" altLang="zh-CN">
                <a:latin typeface="Times New Roman" panose="02020603050405020304" pitchFamily="18" charset="0"/>
                <a:ea typeface="楷体" panose="02010609060101010101" charset="-122"/>
                <a:cs typeface="Times New Roman" panose="02020603050405020304" pitchFamily="18" charset="0"/>
              </a:rPr>
              <a:t>30 MHz</a:t>
            </a:r>
            <a:r>
              <a:rPr lang="zh-CN" altLang="en-US">
                <a:latin typeface="Times New Roman" panose="02020603050405020304" pitchFamily="18" charset="0"/>
                <a:ea typeface="楷体" panose="02010609060101010101" charset="-122"/>
                <a:cs typeface="Times New Roman" panose="02020603050405020304" pitchFamily="18" charset="0"/>
              </a:rPr>
              <a:t>时，其增益变化范围为</a:t>
            </a:r>
            <a:r>
              <a:rPr lang="en-US" altLang="zh-CN">
                <a:latin typeface="Times New Roman" panose="02020603050405020304" pitchFamily="18" charset="0"/>
                <a:ea typeface="楷体" panose="02010609060101010101" charset="-122"/>
                <a:cs typeface="Times New Roman" panose="02020603050405020304" pitchFamily="18" charset="0"/>
              </a:rPr>
              <a:t>0</a:t>
            </a:r>
            <a:r>
              <a:rPr lang="zh-CN" altLang="en-US">
                <a:latin typeface="Times New Roman" panose="02020603050405020304" pitchFamily="18" charset="0"/>
                <a:ea typeface="楷体" panose="02010609060101010101" charset="-122"/>
                <a:cs typeface="Times New Roman" panose="02020603050405020304" pitchFamily="18" charset="0"/>
              </a:rPr>
              <a:t>～</a:t>
            </a:r>
            <a:r>
              <a:rPr lang="en-US" altLang="zh-CN">
                <a:latin typeface="Times New Roman" panose="02020603050405020304" pitchFamily="18" charset="0"/>
                <a:ea typeface="楷体" panose="02010609060101010101" charset="-122"/>
                <a:cs typeface="Times New Roman" panose="02020603050405020304" pitchFamily="18" charset="0"/>
              </a:rPr>
              <a:t>+40 dB</a:t>
            </a:r>
            <a:r>
              <a:rPr lang="zh-CN" altLang="en-US">
                <a:latin typeface="Times New Roman" panose="02020603050405020304" pitchFamily="18" charset="0"/>
                <a:ea typeface="楷体" panose="02010609060101010101" charset="-122"/>
                <a:cs typeface="Times New Roman" panose="02020603050405020304" pitchFamily="18" charset="0"/>
              </a:rPr>
              <a:t>；带宽为</a:t>
            </a:r>
            <a:r>
              <a:rPr lang="en-US" altLang="zh-CN">
                <a:latin typeface="Times New Roman" panose="02020603050405020304" pitchFamily="18" charset="0"/>
                <a:ea typeface="楷体" panose="02010609060101010101" charset="-122"/>
                <a:cs typeface="Times New Roman" panose="02020603050405020304" pitchFamily="18" charset="0"/>
              </a:rPr>
              <a:t>9MHz</a:t>
            </a:r>
            <a:r>
              <a:rPr lang="zh-CN" altLang="en-US">
                <a:latin typeface="Times New Roman" panose="02020603050405020304" pitchFamily="18" charset="0"/>
                <a:ea typeface="楷体" panose="02010609060101010101" charset="-122"/>
                <a:cs typeface="Times New Roman" panose="02020603050405020304" pitchFamily="18" charset="0"/>
              </a:rPr>
              <a:t>时，范围为</a:t>
            </a:r>
            <a:r>
              <a:rPr lang="en-US" altLang="zh-CN">
                <a:latin typeface="Times New Roman" panose="02020603050405020304" pitchFamily="18" charset="0"/>
                <a:ea typeface="楷体" panose="02010609060101010101" charset="-122"/>
                <a:cs typeface="Times New Roman" panose="02020603050405020304" pitchFamily="18" charset="0"/>
              </a:rPr>
              <a:t>10</a:t>
            </a:r>
            <a:r>
              <a:rPr lang="zh-CN" altLang="en-US">
                <a:latin typeface="Times New Roman" panose="02020603050405020304" pitchFamily="18" charset="0"/>
                <a:ea typeface="楷体" panose="02010609060101010101" charset="-122"/>
                <a:cs typeface="Times New Roman" panose="02020603050405020304" pitchFamily="18" charset="0"/>
              </a:rPr>
              <a:t>～</a:t>
            </a:r>
            <a:r>
              <a:rPr lang="en-US" altLang="zh-CN">
                <a:latin typeface="Times New Roman" panose="02020603050405020304" pitchFamily="18" charset="0"/>
                <a:ea typeface="楷体" panose="02010609060101010101" charset="-122"/>
                <a:cs typeface="Times New Roman" panose="02020603050405020304" pitchFamily="18" charset="0"/>
              </a:rPr>
              <a:t>50 dB</a:t>
            </a:r>
            <a:r>
              <a:rPr lang="zh-CN" altLang="en-US">
                <a:latin typeface="Times New Roman" panose="02020603050405020304" pitchFamily="18" charset="0"/>
                <a:ea typeface="楷体" panose="02010609060101010101" charset="-122"/>
                <a:cs typeface="Times New Roman" panose="02020603050405020304" pitchFamily="18" charset="0"/>
              </a:rPr>
              <a:t>，电路结构如图</a:t>
            </a:r>
            <a:r>
              <a:rPr lang="en-US" altLang="zh-CN">
                <a:latin typeface="Times New Roman" panose="02020603050405020304" pitchFamily="18" charset="0"/>
                <a:ea typeface="楷体" panose="02010609060101010101" charset="-122"/>
                <a:cs typeface="Times New Roman" panose="02020603050405020304" pitchFamily="18" charset="0"/>
              </a:rPr>
              <a:t>X.X.X</a:t>
            </a:r>
            <a:r>
              <a:rPr lang="zh-CN" altLang="en-US">
                <a:latin typeface="Times New Roman" panose="02020603050405020304" pitchFamily="18" charset="0"/>
                <a:ea typeface="楷体" panose="02010609060101010101" charset="-122"/>
                <a:cs typeface="Times New Roman" panose="02020603050405020304" pitchFamily="18" charset="0"/>
              </a:rPr>
              <a:t>所示。</a:t>
            </a:r>
            <a:endParaRPr lang="zh-CN" altLang="en-US">
              <a:latin typeface="Times New Roman" panose="02020603050405020304" pitchFamily="18" charset="0"/>
              <a:ea typeface="楷体" panose="02010609060101010101" charset="-122"/>
              <a:cs typeface="Times New Roman" panose="02020603050405020304" pitchFamily="18" charset="0"/>
            </a:endParaRPr>
          </a:p>
          <a:p>
            <a:pPr marL="0" indent="0" eaLnBrk="1">
              <a:lnSpc>
                <a:spcPct val="80000"/>
              </a:lnSpc>
              <a:spcBef>
                <a:spcPts val="0"/>
              </a:spcBef>
              <a:buNone/>
            </a:pPr>
            <a:r>
              <a:rPr lang="zh-CN" altLang="en-US" sz="1800">
                <a:latin typeface="Times New Roman" panose="02020603050405020304" pitchFamily="18" charset="0"/>
                <a:ea typeface="楷体" panose="02010609060101010101" charset="-122"/>
                <a:cs typeface="Times New Roman" panose="02020603050405020304" pitchFamily="18" charset="0"/>
              </a:rPr>
              <a:t>          </a:t>
            </a:r>
            <a:endParaRPr lang="zh-CN" altLang="en-US" sz="1800">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5" name="文本占位符 28674"/>
          <p:cNvSpPr>
            <a:spLocks noGrp="1" noRot="1"/>
          </p:cNvSpPr>
          <p:nvPr>
            <p:ph type="body" idx="1"/>
          </p:nvPr>
        </p:nvSpPr>
        <p:spPr>
          <a:xfrm>
            <a:off x="354330" y="813435"/>
            <a:ext cx="11482705" cy="5757545"/>
          </a:xfrm>
          <a:solidFill>
            <a:schemeClr val="bg1"/>
          </a:solidFill>
        </p:spPr>
        <p:txBody>
          <a:bodyPr/>
          <a:p>
            <a:pPr marL="0" indent="607695">
              <a:lnSpc>
                <a:spcPct val="150000"/>
              </a:lnSpc>
              <a:buNone/>
            </a:pPr>
            <a:r>
              <a:rPr lang="en-US" altLang="zh-CN" sz="2400">
                <a:latin typeface="Times New Roman" panose="02020603050405020304" pitchFamily="18" charset="0"/>
                <a:ea typeface="楷体" panose="02010609060101010101" charset="-122"/>
                <a:cs typeface="Times New Roman" panose="02020603050405020304" pitchFamily="18" charset="0"/>
              </a:rPr>
              <a:t>2</a:t>
            </a:r>
            <a:r>
              <a:rPr lang="zh-CN" altLang="en-US" sz="2400">
                <a:latin typeface="Times New Roman" panose="02020603050405020304" pitchFamily="18" charset="0"/>
                <a:ea typeface="楷体" panose="02010609060101010101" charset="-122"/>
                <a:cs typeface="Times New Roman" panose="02020603050405020304" pitchFamily="18" charset="0"/>
              </a:rPr>
              <a:t>个</a:t>
            </a:r>
            <a:r>
              <a:rPr lang="en-US" altLang="zh-CN" sz="2400">
                <a:latin typeface="Times New Roman" panose="02020603050405020304" pitchFamily="18" charset="0"/>
                <a:ea typeface="楷体" panose="02010609060101010101" charset="-122"/>
                <a:cs typeface="Times New Roman" panose="02020603050405020304" pitchFamily="18" charset="0"/>
              </a:rPr>
              <a:t>AD603</a:t>
            </a:r>
            <a:r>
              <a:rPr lang="zh-CN" altLang="en-US" sz="2400">
                <a:latin typeface="Times New Roman" panose="02020603050405020304" pitchFamily="18" charset="0"/>
                <a:ea typeface="楷体" panose="02010609060101010101" charset="-122"/>
                <a:cs typeface="Times New Roman" panose="02020603050405020304" pitchFamily="18" charset="0"/>
              </a:rPr>
              <a:t>构成的自动增益控制放大器电路如图</a:t>
            </a:r>
            <a:r>
              <a:rPr lang="en-US" altLang="zh-CN" sz="2400">
                <a:latin typeface="Times New Roman" panose="02020603050405020304" pitchFamily="18" charset="0"/>
                <a:ea typeface="楷体" panose="02010609060101010101" charset="-122"/>
                <a:cs typeface="Times New Roman" panose="02020603050405020304" pitchFamily="18" charset="0"/>
              </a:rPr>
              <a:t>X.X.X</a:t>
            </a:r>
            <a:r>
              <a:rPr lang="zh-CN" altLang="en-US" sz="2400">
                <a:latin typeface="Times New Roman" panose="02020603050405020304" pitchFamily="18" charset="0"/>
                <a:ea typeface="楷体" panose="02010609060101010101" charset="-122"/>
                <a:cs typeface="Times New Roman" panose="02020603050405020304" pitchFamily="18" charset="0"/>
              </a:rPr>
              <a:t>所示。  由</a:t>
            </a:r>
            <a:r>
              <a:rPr lang="en-US" altLang="zh-CN" sz="2400">
                <a:latin typeface="Times New Roman" panose="02020603050405020304" pitchFamily="18" charset="0"/>
                <a:ea typeface="楷体" panose="02010609060101010101" charset="-122"/>
                <a:cs typeface="Times New Roman" panose="02020603050405020304" pitchFamily="18" charset="0"/>
              </a:rPr>
              <a:t>2N3904</a:t>
            </a:r>
            <a:r>
              <a:rPr lang="zh-CN" altLang="en-US" sz="2400">
                <a:latin typeface="Times New Roman" panose="02020603050405020304" pitchFamily="18" charset="0"/>
                <a:ea typeface="楷体" panose="02010609060101010101" charset="-122"/>
                <a:cs typeface="Times New Roman" panose="02020603050405020304" pitchFamily="18" charset="0"/>
              </a:rPr>
              <a:t>和</a:t>
            </a:r>
            <a:r>
              <a:rPr lang="en-US" altLang="zh-CN" sz="2400">
                <a:latin typeface="Times New Roman" panose="02020603050405020304" pitchFamily="18" charset="0"/>
                <a:ea typeface="楷体" panose="02010609060101010101" charset="-122"/>
                <a:cs typeface="Times New Roman" panose="02020603050405020304" pitchFamily="18" charset="0"/>
              </a:rPr>
              <a:t>R12</a:t>
            </a:r>
            <a:r>
              <a:rPr lang="zh-CN" altLang="en-US" sz="2400">
                <a:latin typeface="Times New Roman" panose="02020603050405020304" pitchFamily="18" charset="0"/>
                <a:ea typeface="楷体" panose="02010609060101010101" charset="-122"/>
                <a:cs typeface="Times New Roman" panose="02020603050405020304" pitchFamily="18" charset="0"/>
              </a:rPr>
              <a:t>成一个检波器，用于检测输出信号幅度的变化。由</a:t>
            </a:r>
            <a:r>
              <a:rPr lang="en-US" altLang="zh-CN" sz="2400">
                <a:latin typeface="Times New Roman" panose="02020603050405020304" pitchFamily="18" charset="0"/>
                <a:ea typeface="楷体" panose="02010609060101010101" charset="-122"/>
                <a:cs typeface="Times New Roman" panose="02020603050405020304" pitchFamily="18" charset="0"/>
              </a:rPr>
              <a:t>C</a:t>
            </a:r>
            <a:r>
              <a:rPr lang="en-US" altLang="zh-CN" sz="2400" baseline="-25000">
                <a:latin typeface="Times New Roman" panose="02020603050405020304" pitchFamily="18" charset="0"/>
                <a:ea typeface="楷体" panose="02010609060101010101" charset="-122"/>
                <a:cs typeface="Times New Roman" panose="02020603050405020304" pitchFamily="18" charset="0"/>
              </a:rPr>
              <a:t>AV</a:t>
            </a:r>
            <a:r>
              <a:rPr lang="zh-CN" altLang="en-US" sz="2400">
                <a:latin typeface="Times New Roman" panose="02020603050405020304" pitchFamily="18" charset="0"/>
                <a:ea typeface="楷体" panose="02010609060101010101" charset="-122"/>
                <a:cs typeface="Times New Roman" panose="02020603050405020304" pitchFamily="18" charset="0"/>
              </a:rPr>
              <a:t>形成自动增益控制电压</a:t>
            </a:r>
            <a:r>
              <a:rPr lang="en-US" altLang="zh-CN" sz="2400">
                <a:latin typeface="Times New Roman" panose="02020603050405020304" pitchFamily="18" charset="0"/>
                <a:ea typeface="楷体" panose="02010609060101010101" charset="-122"/>
                <a:cs typeface="Times New Roman" panose="02020603050405020304" pitchFamily="18" charset="0"/>
              </a:rPr>
              <a:t>U</a:t>
            </a:r>
            <a:r>
              <a:rPr lang="en-US" altLang="zh-CN" sz="2400" baseline="-25000">
                <a:latin typeface="Times New Roman" panose="02020603050405020304" pitchFamily="18" charset="0"/>
                <a:ea typeface="楷体" panose="02010609060101010101" charset="-122"/>
                <a:cs typeface="Times New Roman" panose="02020603050405020304" pitchFamily="18" charset="0"/>
              </a:rPr>
              <a:t>AGC</a:t>
            </a:r>
            <a:r>
              <a:rPr lang="zh-CN" altLang="en-US" sz="2400">
                <a:latin typeface="Times New Roman" panose="02020603050405020304" pitchFamily="18" charset="0"/>
                <a:ea typeface="楷体" panose="02010609060101010101" charset="-122"/>
                <a:cs typeface="Times New Roman" panose="02020603050405020304" pitchFamily="18" charset="0"/>
              </a:rPr>
              <a:t>，流进</a:t>
            </a:r>
            <a:r>
              <a:rPr lang="en-US" altLang="zh-CN" sz="2400">
                <a:latin typeface="Times New Roman" panose="02020603050405020304" pitchFamily="18" charset="0"/>
                <a:ea typeface="楷体" panose="02010609060101010101" charset="-122"/>
                <a:cs typeface="Times New Roman" panose="02020603050405020304" pitchFamily="18" charset="0"/>
              </a:rPr>
              <a:t>C</a:t>
            </a:r>
            <a:r>
              <a:rPr lang="en-US" altLang="zh-CN" sz="2400" baseline="-25000">
                <a:latin typeface="Times New Roman" panose="02020603050405020304" pitchFamily="18" charset="0"/>
                <a:ea typeface="楷体" panose="02010609060101010101" charset="-122"/>
                <a:cs typeface="Times New Roman" panose="02020603050405020304" pitchFamily="18" charset="0"/>
              </a:rPr>
              <a:t>AV</a:t>
            </a:r>
            <a:r>
              <a:rPr lang="zh-CN" altLang="en-US" sz="2400">
                <a:latin typeface="Times New Roman" panose="02020603050405020304" pitchFamily="18" charset="0"/>
                <a:ea typeface="楷体" panose="02010609060101010101" charset="-122"/>
                <a:cs typeface="Times New Roman" panose="02020603050405020304" pitchFamily="18" charset="0"/>
              </a:rPr>
              <a:t>电容电流为</a:t>
            </a:r>
            <a:r>
              <a:rPr lang="en-US" altLang="zh-CN" sz="2400">
                <a:latin typeface="Times New Roman" panose="02020603050405020304" pitchFamily="18" charset="0"/>
                <a:ea typeface="楷体" panose="02010609060101010101" charset="-122"/>
                <a:cs typeface="Times New Roman" panose="02020603050405020304" pitchFamily="18" charset="0"/>
              </a:rPr>
              <a:t>2N3906</a:t>
            </a:r>
            <a:r>
              <a:rPr lang="zh-CN" altLang="en-US" sz="2400">
                <a:latin typeface="Times New Roman" panose="02020603050405020304" pitchFamily="18" charset="0"/>
                <a:ea typeface="楷体" panose="02010609060101010101" charset="-122"/>
                <a:cs typeface="Times New Roman" panose="02020603050405020304" pitchFamily="18" charset="0"/>
              </a:rPr>
              <a:t>和</a:t>
            </a:r>
            <a:r>
              <a:rPr lang="en-US" altLang="zh-CN" sz="2400">
                <a:latin typeface="Times New Roman" panose="02020603050405020304" pitchFamily="18" charset="0"/>
                <a:ea typeface="楷体" panose="02010609060101010101" charset="-122"/>
                <a:cs typeface="Times New Roman" panose="02020603050405020304" pitchFamily="18" charset="0"/>
              </a:rPr>
              <a:t>2N3904</a:t>
            </a:r>
            <a:r>
              <a:rPr lang="zh-CN" altLang="en-US" sz="2400">
                <a:latin typeface="Times New Roman" panose="02020603050405020304" pitchFamily="18" charset="0"/>
                <a:ea typeface="楷体" panose="02010609060101010101" charset="-122"/>
                <a:cs typeface="Times New Roman" panose="02020603050405020304" pitchFamily="18" charset="0"/>
              </a:rPr>
              <a:t>两管的集电极电流之差，而且其大小随第二级</a:t>
            </a:r>
            <a:r>
              <a:rPr lang="en-US" altLang="zh-CN" sz="2400">
                <a:latin typeface="Times New Roman" panose="02020603050405020304" pitchFamily="18" charset="0"/>
                <a:ea typeface="楷体" panose="02010609060101010101" charset="-122"/>
                <a:cs typeface="Times New Roman" panose="02020603050405020304" pitchFamily="18" charset="0"/>
              </a:rPr>
              <a:t>AD603</a:t>
            </a:r>
            <a:r>
              <a:rPr lang="zh-CN" altLang="en-US" sz="2400">
                <a:latin typeface="Times New Roman" panose="02020603050405020304" pitchFamily="18" charset="0"/>
                <a:ea typeface="楷体" panose="02010609060101010101" charset="-122"/>
                <a:cs typeface="Times New Roman" panose="02020603050405020304" pitchFamily="18" charset="0"/>
              </a:rPr>
              <a:t>输出信号的幅度大小变化而变化，这使得加在两级放大器引脚端</a:t>
            </a:r>
            <a:r>
              <a:rPr lang="en-US" altLang="zh-CN" sz="2400">
                <a:latin typeface="Times New Roman" panose="02020603050405020304" pitchFamily="18" charset="0"/>
                <a:ea typeface="楷体" panose="02010609060101010101" charset="-122"/>
                <a:cs typeface="Times New Roman" panose="02020603050405020304" pitchFamily="18" charset="0"/>
              </a:rPr>
              <a:t>l</a:t>
            </a:r>
            <a:r>
              <a:rPr lang="zh-CN" altLang="en-US" sz="2400">
                <a:latin typeface="Times New Roman" panose="02020603050405020304" pitchFamily="18" charset="0"/>
                <a:ea typeface="楷体" panose="02010609060101010101" charset="-122"/>
                <a:cs typeface="Times New Roman" panose="02020603050405020304" pitchFamily="18" charset="0"/>
              </a:rPr>
              <a:t>的自动增益控制电压</a:t>
            </a:r>
            <a:r>
              <a:rPr lang="en-US" altLang="zh-CN" sz="2400">
                <a:latin typeface="Times New Roman" panose="02020603050405020304" pitchFamily="18" charset="0"/>
                <a:ea typeface="楷体" panose="02010609060101010101" charset="-122"/>
                <a:cs typeface="Times New Roman" panose="02020603050405020304" pitchFamily="18" charset="0"/>
              </a:rPr>
              <a:t>U</a:t>
            </a:r>
            <a:r>
              <a:rPr lang="en-US" altLang="zh-CN" sz="2400" baseline="-25000">
                <a:latin typeface="Times New Roman" panose="02020603050405020304" pitchFamily="18" charset="0"/>
                <a:ea typeface="楷体" panose="02010609060101010101" charset="-122"/>
                <a:cs typeface="Times New Roman" panose="02020603050405020304" pitchFamily="18" charset="0"/>
              </a:rPr>
              <a:t>AGC</a:t>
            </a:r>
            <a:r>
              <a:rPr lang="zh-CN" altLang="en-US" sz="2400">
                <a:latin typeface="Times New Roman" panose="02020603050405020304" pitchFamily="18" charset="0"/>
                <a:ea typeface="楷体" panose="02010609060101010101" charset="-122"/>
                <a:cs typeface="Times New Roman" panose="02020603050405020304" pitchFamily="18" charset="0"/>
              </a:rPr>
              <a:t>随输出信号幅度变化而变化，从而达到自动调整放大器增益的目的。</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marL="0" indent="607695">
              <a:lnSpc>
                <a:spcPct val="15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可控增益放大器采用</a:t>
            </a:r>
            <a:r>
              <a:rPr lang="en-US" altLang="zh-CN" sz="2400">
                <a:latin typeface="Times New Roman" panose="02020603050405020304" pitchFamily="18" charset="0"/>
                <a:ea typeface="楷体" panose="02010609060101010101" charset="-122"/>
                <a:cs typeface="Times New Roman" panose="02020603050405020304" pitchFamily="18" charset="0"/>
              </a:rPr>
              <a:t>AD603</a:t>
            </a:r>
            <a:r>
              <a:rPr lang="zh-CN" altLang="en-US" sz="2400">
                <a:latin typeface="Times New Roman" panose="02020603050405020304" pitchFamily="18" charset="0"/>
                <a:ea typeface="楷体" panose="02010609060101010101" charset="-122"/>
                <a:cs typeface="Times New Roman" panose="02020603050405020304" pitchFamily="18" charset="0"/>
              </a:rPr>
              <a:t>带宽最宽的连接形式如图</a:t>
            </a:r>
            <a:r>
              <a:rPr lang="en-US" altLang="zh-CN" sz="2400">
                <a:latin typeface="Times New Roman" panose="02020603050405020304" pitchFamily="18" charset="0"/>
                <a:ea typeface="楷体" panose="02010609060101010101" charset="-122"/>
                <a:cs typeface="Times New Roman" panose="02020603050405020304" pitchFamily="18" charset="0"/>
              </a:rPr>
              <a:t>X.X.X</a:t>
            </a:r>
            <a:r>
              <a:rPr lang="zh-CN" altLang="en-US" sz="2400">
                <a:latin typeface="Times New Roman" panose="02020603050405020304" pitchFamily="18" charset="0"/>
                <a:ea typeface="楷体" panose="02010609060101010101" charset="-122"/>
                <a:cs typeface="Times New Roman" panose="02020603050405020304" pitchFamily="18" charset="0"/>
              </a:rPr>
              <a:t>所示，通频带为</a:t>
            </a:r>
            <a:r>
              <a:rPr lang="en-US" altLang="zh-CN" sz="2400">
                <a:latin typeface="Times New Roman" panose="02020603050405020304" pitchFamily="18" charset="0"/>
                <a:ea typeface="楷体" panose="02010609060101010101" charset="-122"/>
                <a:cs typeface="Times New Roman" panose="02020603050405020304" pitchFamily="18" charset="0"/>
              </a:rPr>
              <a:t>90MHz</a:t>
            </a:r>
            <a:r>
              <a:rPr lang="zh-CN" altLang="en-US" sz="2400">
                <a:latin typeface="Times New Roman" panose="02020603050405020304" pitchFamily="18" charset="0"/>
                <a:ea typeface="楷体" panose="02010609060101010101" charset="-122"/>
                <a:cs typeface="Times New Roman" panose="02020603050405020304" pitchFamily="18" charset="0"/>
              </a:rPr>
              <a:t>，增益为</a:t>
            </a:r>
            <a:r>
              <a:rPr lang="en-US" altLang="zh-CN" sz="2400">
                <a:latin typeface="Times New Roman" panose="02020603050405020304" pitchFamily="18" charset="0"/>
                <a:ea typeface="楷体" panose="02010609060101010101" charset="-122"/>
                <a:cs typeface="Times New Roman" panose="02020603050405020304" pitchFamily="18" charset="0"/>
              </a:rPr>
              <a:t>-10</a:t>
            </a:r>
            <a:r>
              <a:rPr lang="zh-CN" altLang="en-US" sz="2400">
                <a:latin typeface="Times New Roman" panose="02020603050405020304" pitchFamily="18" charset="0"/>
                <a:ea typeface="楷体" panose="02010609060101010101" charset="-122"/>
                <a:cs typeface="Times New Roman" panose="02020603050405020304" pitchFamily="18" charset="0"/>
              </a:rPr>
              <a:t>～</a:t>
            </a:r>
            <a:r>
              <a:rPr lang="en-US" altLang="zh-CN" sz="2400">
                <a:latin typeface="Times New Roman" panose="02020603050405020304" pitchFamily="18" charset="0"/>
                <a:ea typeface="楷体" panose="02010609060101010101" charset="-122"/>
                <a:cs typeface="Times New Roman" panose="02020603050405020304" pitchFamily="18" charset="0"/>
              </a:rPr>
              <a:t>+30dB</a:t>
            </a:r>
            <a:r>
              <a:rPr lang="zh-CN" altLang="en-US" sz="2400">
                <a:latin typeface="Times New Roman" panose="02020603050405020304" pitchFamily="18" charset="0"/>
                <a:ea typeface="楷体" panose="02010609060101010101" charset="-122"/>
                <a:cs typeface="Times New Roman" panose="02020603050405020304" pitchFamily="18" charset="0"/>
              </a:rPr>
              <a:t>，输入控制电压</a:t>
            </a:r>
            <a:r>
              <a:rPr lang="en-US" altLang="zh-CN" sz="2400">
                <a:latin typeface="Times New Roman" panose="02020603050405020304" pitchFamily="18" charset="0"/>
                <a:ea typeface="楷体" panose="02010609060101010101" charset="-122"/>
                <a:cs typeface="Times New Roman" panose="02020603050405020304" pitchFamily="18" charset="0"/>
              </a:rPr>
              <a:t>Uc</a:t>
            </a:r>
            <a:r>
              <a:rPr lang="zh-CN" altLang="en-US" sz="2400">
                <a:latin typeface="Times New Roman" panose="02020603050405020304" pitchFamily="18" charset="0"/>
                <a:ea typeface="楷体" panose="02010609060101010101" charset="-122"/>
                <a:cs typeface="Times New Roman" panose="02020603050405020304" pitchFamily="18" charset="0"/>
              </a:rPr>
              <a:t>的范围为</a:t>
            </a:r>
            <a:r>
              <a:rPr lang="en-US" altLang="zh-CN" sz="2400">
                <a:latin typeface="Times New Roman" panose="02020603050405020304" pitchFamily="18" charset="0"/>
                <a:ea typeface="楷体" panose="02010609060101010101" charset="-122"/>
                <a:cs typeface="Times New Roman" panose="02020603050405020304" pitchFamily="18" charset="0"/>
              </a:rPr>
              <a:t>-0.5</a:t>
            </a:r>
            <a:r>
              <a:rPr lang="zh-CN" altLang="en-US" sz="2400">
                <a:latin typeface="Times New Roman" panose="02020603050405020304" pitchFamily="18" charset="0"/>
                <a:ea typeface="楷体" panose="02010609060101010101" charset="-122"/>
                <a:cs typeface="Times New Roman" panose="02020603050405020304" pitchFamily="18" charset="0"/>
              </a:rPr>
              <a:t>～</a:t>
            </a:r>
            <a:r>
              <a:rPr lang="en-US" altLang="zh-CN" sz="2400">
                <a:latin typeface="Times New Roman" panose="02020603050405020304" pitchFamily="18" charset="0"/>
                <a:ea typeface="楷体" panose="02010609060101010101" charset="-122"/>
                <a:cs typeface="Times New Roman" panose="02020603050405020304" pitchFamily="18" charset="0"/>
              </a:rPr>
              <a:t>+0.5 V</a:t>
            </a:r>
            <a:r>
              <a:rPr lang="zh-CN" altLang="en-US" sz="2400">
                <a:latin typeface="Times New Roman" panose="02020603050405020304" pitchFamily="18" charset="0"/>
                <a:ea typeface="楷体" panose="02010609060101010101" charset="-122"/>
                <a:cs typeface="Times New Roman" panose="02020603050405020304" pitchFamily="18" charset="0"/>
              </a:rPr>
              <a:t>，增益和控制电压的关系为：</a:t>
            </a:r>
            <a:r>
              <a:rPr lang="en-US" altLang="zh-CN" sz="2400">
                <a:latin typeface="Times New Roman" panose="02020603050405020304" pitchFamily="18" charset="0"/>
                <a:ea typeface="楷体" panose="02010609060101010101" charset="-122"/>
                <a:cs typeface="Times New Roman" panose="02020603050405020304" pitchFamily="18" charset="0"/>
              </a:rPr>
              <a:t>A</a:t>
            </a:r>
            <a:r>
              <a:rPr lang="en-US" altLang="zh-CN" sz="2400" baseline="-25000">
                <a:latin typeface="Times New Roman" panose="02020603050405020304" pitchFamily="18" charset="0"/>
                <a:ea typeface="楷体" panose="02010609060101010101" charset="-122"/>
                <a:cs typeface="Times New Roman" panose="02020603050405020304" pitchFamily="18" charset="0"/>
              </a:rPr>
              <a:t>G</a:t>
            </a:r>
            <a:r>
              <a:rPr lang="en-US" altLang="zh-CN" sz="2400">
                <a:latin typeface="Times New Roman" panose="02020603050405020304" pitchFamily="18" charset="0"/>
                <a:ea typeface="楷体" panose="02010609060101010101" charset="-122"/>
                <a:cs typeface="Times New Roman" panose="02020603050405020304" pitchFamily="18" charset="0"/>
              </a:rPr>
              <a:t>（dB）=40×Uc+10</a:t>
            </a:r>
            <a:endParaRPr lang="en-US" altLang="zh-CN" sz="2400">
              <a:latin typeface="Times New Roman" panose="02020603050405020304" pitchFamily="18" charset="0"/>
              <a:ea typeface="楷体" panose="02010609060101010101" charset="-122"/>
              <a:cs typeface="Times New Roman" panose="02020603050405020304" pitchFamily="18" charset="0"/>
            </a:endParaRPr>
          </a:p>
          <a:p>
            <a:pPr marL="0" indent="607695">
              <a:lnSpc>
                <a:spcPct val="15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一级的控制范围只有</a:t>
            </a:r>
            <a:r>
              <a:rPr lang="en-US" altLang="zh-CN" sz="2400">
                <a:latin typeface="Times New Roman" panose="02020603050405020304" pitchFamily="18" charset="0"/>
                <a:ea typeface="楷体" panose="02010609060101010101" charset="-122"/>
                <a:cs typeface="Times New Roman" panose="02020603050405020304" pitchFamily="18" charset="0"/>
              </a:rPr>
              <a:t>40 dB</a:t>
            </a:r>
            <a:r>
              <a:rPr lang="zh-CN" altLang="en-US" sz="2400">
                <a:latin typeface="Times New Roman" panose="02020603050405020304" pitchFamily="18" charset="0"/>
                <a:ea typeface="楷体" panose="02010609060101010101" charset="-122"/>
                <a:cs typeface="Times New Roman" panose="02020603050405020304" pitchFamily="18" charset="0"/>
              </a:rPr>
              <a:t>，使用两级串联，增益为：</a:t>
            </a:r>
            <a:r>
              <a:rPr lang="en-US" altLang="zh-CN" sz="2400">
                <a:latin typeface="Times New Roman" panose="02020603050405020304" pitchFamily="18" charset="0"/>
                <a:ea typeface="楷体" panose="02010609060101010101" charset="-122"/>
                <a:cs typeface="Times New Roman" panose="02020603050405020304" pitchFamily="18" charset="0"/>
              </a:rPr>
              <a:t>A</a:t>
            </a:r>
            <a:r>
              <a:rPr lang="en-US" altLang="zh-CN" sz="2400" baseline="-25000">
                <a:latin typeface="Times New Roman" panose="02020603050405020304" pitchFamily="18" charset="0"/>
                <a:ea typeface="楷体" panose="02010609060101010101" charset="-122"/>
                <a:cs typeface="Times New Roman" panose="02020603050405020304" pitchFamily="18" charset="0"/>
              </a:rPr>
              <a:t>G</a:t>
            </a:r>
            <a:r>
              <a:rPr lang="en-US" altLang="zh-CN" sz="2400">
                <a:latin typeface="Times New Roman" panose="02020603050405020304" pitchFamily="18" charset="0"/>
                <a:ea typeface="楷体" panose="02010609060101010101" charset="-122"/>
                <a:cs typeface="Times New Roman" panose="02020603050405020304" pitchFamily="18" charset="0"/>
              </a:rPr>
              <a:t>（dB）</a:t>
            </a:r>
            <a:r>
              <a:rPr lang="zh-CN" altLang="en-US" sz="2400">
                <a:latin typeface="Times New Roman" panose="02020603050405020304" pitchFamily="18" charset="0"/>
                <a:ea typeface="楷体" panose="02010609060101010101" charset="-122"/>
                <a:cs typeface="Times New Roman" panose="02020603050405020304" pitchFamily="18" charset="0"/>
              </a:rPr>
              <a:t>＝</a:t>
            </a:r>
            <a:r>
              <a:rPr lang="en-US" altLang="zh-CN" sz="2400">
                <a:latin typeface="Times New Roman" panose="02020603050405020304" pitchFamily="18" charset="0"/>
                <a:ea typeface="楷体" panose="02010609060101010101" charset="-122"/>
                <a:cs typeface="Times New Roman" panose="02020603050405020304" pitchFamily="18" charset="0"/>
              </a:rPr>
              <a:t>40×U</a:t>
            </a:r>
            <a:r>
              <a:rPr lang="en-US" altLang="zh-CN" sz="2400" baseline="-25000">
                <a:latin typeface="Times New Roman" panose="02020603050405020304" pitchFamily="18" charset="0"/>
                <a:ea typeface="楷体" panose="02010609060101010101" charset="-122"/>
                <a:cs typeface="Times New Roman" panose="02020603050405020304" pitchFamily="18" charset="0"/>
              </a:rPr>
              <a:t>Cl</a:t>
            </a:r>
            <a:r>
              <a:rPr lang="en-US" altLang="zh-CN" sz="2400">
                <a:latin typeface="Times New Roman" panose="02020603050405020304" pitchFamily="18" charset="0"/>
                <a:ea typeface="楷体" panose="02010609060101010101" charset="-122"/>
                <a:cs typeface="Times New Roman" panose="02020603050405020304" pitchFamily="18" charset="0"/>
              </a:rPr>
              <a:t>+40×U</a:t>
            </a:r>
            <a:r>
              <a:rPr lang="en-US" altLang="zh-CN" sz="2400" baseline="-25000">
                <a:latin typeface="Times New Roman" panose="02020603050405020304" pitchFamily="18" charset="0"/>
                <a:ea typeface="楷体" panose="02010609060101010101" charset="-122"/>
                <a:cs typeface="Times New Roman" panose="02020603050405020304" pitchFamily="18" charset="0"/>
              </a:rPr>
              <a:t>C2</a:t>
            </a:r>
            <a:r>
              <a:rPr lang="en-US" altLang="zh-CN" sz="2400">
                <a:latin typeface="Times New Roman" panose="02020603050405020304" pitchFamily="18" charset="0"/>
                <a:ea typeface="楷体" panose="02010609060101010101" charset="-122"/>
                <a:cs typeface="Times New Roman" panose="02020603050405020304" pitchFamily="18" charset="0"/>
              </a:rPr>
              <a:t>+20</a:t>
            </a:r>
            <a:endParaRPr lang="en-US" altLang="zh-CN" sz="2400">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标题 29697"/>
          <p:cNvSpPr>
            <a:spLocks noGrp="1" noRot="1"/>
          </p:cNvSpPr>
          <p:nvPr>
            <p:ph type="title"/>
          </p:nvPr>
        </p:nvSpPr>
        <p:spPr>
          <a:xfrm>
            <a:off x="1342708" y="564198"/>
            <a:ext cx="8540750" cy="836612"/>
          </a:xfrm>
          <a:solidFill>
            <a:schemeClr val="bg1"/>
          </a:solidFill>
        </p:spPr>
        <p:txBody>
          <a:bodyPr anchor="ctr"/>
          <a:p>
            <a:pPr marL="685800" indent="-685800" eaLnBrk="1"/>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3.6  </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电路图及设计文件</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（6</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分</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a:t>
            </a:r>
            <a:endPar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endParaRPr>
          </a:p>
        </p:txBody>
      </p:sp>
      <p:sp>
        <p:nvSpPr>
          <p:cNvPr id="29699" name="文本占位符 29698"/>
          <p:cNvSpPr>
            <a:spLocks noGrp="1" noRot="1"/>
          </p:cNvSpPr>
          <p:nvPr>
            <p:ph type="body" idx="1"/>
          </p:nvPr>
        </p:nvSpPr>
        <p:spPr>
          <a:xfrm>
            <a:off x="1005205" y="1472565"/>
            <a:ext cx="10513060" cy="4728210"/>
          </a:xfrm>
          <a:solidFill>
            <a:schemeClr val="bg1"/>
          </a:solidFill>
        </p:spPr>
        <p:txBody>
          <a:bodyPr/>
          <a:p>
            <a:pPr eaLnBrk="1">
              <a:lnSpc>
                <a:spcPct val="110000"/>
              </a:lnSpc>
              <a:buNone/>
            </a:pPr>
            <a:r>
              <a:rPr lang="zh-CN" altLang="en-US">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评分细则：</a:t>
            </a:r>
            <a:r>
              <a:rPr lang="zh-CN" altLang="en-US" dirty="0">
                <a:latin typeface="Times New Roman" panose="02020603050405020304" pitchFamily="18" charset="0"/>
                <a:ea typeface="楷体" panose="02010609060101010101" charset="-122"/>
                <a:cs typeface="Times New Roman" panose="02020603050405020304" pitchFamily="18" charset="0"/>
              </a:rPr>
              <a:t>完整性4  规范程度2</a:t>
            </a:r>
            <a:endParaRPr lang="zh-CN" altLang="en-US" dirty="0">
              <a:latin typeface="Times New Roman" panose="02020603050405020304" pitchFamily="18" charset="0"/>
              <a:ea typeface="楷体" panose="02010609060101010101" charset="-122"/>
              <a:cs typeface="Times New Roman" panose="02020603050405020304" pitchFamily="18" charset="0"/>
            </a:endParaRPr>
          </a:p>
          <a:p>
            <a:pPr eaLnBrk="1">
              <a:lnSpc>
                <a:spcPct val="110000"/>
              </a:lnSpc>
              <a:buNone/>
            </a:pPr>
            <a:r>
              <a:rPr lang="zh-CN" altLang="en-US" dirty="0">
                <a:solidFill>
                  <a:srgbClr val="FF0000"/>
                </a:solidFill>
                <a:latin typeface="Times New Roman" panose="02020603050405020304" pitchFamily="18" charset="0"/>
                <a:ea typeface="楷体" panose="02010609060101010101" charset="-122"/>
                <a:cs typeface="Times New Roman" panose="02020603050405020304" pitchFamily="18" charset="0"/>
              </a:rPr>
              <a:t>完整性包括：</a:t>
            </a:r>
            <a:endParaRPr lang="zh-CN" altLang="en-US" dirty="0">
              <a:solidFill>
                <a:srgbClr val="FF0000"/>
              </a:solidFill>
              <a:latin typeface="Times New Roman" panose="02020603050405020304" pitchFamily="18" charset="0"/>
              <a:ea typeface="楷体" panose="02010609060101010101" charset="-122"/>
              <a:cs typeface="Times New Roman" panose="02020603050405020304" pitchFamily="18" charset="0"/>
            </a:endParaRPr>
          </a:p>
          <a:p>
            <a:pPr eaLnBrk="1">
              <a:lnSpc>
                <a:spcPct val="110000"/>
              </a:lnSpc>
              <a:buNone/>
            </a:pPr>
            <a:r>
              <a:rPr lang="zh-CN" altLang="en-US" dirty="0">
                <a:latin typeface="Times New Roman" panose="02020603050405020304" pitchFamily="18" charset="0"/>
                <a:ea typeface="楷体" panose="02010609060101010101" charset="-122"/>
                <a:cs typeface="Times New Roman" panose="02020603050405020304" pitchFamily="18" charset="0"/>
              </a:rPr>
              <a:t>     电路图</a:t>
            </a:r>
            <a:endParaRPr lang="zh-CN" altLang="en-US" dirty="0">
              <a:latin typeface="Times New Roman" panose="02020603050405020304" pitchFamily="18" charset="0"/>
              <a:ea typeface="楷体" panose="02010609060101010101" charset="-122"/>
              <a:cs typeface="Times New Roman" panose="02020603050405020304" pitchFamily="18" charset="0"/>
            </a:endParaRPr>
          </a:p>
          <a:p>
            <a:pPr eaLnBrk="1">
              <a:lnSpc>
                <a:spcPct val="110000"/>
              </a:lnSpc>
              <a:buNone/>
            </a:pPr>
            <a:r>
              <a:rPr lang="zh-CN" altLang="en-US" dirty="0">
                <a:latin typeface="Times New Roman" panose="02020603050405020304" pitchFamily="18" charset="0"/>
                <a:ea typeface="楷体" panose="02010609060101010101" charset="-122"/>
                <a:cs typeface="Times New Roman" panose="02020603050405020304" pitchFamily="18" charset="0"/>
              </a:rPr>
              <a:t>     单片机、PLD程序（流程方框图、实现的功能以及程序清单，程序很长可在附录中列出程序清单）</a:t>
            </a:r>
            <a:endParaRPr lang="zh-CN" altLang="en-US" dirty="0">
              <a:latin typeface="Times New Roman" panose="02020603050405020304" pitchFamily="18" charset="0"/>
              <a:ea typeface="楷体" panose="02010609060101010101" charset="-122"/>
              <a:cs typeface="Times New Roman" panose="02020603050405020304" pitchFamily="18" charset="0"/>
            </a:endParaRPr>
          </a:p>
          <a:p>
            <a:pPr eaLnBrk="1">
              <a:lnSpc>
                <a:spcPct val="110000"/>
              </a:lnSpc>
              <a:buNone/>
            </a:pPr>
            <a:r>
              <a:rPr lang="zh-CN" altLang="en-US" dirty="0">
                <a:solidFill>
                  <a:srgbClr val="FF0000"/>
                </a:solidFill>
                <a:latin typeface="Times New Roman" panose="02020603050405020304" pitchFamily="18" charset="0"/>
                <a:ea typeface="楷体" panose="02010609060101010101" charset="-122"/>
                <a:cs typeface="Times New Roman" panose="02020603050405020304" pitchFamily="18" charset="0"/>
              </a:rPr>
              <a:t>规范性包括：</a:t>
            </a:r>
            <a:endParaRPr lang="zh-CN" altLang="en-US" dirty="0">
              <a:solidFill>
                <a:srgbClr val="FF0000"/>
              </a:solidFill>
              <a:latin typeface="Times New Roman" panose="02020603050405020304" pitchFamily="18" charset="0"/>
              <a:ea typeface="楷体" panose="02010609060101010101" charset="-122"/>
              <a:cs typeface="Times New Roman" panose="02020603050405020304" pitchFamily="18" charset="0"/>
            </a:endParaRPr>
          </a:p>
          <a:p>
            <a:pPr eaLnBrk="1">
              <a:lnSpc>
                <a:spcPct val="110000"/>
              </a:lnSpc>
              <a:buNone/>
            </a:pPr>
            <a:r>
              <a:rPr lang="zh-CN" altLang="en-US" dirty="0">
                <a:latin typeface="Times New Roman" panose="02020603050405020304" pitchFamily="18" charset="0"/>
                <a:ea typeface="楷体" panose="02010609060101010101" charset="-122"/>
                <a:cs typeface="Times New Roman" panose="02020603050405020304" pitchFamily="18" charset="0"/>
              </a:rPr>
              <a:t>     电气、电路符号符合国家标准</a:t>
            </a:r>
            <a:endParaRPr lang="zh-CN" altLang="en-US" dirty="0">
              <a:latin typeface="Times New Roman" panose="02020603050405020304" pitchFamily="18" charset="0"/>
              <a:ea typeface="楷体" panose="02010609060101010101" charset="-122"/>
              <a:cs typeface="Times New Roman" panose="02020603050405020304" pitchFamily="18" charset="0"/>
            </a:endParaRPr>
          </a:p>
          <a:p>
            <a:pPr eaLnBrk="1">
              <a:lnSpc>
                <a:spcPct val="110000"/>
              </a:lnSpc>
              <a:buNone/>
            </a:pPr>
            <a:r>
              <a:rPr lang="zh-CN" altLang="en-US" dirty="0">
                <a:latin typeface="Times New Roman" panose="02020603050405020304" pitchFamily="18" charset="0"/>
                <a:ea typeface="楷体" panose="02010609060101010101" charset="-122"/>
                <a:cs typeface="Times New Roman" panose="02020603050405020304" pitchFamily="18" charset="0"/>
              </a:rPr>
              <a:t>     程序书写规范（缩进、注释）</a:t>
            </a:r>
            <a:endParaRPr lang="zh-CN" altLang="en-US" dirty="0">
              <a:latin typeface="Times New Roman" panose="02020603050405020304" pitchFamily="18" charset="0"/>
              <a:ea typeface="楷体" panose="02010609060101010101" charset="-122"/>
              <a:cs typeface="Times New Roman" panose="02020603050405020304" pitchFamily="18" charset="0"/>
            </a:endParaRPr>
          </a:p>
          <a:p>
            <a:pPr eaLnBrk="1">
              <a:lnSpc>
                <a:spcPct val="110000"/>
              </a:lnSpc>
              <a:buNone/>
            </a:pPr>
            <a:endParaRPr lang="en-US" altLang="zh-CN" dirty="0">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9" name="文本占位符 29698"/>
          <p:cNvSpPr>
            <a:spLocks noGrp="1" noRot="1"/>
          </p:cNvSpPr>
          <p:nvPr>
            <p:ph type="body" idx="1"/>
          </p:nvPr>
        </p:nvSpPr>
        <p:spPr>
          <a:xfrm>
            <a:off x="431165" y="1753870"/>
            <a:ext cx="11329670" cy="3913505"/>
          </a:xfrm>
          <a:solidFill>
            <a:schemeClr val="bg1"/>
          </a:solidFill>
        </p:spPr>
        <p:txBody>
          <a:bodyPr/>
          <a:p>
            <a:pPr marL="25400" indent="700405" eaLnBrk="1">
              <a:lnSpc>
                <a:spcPct val="150000"/>
              </a:lnSpc>
              <a:buNone/>
            </a:pPr>
            <a:r>
              <a:rPr lang="zh-CN" altLang="en-US" dirty="0">
                <a:latin typeface="Times New Roman" panose="02020603050405020304" pitchFamily="18" charset="0"/>
                <a:ea typeface="楷体" panose="02010609060101010101" charset="-122"/>
                <a:cs typeface="Times New Roman" panose="02020603050405020304" pitchFamily="18" charset="0"/>
              </a:rPr>
              <a:t>与理论分析和计算部分合并在一起</a:t>
            </a:r>
            <a:endParaRPr lang="zh-CN" altLang="en-US" dirty="0">
              <a:latin typeface="Times New Roman" panose="02020603050405020304" pitchFamily="18" charset="0"/>
              <a:ea typeface="楷体" panose="02010609060101010101" charset="-122"/>
              <a:cs typeface="Times New Roman" panose="02020603050405020304" pitchFamily="18" charset="0"/>
            </a:endParaRPr>
          </a:p>
          <a:p>
            <a:pPr eaLnBrk="1">
              <a:lnSpc>
                <a:spcPct val="150000"/>
              </a:lnSpc>
              <a:buNone/>
            </a:pPr>
            <a:r>
              <a:rPr lang="zh-CN" altLang="en-US" b="1" dirty="0">
                <a:solidFill>
                  <a:srgbClr val="FF0000"/>
                </a:solidFill>
                <a:latin typeface="Times New Roman" panose="02020603050405020304" pitchFamily="18" charset="0"/>
                <a:ea typeface="楷体" panose="02010609060101010101" charset="-122"/>
                <a:cs typeface="Times New Roman" panose="02020603050405020304" pitchFamily="18" charset="0"/>
              </a:rPr>
              <a:t>示例：</a:t>
            </a:r>
            <a:r>
              <a:rPr lang="zh-CN" altLang="en-US" dirty="0">
                <a:latin typeface="Times New Roman" panose="02020603050405020304" pitchFamily="18" charset="0"/>
                <a:ea typeface="楷体" panose="02010609060101010101" charset="-122"/>
                <a:cs typeface="Times New Roman" panose="02020603050405020304" pitchFamily="18" charset="0"/>
              </a:rPr>
              <a:t>  X.X.X发射部分程序设计</a:t>
            </a:r>
            <a:endParaRPr lang="zh-CN" altLang="en-US" dirty="0">
              <a:latin typeface="Times New Roman" panose="02020603050405020304" pitchFamily="18" charset="0"/>
              <a:ea typeface="楷体" panose="02010609060101010101" charset="-122"/>
              <a:cs typeface="Times New Roman" panose="02020603050405020304" pitchFamily="18" charset="0"/>
            </a:endParaRPr>
          </a:p>
          <a:p>
            <a:pPr marL="0" indent="712470" eaLnBrk="1">
              <a:lnSpc>
                <a:spcPct val="150000"/>
              </a:lnSpc>
              <a:buNone/>
            </a:pPr>
            <a:r>
              <a:rPr lang="zh-CN" altLang="en-US" dirty="0">
                <a:latin typeface="Times New Roman" panose="02020603050405020304" pitchFamily="18" charset="0"/>
                <a:ea typeface="楷体" panose="02010609060101010101" charset="-122"/>
                <a:cs typeface="Times New Roman" panose="02020603050405020304" pitchFamily="18" charset="0"/>
              </a:rPr>
              <a:t>发射部分的程序主要可分为按键处理模块、液晶显示模块、数据处理模块以及字符转换模块四大部分。</a:t>
            </a:r>
            <a:endParaRPr lang="zh-CN" altLang="en-US" dirty="0">
              <a:latin typeface="Times New Roman" panose="02020603050405020304" pitchFamily="18" charset="0"/>
              <a:ea typeface="楷体" panose="02010609060101010101" charset="-122"/>
              <a:cs typeface="Times New Roman" panose="02020603050405020304" pitchFamily="18" charset="0"/>
            </a:endParaRPr>
          </a:p>
          <a:p>
            <a:pPr marL="0" indent="725805" eaLnBrk="1">
              <a:lnSpc>
                <a:spcPct val="150000"/>
              </a:lnSpc>
              <a:buNone/>
            </a:pPr>
            <a:r>
              <a:rPr lang="zh-CN" altLang="en-US" dirty="0">
                <a:latin typeface="Times New Roman" panose="02020603050405020304" pitchFamily="18" charset="0"/>
                <a:ea typeface="楷体" panose="02010609060101010101" charset="-122"/>
                <a:cs typeface="Times New Roman" panose="02020603050405020304" pitchFamily="18" charset="0"/>
              </a:rPr>
              <a:t>主要程序流程图如图X.X.1所示。程序清单见附录X。</a:t>
            </a:r>
            <a:endParaRPr lang="en-US" altLang="zh-CN" dirty="0">
              <a:latin typeface="Times New Roman" panose="02020603050405020304" pitchFamily="18" charset="0"/>
              <a:ea typeface="楷体" panose="02010609060101010101" charset="-122"/>
              <a:cs typeface="Times New Roman" panose="02020603050405020304" pitchFamily="18" charset="0"/>
            </a:endParaRPr>
          </a:p>
        </p:txBody>
      </p:sp>
      <p:sp>
        <p:nvSpPr>
          <p:cNvPr id="3" name="标题 2"/>
          <p:cNvSpPr>
            <a:spLocks noGrp="1" noRot="1"/>
          </p:cNvSpPr>
          <p:nvPr>
            <p:ph type="title"/>
          </p:nvPr>
        </p:nvSpPr>
        <p:spPr>
          <a:xfrm>
            <a:off x="563245" y="725170"/>
            <a:ext cx="6603365" cy="836295"/>
          </a:xfrm>
          <a:solidFill>
            <a:schemeClr val="bg1"/>
          </a:solidFill>
        </p:spPr>
        <p:txBody>
          <a:bodyPr anchor="ctr"/>
          <a:p>
            <a:pPr marL="685800" indent="-685800" eaLnBrk="1"/>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3.6  </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电路图及设计文件</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（6</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分</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a:t>
            </a:r>
            <a:endPar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30721"/>
          <p:cNvSpPr>
            <a:spLocks noGrp="1" noRot="1"/>
          </p:cNvSpPr>
          <p:nvPr>
            <p:ph type="title"/>
          </p:nvPr>
        </p:nvSpPr>
        <p:spPr>
          <a:xfrm>
            <a:off x="624205" y="621030"/>
            <a:ext cx="3386455" cy="647700"/>
          </a:xfrm>
        </p:spPr>
        <p:txBody>
          <a:bodyPr anchor="ctr"/>
          <a:p>
            <a:r>
              <a:rPr lang="en-US" altLang="zh-CN" sz="4000">
                <a:solidFill>
                  <a:schemeClr val="hlink"/>
                </a:solidFill>
                <a:latin typeface="Times New Roman" panose="02020603050405020304" pitchFamily="18" charset="0"/>
                <a:ea typeface="楷体" panose="02010609060101010101" charset="-122"/>
                <a:cs typeface="Times New Roman" panose="02020603050405020304" pitchFamily="18" charset="0"/>
              </a:rPr>
              <a:t>3.7  </a:t>
            </a:r>
            <a:r>
              <a:rPr lang="zh-CN" altLang="en-US" sz="4000">
                <a:solidFill>
                  <a:schemeClr val="hlink"/>
                </a:solidFill>
                <a:latin typeface="Times New Roman" panose="02020603050405020304" pitchFamily="18" charset="0"/>
                <a:ea typeface="楷体" panose="02010609060101010101" charset="-122"/>
                <a:cs typeface="Times New Roman" panose="02020603050405020304" pitchFamily="18" charset="0"/>
              </a:rPr>
              <a:t>系统安装</a:t>
            </a:r>
            <a:endParaRPr lang="zh-CN" altLang="en-US" sz="4000">
              <a:solidFill>
                <a:schemeClr val="hlink"/>
              </a:solidFill>
              <a:latin typeface="Times New Roman" panose="02020603050405020304" pitchFamily="18" charset="0"/>
              <a:ea typeface="楷体" panose="02010609060101010101" charset="-122"/>
              <a:cs typeface="Times New Roman" panose="02020603050405020304" pitchFamily="18" charset="0"/>
            </a:endParaRPr>
          </a:p>
        </p:txBody>
      </p:sp>
      <p:sp>
        <p:nvSpPr>
          <p:cNvPr id="30723" name="文本占位符 30722"/>
          <p:cNvSpPr>
            <a:spLocks noGrp="1" noRot="1"/>
          </p:cNvSpPr>
          <p:nvPr>
            <p:ph type="body" idx="1"/>
          </p:nvPr>
        </p:nvSpPr>
        <p:spPr/>
        <p:txBody>
          <a:bodyPr/>
          <a:p>
            <a:pPr eaLnBrk="1">
              <a:lnSpc>
                <a:spcPct val="150000"/>
              </a:lnSpc>
              <a:spcBef>
                <a:spcPts val="0"/>
              </a:spcBef>
            </a:pPr>
            <a:r>
              <a:rPr lang="en-US" altLang="zh-CN">
                <a:latin typeface="Times New Roman" panose="02020603050405020304" pitchFamily="18" charset="0"/>
                <a:ea typeface="楷体" panose="02010609060101010101" charset="-122"/>
                <a:cs typeface="Times New Roman" panose="02020603050405020304" pitchFamily="18" charset="0"/>
              </a:rPr>
              <a:t> PCB</a:t>
            </a:r>
            <a:r>
              <a:rPr lang="zh-CN" altLang="en-US">
                <a:latin typeface="Times New Roman" panose="02020603050405020304" pitchFamily="18" charset="0"/>
                <a:ea typeface="楷体" panose="02010609060101010101" charset="-122"/>
                <a:cs typeface="Times New Roman" panose="02020603050405020304" pitchFamily="18" charset="0"/>
              </a:rPr>
              <a:t>板设计和电路系统安装</a:t>
            </a:r>
            <a:r>
              <a:rPr lang="en-US" altLang="zh-CN">
                <a:latin typeface="Times New Roman" panose="02020603050405020304" pitchFamily="18" charset="0"/>
                <a:ea typeface="楷体" panose="02010609060101010101" charset="-122"/>
                <a:cs typeface="Times New Roman" panose="02020603050405020304" pitchFamily="18" charset="0"/>
              </a:rPr>
              <a:t>（PCB</a:t>
            </a:r>
            <a:r>
              <a:rPr lang="zh-CN" altLang="en-US">
                <a:latin typeface="Times New Roman" panose="02020603050405020304" pitchFamily="18" charset="0"/>
                <a:ea typeface="楷体" panose="02010609060101010101" charset="-122"/>
                <a:cs typeface="Times New Roman" panose="02020603050405020304" pitchFamily="18" charset="0"/>
              </a:rPr>
              <a:t>图可列入附录</a:t>
            </a:r>
            <a:r>
              <a:rPr lang="en-US" altLang="zh-CN">
                <a:latin typeface="Times New Roman" panose="02020603050405020304" pitchFamily="18" charset="0"/>
                <a:ea typeface="楷体" panose="02010609060101010101" charset="-122"/>
                <a:cs typeface="Times New Roman" panose="02020603050405020304" pitchFamily="18" charset="0"/>
              </a:rPr>
              <a:t>）——</a:t>
            </a:r>
            <a:r>
              <a:rPr lang="zh-CN" altLang="en-US">
                <a:latin typeface="Times New Roman" panose="02020603050405020304" pitchFamily="18" charset="0"/>
                <a:ea typeface="楷体" panose="02010609060101010101" charset="-122"/>
                <a:cs typeface="Times New Roman" panose="02020603050405020304" pitchFamily="18" charset="0"/>
              </a:rPr>
              <a:t>布局，布线，</a:t>
            </a:r>
            <a:r>
              <a:rPr lang="en-US" altLang="zh-CN">
                <a:latin typeface="Times New Roman" panose="02020603050405020304" pitchFamily="18" charset="0"/>
                <a:ea typeface="楷体" panose="02010609060101010101" charset="-122"/>
                <a:cs typeface="Times New Roman" panose="02020603050405020304" pitchFamily="18" charset="0"/>
              </a:rPr>
              <a:t>EMC/EMI</a:t>
            </a:r>
            <a:r>
              <a:rPr lang="zh-CN" altLang="en-US">
                <a:latin typeface="Times New Roman" panose="02020603050405020304" pitchFamily="18" charset="0"/>
                <a:ea typeface="楷体" panose="02010609060101010101" charset="-122"/>
                <a:cs typeface="Times New Roman" panose="02020603050405020304" pitchFamily="18" charset="0"/>
              </a:rPr>
              <a:t>；</a:t>
            </a:r>
            <a:r>
              <a:rPr lang="zh-CN" altLang="en-US">
                <a:latin typeface="Times New Roman" panose="02020603050405020304" pitchFamily="18" charset="0"/>
                <a:ea typeface="楷体" panose="02010609060101010101" charset="-122"/>
                <a:cs typeface="Times New Roman" panose="02020603050405020304" pitchFamily="18" charset="0"/>
              </a:rPr>
              <a:t>安装步骤，安装工艺，注意事项等。</a:t>
            </a:r>
            <a:endParaRPr lang="en-US" altLang="zh-CN">
              <a:latin typeface="Times New Roman" panose="02020603050405020304" pitchFamily="18" charset="0"/>
              <a:ea typeface="楷体" panose="02010609060101010101" charset="-122"/>
              <a:cs typeface="Times New Roman" panose="02020603050405020304" pitchFamily="18" charset="0"/>
            </a:endParaRPr>
          </a:p>
          <a:p>
            <a:pPr eaLnBrk="1">
              <a:lnSpc>
                <a:spcPct val="150000"/>
              </a:lnSpc>
              <a:spcBef>
                <a:spcPts val="0"/>
              </a:spcBef>
            </a:pPr>
            <a:r>
              <a:rPr lang="en-US" altLang="zh-CN">
                <a:latin typeface="Times New Roman" panose="02020603050405020304" pitchFamily="18" charset="0"/>
                <a:ea typeface="楷体" panose="02010609060101010101" charset="-122"/>
                <a:cs typeface="Times New Roman" panose="02020603050405020304" pitchFamily="18" charset="0"/>
              </a:rPr>
              <a:t> </a:t>
            </a:r>
            <a:r>
              <a:rPr lang="zh-CN" altLang="en-US">
                <a:latin typeface="Times New Roman" panose="02020603050405020304" pitchFamily="18" charset="0"/>
                <a:ea typeface="楷体" panose="02010609060101010101" charset="-122"/>
                <a:cs typeface="Times New Roman" panose="02020603050405020304" pitchFamily="18" charset="0"/>
              </a:rPr>
              <a:t>整机结构图及工艺说明</a:t>
            </a:r>
            <a:endParaRPr lang="zh-CN" altLang="en-US">
              <a:latin typeface="Times New Roman" panose="02020603050405020304" pitchFamily="18" charset="0"/>
              <a:ea typeface="楷体" panose="02010609060101010101" charset="-122"/>
              <a:cs typeface="Times New Roman" panose="02020603050405020304" pitchFamily="18" charset="0"/>
            </a:endParaRPr>
          </a:p>
          <a:p>
            <a:pPr eaLnBrk="1">
              <a:lnSpc>
                <a:spcPct val="150000"/>
              </a:lnSpc>
              <a:spcBef>
                <a:spcPts val="0"/>
              </a:spcBef>
            </a:pPr>
            <a:r>
              <a:rPr lang="zh-CN" altLang="en-US">
                <a:latin typeface="Times New Roman" panose="02020603050405020304" pitchFamily="18" charset="0"/>
                <a:ea typeface="楷体" panose="02010609060101010101" charset="-122"/>
                <a:cs typeface="Times New Roman" panose="02020603050405020304" pitchFamily="18" charset="0"/>
              </a:rPr>
              <a:t> 面板图及可调部件说明</a:t>
            </a:r>
            <a:endParaRPr lang="zh-CN" altLang="en-US">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标题 31745"/>
          <p:cNvSpPr>
            <a:spLocks noGrp="1" noRot="1"/>
          </p:cNvSpPr>
          <p:nvPr>
            <p:ph type="title"/>
          </p:nvPr>
        </p:nvSpPr>
        <p:spPr>
          <a:xfrm>
            <a:off x="198120" y="143510"/>
            <a:ext cx="6863080" cy="745490"/>
          </a:xfrm>
          <a:solidFill>
            <a:schemeClr val="bg1"/>
          </a:solidFill>
        </p:spPr>
        <p:txBody>
          <a:bodyPr anchor="ctr"/>
          <a:p>
            <a:pPr marL="685800" indent="-685800"/>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3.8   </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测试方法与数据处理</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（9</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分</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a:t>
            </a:r>
            <a:endPar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endParaRPr>
          </a:p>
        </p:txBody>
      </p:sp>
      <p:sp>
        <p:nvSpPr>
          <p:cNvPr id="31747" name="文本占位符 31746"/>
          <p:cNvSpPr>
            <a:spLocks noGrp="1" noRot="1"/>
          </p:cNvSpPr>
          <p:nvPr>
            <p:ph type="body" idx="1"/>
          </p:nvPr>
        </p:nvSpPr>
        <p:spPr>
          <a:xfrm>
            <a:off x="812800" y="1059180"/>
            <a:ext cx="9841865" cy="5628640"/>
          </a:xfrm>
          <a:solidFill>
            <a:schemeClr val="bg1"/>
          </a:solidFill>
        </p:spPr>
        <p:txBody>
          <a:bodyPr/>
          <a:p>
            <a:pPr marL="0" indent="0">
              <a:lnSpc>
                <a:spcPct val="110000"/>
              </a:lnSpc>
              <a:buNone/>
            </a:pPr>
            <a:r>
              <a:rPr lang="en-US" altLang="zh-CN" sz="2400">
                <a:solidFill>
                  <a:srgbClr val="FF0000"/>
                </a:solidFill>
                <a:latin typeface="Times New Roman" panose="02020603050405020304" pitchFamily="18" charset="0"/>
                <a:ea typeface="楷体" panose="02010609060101010101" charset="-122"/>
                <a:cs typeface="Times New Roman" panose="02020603050405020304" pitchFamily="18" charset="0"/>
              </a:rPr>
              <a:t>       </a:t>
            </a:r>
            <a:r>
              <a:rPr lang="zh-CN" altLang="en-US" sz="2400">
                <a:solidFill>
                  <a:srgbClr val="FF0000"/>
                </a:solidFill>
                <a:latin typeface="Times New Roman" panose="02020603050405020304" pitchFamily="18" charset="0"/>
                <a:ea typeface="楷体" panose="02010609060101010101" charset="-122"/>
                <a:cs typeface="Times New Roman" panose="02020603050405020304" pitchFamily="18" charset="0"/>
              </a:rPr>
              <a:t>评分细则：方法正确性</a:t>
            </a:r>
            <a:r>
              <a:rPr lang="en-US" altLang="zh-CN" sz="2400">
                <a:solidFill>
                  <a:srgbClr val="FF0000"/>
                </a:solidFill>
                <a:latin typeface="Times New Roman" panose="02020603050405020304" pitchFamily="18" charset="0"/>
                <a:ea typeface="楷体" panose="02010609060101010101" charset="-122"/>
                <a:cs typeface="Times New Roman" panose="02020603050405020304" pitchFamily="18" charset="0"/>
              </a:rPr>
              <a:t>4   </a:t>
            </a:r>
            <a:r>
              <a:rPr lang="zh-CN" altLang="en-US" sz="2400">
                <a:solidFill>
                  <a:srgbClr val="FF0000"/>
                </a:solidFill>
                <a:latin typeface="Times New Roman" panose="02020603050405020304" pitchFamily="18" charset="0"/>
                <a:ea typeface="楷体" panose="02010609060101010101" charset="-122"/>
                <a:cs typeface="Times New Roman" panose="02020603050405020304" pitchFamily="18" charset="0"/>
              </a:rPr>
              <a:t>数据完整性</a:t>
            </a:r>
            <a:r>
              <a:rPr lang="en-US" altLang="zh-CN" sz="2400">
                <a:solidFill>
                  <a:srgbClr val="FF0000"/>
                </a:solidFill>
                <a:latin typeface="Times New Roman" panose="02020603050405020304" pitchFamily="18" charset="0"/>
                <a:ea typeface="楷体" panose="02010609060101010101" charset="-122"/>
                <a:cs typeface="Times New Roman" panose="02020603050405020304" pitchFamily="18" charset="0"/>
              </a:rPr>
              <a:t>4   </a:t>
            </a:r>
            <a:r>
              <a:rPr lang="zh-CN" altLang="en-US" sz="2400">
                <a:solidFill>
                  <a:srgbClr val="FF0000"/>
                </a:solidFill>
                <a:latin typeface="Times New Roman" panose="02020603050405020304" pitchFamily="18" charset="0"/>
                <a:ea typeface="楷体" panose="02010609060101010101" charset="-122"/>
                <a:cs typeface="Times New Roman" panose="02020603050405020304" pitchFamily="18" charset="0"/>
              </a:rPr>
              <a:t>测试仪器</a:t>
            </a:r>
            <a:r>
              <a:rPr lang="en-US" altLang="zh-CN" sz="2400">
                <a:solidFill>
                  <a:srgbClr val="FF0000"/>
                </a:solidFill>
                <a:latin typeface="Times New Roman" panose="02020603050405020304" pitchFamily="18" charset="0"/>
                <a:ea typeface="楷体" panose="02010609060101010101" charset="-122"/>
                <a:cs typeface="Times New Roman" panose="02020603050405020304" pitchFamily="18" charset="0"/>
              </a:rPr>
              <a:t>1</a:t>
            </a:r>
            <a:endParaRPr lang="en-US" altLang="zh-CN" sz="2400">
              <a:latin typeface="Times New Roman" panose="02020603050405020304" pitchFamily="18" charset="0"/>
              <a:ea typeface="楷体" panose="02010609060101010101" charset="-122"/>
              <a:cs typeface="Times New Roman" panose="02020603050405020304" pitchFamily="18" charset="0"/>
            </a:endParaRPr>
          </a:p>
          <a:p>
            <a:pPr marL="0" indent="0">
              <a:lnSpc>
                <a:spcPct val="11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系统的性能指标或功能的定义</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如灵敏度、信噪比的定义</a:t>
            </a:r>
            <a:r>
              <a:rPr lang="en-US" altLang="zh-CN" sz="2400">
                <a:latin typeface="Times New Roman" panose="02020603050405020304" pitchFamily="18" charset="0"/>
                <a:ea typeface="楷体" panose="02010609060101010101" charset="-122"/>
                <a:cs typeface="Times New Roman" panose="02020603050405020304" pitchFamily="18" charset="0"/>
              </a:rPr>
              <a:t>）</a:t>
            </a:r>
            <a:endParaRPr lang="en-US" altLang="zh-CN" sz="2400">
              <a:latin typeface="Times New Roman" panose="02020603050405020304" pitchFamily="18" charset="0"/>
              <a:ea typeface="楷体" panose="02010609060101010101" charset="-122"/>
              <a:cs typeface="Times New Roman" panose="02020603050405020304" pitchFamily="18" charset="0"/>
            </a:endParaRPr>
          </a:p>
          <a:p>
            <a:pPr marL="0" indent="0">
              <a:lnSpc>
                <a:spcPct val="110000"/>
              </a:lnSpc>
              <a:buNone/>
            </a:pPr>
            <a:r>
              <a:rPr lang="zh-CN" altLang="en-US" sz="2400" u="sng">
                <a:solidFill>
                  <a:srgbClr val="FF0000"/>
                </a:solidFill>
                <a:latin typeface="Times New Roman" panose="02020603050405020304" pitchFamily="18" charset="0"/>
                <a:ea typeface="楷体" panose="02010609060101010101" charset="-122"/>
                <a:cs typeface="Times New Roman" panose="02020603050405020304" pitchFamily="18" charset="0"/>
              </a:rPr>
              <a:t>测试方案</a:t>
            </a:r>
            <a:endParaRPr lang="zh-CN" altLang="en-US" sz="2400" u="sng">
              <a:solidFill>
                <a:srgbClr val="FF0000"/>
              </a:solidFill>
              <a:latin typeface="Times New Roman" panose="02020603050405020304" pitchFamily="18" charset="0"/>
              <a:ea typeface="楷体" panose="02010609060101010101" charset="-122"/>
              <a:cs typeface="Times New Roman" panose="02020603050405020304" pitchFamily="18" charset="0"/>
            </a:endParaRPr>
          </a:p>
          <a:p>
            <a:pPr marL="0" indent="0">
              <a:lnSpc>
                <a:spcPct val="11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       通常以方框图的形式给出测试方法</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marL="0" indent="0">
              <a:lnSpc>
                <a:spcPct val="11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       测试条件及步骤</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marL="0" indent="0">
              <a:lnSpc>
                <a:spcPct val="110000"/>
              </a:lnSpc>
              <a:buNone/>
            </a:pPr>
            <a:r>
              <a:rPr lang="zh-CN" altLang="en-US" sz="2400" u="sng">
                <a:solidFill>
                  <a:srgbClr val="FF0000"/>
                </a:solidFill>
                <a:latin typeface="Times New Roman" panose="02020603050405020304" pitchFamily="18" charset="0"/>
                <a:ea typeface="楷体" panose="02010609060101010101" charset="-122"/>
                <a:cs typeface="Times New Roman" panose="02020603050405020304" pitchFamily="18" charset="0"/>
              </a:rPr>
              <a:t>测试仪器</a:t>
            </a:r>
            <a:r>
              <a:rPr lang="zh-CN" altLang="en-US" sz="2400">
                <a:latin typeface="Times New Roman" panose="02020603050405020304" pitchFamily="18" charset="0"/>
                <a:ea typeface="楷体" panose="02010609060101010101" charset="-122"/>
                <a:cs typeface="Times New Roman" panose="02020603050405020304" pitchFamily="18" charset="0"/>
              </a:rPr>
              <a:t>（名称、型号、测试精度）</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marL="0" indent="0">
              <a:lnSpc>
                <a:spcPct val="11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     选择适当的测试仪器</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marL="0" lvl="1" indent="0">
              <a:lnSpc>
                <a:spcPct val="11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    直流电压测试采用直流电压表</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最好用多位数字表</a:t>
            </a:r>
            <a:r>
              <a:rPr lang="en-US" altLang="zh-CN" sz="2400">
                <a:latin typeface="Times New Roman" panose="02020603050405020304" pitchFamily="18" charset="0"/>
                <a:ea typeface="楷体" panose="02010609060101010101" charset="-122"/>
                <a:cs typeface="Times New Roman" panose="02020603050405020304" pitchFamily="18" charset="0"/>
              </a:rPr>
              <a:t>）</a:t>
            </a:r>
            <a:endParaRPr lang="en-US" altLang="zh-CN" sz="2400">
              <a:latin typeface="Times New Roman" panose="02020603050405020304" pitchFamily="18" charset="0"/>
              <a:ea typeface="楷体" panose="02010609060101010101" charset="-122"/>
              <a:cs typeface="Times New Roman" panose="02020603050405020304" pitchFamily="18" charset="0"/>
            </a:endParaRPr>
          </a:p>
          <a:p>
            <a:pPr marL="0" lvl="1" indent="0">
              <a:lnSpc>
                <a:spcPct val="110000"/>
              </a:lnSpc>
              <a:buNone/>
            </a:pPr>
            <a:r>
              <a:rPr lang="en-US" altLang="zh-CN" sz="2400">
                <a:latin typeface="Times New Roman" panose="02020603050405020304" pitchFamily="18" charset="0"/>
                <a:ea typeface="楷体" panose="02010609060101010101" charset="-122"/>
                <a:cs typeface="Times New Roman" panose="02020603050405020304" pitchFamily="18" charset="0"/>
              </a:rPr>
              <a:t>    </a:t>
            </a:r>
            <a:r>
              <a:rPr lang="zh-CN" altLang="en-US" sz="2400">
                <a:latin typeface="Times New Roman" panose="02020603050405020304" pitchFamily="18" charset="0"/>
                <a:ea typeface="楷体" panose="02010609060101010101" charset="-122"/>
                <a:cs typeface="Times New Roman" panose="02020603050405020304" pitchFamily="18" charset="0"/>
              </a:rPr>
              <a:t>交流电压测试选择几十千赫以下用低频毫伏表</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marL="0" lvl="1" indent="0">
              <a:lnSpc>
                <a:spcPct val="11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    几百千赫以上用高频毫伏表</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marL="0" lvl="1" indent="0">
              <a:lnSpc>
                <a:spcPct val="11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    频率测试采用频率计</a:t>
            </a:r>
            <a:endParaRPr lang="zh-CN" altLang="en-US" sz="2400">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1" name="文本占位符 32770"/>
          <p:cNvSpPr>
            <a:spLocks noGrp="1" noRot="1"/>
          </p:cNvSpPr>
          <p:nvPr>
            <p:ph type="body" idx="1"/>
          </p:nvPr>
        </p:nvSpPr>
        <p:spPr>
          <a:xfrm>
            <a:off x="720090" y="1619885"/>
            <a:ext cx="10752455" cy="4535170"/>
          </a:xfrm>
        </p:spPr>
        <p:txBody>
          <a:bodyPr/>
          <a:p>
            <a:pPr eaLnBrk="1">
              <a:lnSpc>
                <a:spcPct val="150000"/>
              </a:lnSpc>
              <a:spcBef>
                <a:spcPts val="0"/>
              </a:spcBef>
            </a:pPr>
            <a:r>
              <a:rPr lang="zh-CN" altLang="en-US">
                <a:latin typeface="Times New Roman" panose="02020603050405020304" pitchFamily="18" charset="0"/>
                <a:ea typeface="楷体" panose="02010609060101010101" charset="-122"/>
                <a:cs typeface="Times New Roman" panose="02020603050405020304" pitchFamily="18" charset="0"/>
              </a:rPr>
              <a:t>测试各项都要注明测试条件，如输入信号、输出信号、电源电压；测试仪器以及其它一些需要注明条件</a:t>
            </a:r>
            <a:endParaRPr lang="zh-CN" altLang="en-US">
              <a:latin typeface="Times New Roman" panose="02020603050405020304" pitchFamily="18" charset="0"/>
              <a:ea typeface="楷体" panose="02010609060101010101" charset="-122"/>
              <a:cs typeface="Times New Roman" panose="02020603050405020304" pitchFamily="18" charset="0"/>
            </a:endParaRPr>
          </a:p>
          <a:p>
            <a:pPr eaLnBrk="1">
              <a:lnSpc>
                <a:spcPct val="150000"/>
              </a:lnSpc>
              <a:spcBef>
                <a:spcPts val="0"/>
              </a:spcBef>
            </a:pPr>
            <a:r>
              <a:rPr lang="zh-CN" altLang="en-US">
                <a:latin typeface="Times New Roman" panose="02020603050405020304" pitchFamily="18" charset="0"/>
                <a:ea typeface="楷体" panose="02010609060101010101" charset="-122"/>
                <a:cs typeface="Times New Roman" panose="02020603050405020304" pitchFamily="18" charset="0"/>
              </a:rPr>
              <a:t>有些数据要进行多次的测量</a:t>
            </a:r>
            <a:endParaRPr lang="zh-CN" altLang="en-US">
              <a:latin typeface="Times New Roman" panose="02020603050405020304" pitchFamily="18" charset="0"/>
              <a:ea typeface="楷体" panose="02010609060101010101" charset="-122"/>
              <a:cs typeface="Times New Roman" panose="02020603050405020304" pitchFamily="18" charset="0"/>
            </a:endParaRPr>
          </a:p>
          <a:p>
            <a:pPr eaLnBrk="1">
              <a:lnSpc>
                <a:spcPct val="150000"/>
              </a:lnSpc>
              <a:spcBef>
                <a:spcPts val="0"/>
              </a:spcBef>
            </a:pPr>
            <a:r>
              <a:rPr lang="zh-CN" altLang="en-US">
                <a:latin typeface="Times New Roman" panose="02020603050405020304" pitchFamily="18" charset="0"/>
                <a:ea typeface="楷体" panose="02010609060101010101" charset="-122"/>
                <a:cs typeface="Times New Roman" panose="02020603050405020304" pitchFamily="18" charset="0"/>
              </a:rPr>
              <a:t>测试记录数据，绘制图表、曲线</a:t>
            </a:r>
            <a:endParaRPr lang="zh-CN" altLang="en-US">
              <a:latin typeface="Times New Roman" panose="02020603050405020304" pitchFamily="18" charset="0"/>
              <a:ea typeface="楷体" panose="02010609060101010101" charset="-122"/>
              <a:cs typeface="Times New Roman" panose="02020603050405020304" pitchFamily="18" charset="0"/>
            </a:endParaRPr>
          </a:p>
          <a:p>
            <a:pPr algn="l" eaLnBrk="1">
              <a:lnSpc>
                <a:spcPct val="150000"/>
              </a:lnSpc>
              <a:spcBef>
                <a:spcPts val="0"/>
              </a:spcBef>
            </a:pPr>
            <a:r>
              <a:rPr lang="zh-CN" altLang="en-US">
                <a:latin typeface="Times New Roman" panose="02020603050405020304" pitchFamily="18" charset="0"/>
                <a:ea typeface="楷体" panose="02010609060101010101" charset="-122"/>
                <a:cs typeface="Times New Roman" panose="02020603050405020304" pitchFamily="18" charset="0"/>
              </a:rPr>
              <a:t>说明达到的技术指标，并和设计要求的技术指标进行比较，说明最终测试指标的精度 </a:t>
            </a:r>
            <a:endParaRPr lang="zh-CN" altLang="en-US">
              <a:latin typeface="Times New Roman" panose="02020603050405020304" pitchFamily="18" charset="0"/>
              <a:ea typeface="楷体" panose="02010609060101010101" charset="-122"/>
              <a:cs typeface="Times New Roman" panose="02020603050405020304" pitchFamily="18" charset="0"/>
            </a:endParaRPr>
          </a:p>
        </p:txBody>
      </p:sp>
      <p:sp>
        <p:nvSpPr>
          <p:cNvPr id="31746" name="标题 31745"/>
          <p:cNvSpPr>
            <a:spLocks noGrp="1" noRot="1"/>
          </p:cNvSpPr>
          <p:nvPr>
            <p:ph type="title"/>
          </p:nvPr>
        </p:nvSpPr>
        <p:spPr>
          <a:xfrm>
            <a:off x="768985" y="727075"/>
            <a:ext cx="6863080" cy="745490"/>
          </a:xfrm>
          <a:solidFill>
            <a:schemeClr val="bg1"/>
          </a:solidFill>
        </p:spPr>
        <p:txBody>
          <a:bodyPr anchor="ctr"/>
          <a:p>
            <a:pPr marL="685800" indent="-685800"/>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3.8   </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测试方法与数据处理</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（9</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分</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a:t>
            </a:r>
            <a:endPar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5" name="文本占位符 33794"/>
          <p:cNvSpPr>
            <a:spLocks noGrp="1" noRot="1"/>
          </p:cNvSpPr>
          <p:nvPr>
            <p:ph type="body" idx="1"/>
          </p:nvPr>
        </p:nvSpPr>
        <p:spPr>
          <a:xfrm>
            <a:off x="579755" y="1412875"/>
            <a:ext cx="10937875" cy="4097020"/>
          </a:xfrm>
        </p:spPr>
        <p:txBody>
          <a:bodyPr/>
          <a:p>
            <a:pPr marL="0" indent="0">
              <a:lnSpc>
                <a:spcPct val="120000"/>
              </a:lnSpc>
            </a:pPr>
            <a:r>
              <a:rPr lang="zh-CN" altLang="en-US" sz="2800">
                <a:latin typeface="Times New Roman" panose="02020603050405020304" pitchFamily="18" charset="0"/>
                <a:ea typeface="楷体" panose="02010609060101010101" charset="-122"/>
                <a:cs typeface="Times New Roman" panose="02020603050405020304" pitchFamily="18" charset="0"/>
              </a:rPr>
              <a:t>要求熟悉</a:t>
            </a:r>
            <a:endParaRPr lang="zh-CN" altLang="en-US" sz="2800">
              <a:latin typeface="Times New Roman" panose="02020603050405020304" pitchFamily="18" charset="0"/>
              <a:ea typeface="楷体" panose="02010609060101010101" charset="-122"/>
              <a:cs typeface="Times New Roman" panose="02020603050405020304" pitchFamily="18" charset="0"/>
            </a:endParaRPr>
          </a:p>
          <a:p>
            <a:pPr marL="0" indent="0">
              <a:lnSpc>
                <a:spcPct val="120000"/>
              </a:lnSpc>
              <a:buNone/>
            </a:pPr>
            <a:r>
              <a:rPr lang="zh-CN" altLang="en-US" sz="2800">
                <a:latin typeface="Times New Roman" panose="02020603050405020304" pitchFamily="18" charset="0"/>
                <a:ea typeface="楷体" panose="02010609060101010101" charset="-122"/>
                <a:cs typeface="Times New Roman" panose="02020603050405020304" pitchFamily="18" charset="0"/>
              </a:rPr>
              <a:t>       各种指标的定义、测量方法</a:t>
            </a:r>
            <a:endParaRPr lang="zh-CN" altLang="en-US" sz="2800">
              <a:latin typeface="Times New Roman" panose="02020603050405020304" pitchFamily="18" charset="0"/>
              <a:ea typeface="楷体" panose="02010609060101010101" charset="-122"/>
              <a:cs typeface="Times New Roman" panose="02020603050405020304" pitchFamily="18" charset="0"/>
            </a:endParaRPr>
          </a:p>
          <a:p>
            <a:pPr marL="0" indent="0">
              <a:lnSpc>
                <a:spcPct val="120000"/>
              </a:lnSpc>
              <a:buNone/>
            </a:pPr>
            <a:r>
              <a:rPr lang="zh-CN" altLang="en-US" sz="2800">
                <a:latin typeface="Times New Roman" panose="02020603050405020304" pitchFamily="18" charset="0"/>
                <a:ea typeface="楷体" panose="02010609060101010101" charset="-122"/>
                <a:cs typeface="Times New Roman" panose="02020603050405020304" pitchFamily="18" charset="0"/>
              </a:rPr>
              <a:t>       测量仪器如逻辑分析仪、</a:t>
            </a:r>
            <a:r>
              <a:rPr lang="en-US" altLang="zh-CN" sz="2800">
                <a:latin typeface="Times New Roman" panose="02020603050405020304" pitchFamily="18" charset="0"/>
                <a:ea typeface="楷体" panose="02010609060101010101" charset="-122"/>
                <a:cs typeface="Times New Roman" panose="02020603050405020304" pitchFamily="18" charset="0"/>
              </a:rPr>
              <a:t>LC</a:t>
            </a:r>
            <a:r>
              <a:rPr lang="zh-CN" altLang="en-US" sz="2800">
                <a:latin typeface="Times New Roman" panose="02020603050405020304" pitchFamily="18" charset="0"/>
                <a:ea typeface="楷体" panose="02010609060101010101" charset="-122"/>
                <a:cs typeface="Times New Roman" panose="02020603050405020304" pitchFamily="18" charset="0"/>
              </a:rPr>
              <a:t>测试仪、频谱分析仪的使用（根据竞赛题目技术要求和作品，正确选择测试仪器仪表和测试方法）</a:t>
            </a:r>
            <a:endParaRPr lang="zh-CN" altLang="en-US" sz="2800">
              <a:latin typeface="Times New Roman" panose="02020603050405020304" pitchFamily="18" charset="0"/>
              <a:ea typeface="楷体" panose="02010609060101010101" charset="-122"/>
              <a:cs typeface="Times New Roman" panose="02020603050405020304" pitchFamily="18" charset="0"/>
            </a:endParaRPr>
          </a:p>
          <a:p>
            <a:pPr marL="0" indent="0">
              <a:lnSpc>
                <a:spcPct val="120000"/>
              </a:lnSpc>
            </a:pPr>
            <a:r>
              <a:rPr lang="zh-CN" altLang="en-US" sz="2800">
                <a:latin typeface="Times New Roman" panose="02020603050405020304" pitchFamily="18" charset="0"/>
                <a:ea typeface="楷体" panose="02010609060101010101" charset="-122"/>
                <a:cs typeface="Times New Roman" panose="02020603050405020304" pitchFamily="18" charset="0"/>
              </a:rPr>
              <a:t>测试内容</a:t>
            </a:r>
            <a:endParaRPr lang="zh-CN" altLang="en-US" sz="2800">
              <a:latin typeface="Times New Roman" panose="02020603050405020304" pitchFamily="18" charset="0"/>
              <a:ea typeface="楷体" panose="02010609060101010101" charset="-122"/>
              <a:cs typeface="Times New Roman" panose="02020603050405020304" pitchFamily="18" charset="0"/>
            </a:endParaRPr>
          </a:p>
          <a:p>
            <a:pPr marL="0" indent="0">
              <a:lnSpc>
                <a:spcPct val="120000"/>
              </a:lnSpc>
              <a:buNone/>
            </a:pPr>
            <a:r>
              <a:rPr lang="zh-CN" altLang="en-US" sz="2800">
                <a:latin typeface="Times New Roman" panose="02020603050405020304" pitchFamily="18" charset="0"/>
                <a:ea typeface="楷体" panose="02010609060101010101" charset="-122"/>
                <a:cs typeface="Times New Roman" panose="02020603050405020304" pitchFamily="18" charset="0"/>
              </a:rPr>
              <a:t>       功能测试</a:t>
            </a:r>
            <a:r>
              <a:rPr lang="en-US" altLang="zh-CN" sz="2800">
                <a:latin typeface="Times New Roman" panose="02020603050405020304" pitchFamily="18" charset="0"/>
                <a:ea typeface="楷体" panose="02010609060101010101" charset="-122"/>
                <a:cs typeface="Times New Roman" panose="02020603050405020304" pitchFamily="18" charset="0"/>
              </a:rPr>
              <a:t>——</a:t>
            </a:r>
            <a:r>
              <a:rPr lang="zh-CN" altLang="en-US" sz="2800">
                <a:latin typeface="Times New Roman" panose="02020603050405020304" pitchFamily="18" charset="0"/>
                <a:ea typeface="楷体" panose="02010609060101010101" charset="-122"/>
                <a:cs typeface="Times New Roman" panose="02020603050405020304" pitchFamily="18" charset="0"/>
              </a:rPr>
              <a:t>每个功能是否实现？</a:t>
            </a:r>
            <a:endParaRPr lang="zh-CN" altLang="en-US" sz="2800">
              <a:latin typeface="Times New Roman" panose="02020603050405020304" pitchFamily="18" charset="0"/>
              <a:ea typeface="楷体" panose="02010609060101010101" charset="-122"/>
              <a:cs typeface="Times New Roman" panose="02020603050405020304" pitchFamily="18" charset="0"/>
            </a:endParaRPr>
          </a:p>
          <a:p>
            <a:pPr marL="0" indent="0">
              <a:lnSpc>
                <a:spcPct val="120000"/>
              </a:lnSpc>
              <a:buNone/>
            </a:pPr>
            <a:r>
              <a:rPr lang="zh-CN" altLang="en-US" sz="2800">
                <a:latin typeface="Times New Roman" panose="02020603050405020304" pitchFamily="18" charset="0"/>
                <a:ea typeface="楷体" panose="02010609060101010101" charset="-122"/>
                <a:cs typeface="Times New Roman" panose="02020603050405020304" pitchFamily="18" charset="0"/>
              </a:rPr>
              <a:t>       性能测试</a:t>
            </a:r>
            <a:r>
              <a:rPr lang="en-US" altLang="zh-CN" sz="2800">
                <a:latin typeface="Times New Roman" panose="02020603050405020304" pitchFamily="18" charset="0"/>
                <a:ea typeface="楷体" panose="02010609060101010101" charset="-122"/>
                <a:cs typeface="Times New Roman" panose="02020603050405020304" pitchFamily="18" charset="0"/>
              </a:rPr>
              <a:t>——</a:t>
            </a:r>
            <a:r>
              <a:rPr lang="zh-CN" altLang="en-US" sz="2800">
                <a:latin typeface="Times New Roman" panose="02020603050405020304" pitchFamily="18" charset="0"/>
                <a:ea typeface="楷体" panose="02010609060101010101" charset="-122"/>
                <a:cs typeface="Times New Roman" panose="02020603050405020304" pitchFamily="18" charset="0"/>
              </a:rPr>
              <a:t>每项指标的理论值、测量值、误差（列表）</a:t>
            </a:r>
            <a:endParaRPr lang="zh-CN" altLang="en-US" sz="2800">
              <a:latin typeface="Times New Roman" panose="02020603050405020304" pitchFamily="18" charset="0"/>
              <a:ea typeface="楷体" panose="02010609060101010101" charset="-122"/>
              <a:cs typeface="Times New Roman" panose="02020603050405020304" pitchFamily="18" charset="0"/>
            </a:endParaRPr>
          </a:p>
          <a:p>
            <a:endParaRPr lang="zh-CN" altLang="en-US" b="1">
              <a:solidFill>
                <a:srgbClr val="FF0000"/>
              </a:solidFill>
              <a:latin typeface="Times New Roman" panose="02020603050405020304" pitchFamily="18" charset="0"/>
              <a:ea typeface="楷体" panose="02010609060101010101" charset="-122"/>
              <a:cs typeface="Times New Roman" panose="02020603050405020304" pitchFamily="18" charset="0"/>
              <a:sym typeface="+mn-ea"/>
            </a:endParaRPr>
          </a:p>
        </p:txBody>
      </p:sp>
      <p:sp>
        <p:nvSpPr>
          <p:cNvPr id="31746" name="标题 31745"/>
          <p:cNvSpPr>
            <a:spLocks noGrp="1" noRot="1"/>
          </p:cNvSpPr>
          <p:nvPr>
            <p:ph type="title"/>
          </p:nvPr>
        </p:nvSpPr>
        <p:spPr>
          <a:xfrm>
            <a:off x="716915" y="643255"/>
            <a:ext cx="6863080" cy="745490"/>
          </a:xfrm>
          <a:solidFill>
            <a:schemeClr val="bg1"/>
          </a:solidFill>
        </p:spPr>
        <p:txBody>
          <a:bodyPr anchor="ctr"/>
          <a:p>
            <a:pPr marL="685800" indent="-685800"/>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3.8   </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测试方法与数据处理</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（9</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分</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a:t>
            </a:r>
            <a:endPar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endParaRPr>
          </a:p>
        </p:txBody>
      </p:sp>
      <p:sp>
        <p:nvSpPr>
          <p:cNvPr id="4" name="文本框 3"/>
          <p:cNvSpPr txBox="1"/>
          <p:nvPr/>
        </p:nvSpPr>
        <p:spPr>
          <a:xfrm>
            <a:off x="716915" y="5643880"/>
            <a:ext cx="8763000" cy="521970"/>
          </a:xfrm>
          <a:prstGeom prst="rect">
            <a:avLst/>
          </a:prstGeom>
          <a:noFill/>
        </p:spPr>
        <p:txBody>
          <a:bodyPr wrap="none" rtlCol="0">
            <a:spAutoFit/>
          </a:bodyPr>
          <a:p>
            <a:pPr algn="l"/>
            <a:r>
              <a:rPr lang="zh-CN" altLang="en-US" sz="280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对作品运行测量的数据，要运用科学的方法给予处理：</a:t>
            </a:r>
            <a:endParaRPr lang="zh-CN" altLang="en-US" sz="2800" b="1">
              <a:solidFill>
                <a:srgbClr val="FF0000"/>
              </a:solidFill>
              <a:latin typeface="Times New Roman" panose="02020603050405020304" pitchFamily="18" charset="0"/>
              <a:ea typeface="楷体" panose="02010609060101010101" charset="-122"/>
              <a:cs typeface="Times New Roman" panose="02020603050405020304" pitchFamily="18" charset="0"/>
              <a:sym typeface="+mn-ea"/>
            </a:endParaRPr>
          </a:p>
        </p:txBody>
      </p:sp>
    </p:spTree>
  </p:cSld>
  <p:clrMapOvr>
    <a:masterClrMapping/>
  </p:clrMapOvr>
  <p:transition>
    <p:pull dir="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9" name="文本占位符 34818"/>
          <p:cNvSpPr>
            <a:spLocks noGrp="1" noRot="1"/>
          </p:cNvSpPr>
          <p:nvPr>
            <p:ph type="body" idx="1"/>
          </p:nvPr>
        </p:nvSpPr>
        <p:spPr>
          <a:xfrm>
            <a:off x="247650" y="693420"/>
            <a:ext cx="11769725" cy="5804535"/>
          </a:xfrm>
          <a:solidFill>
            <a:schemeClr val="bg1"/>
          </a:solidFill>
        </p:spPr>
        <p:txBody>
          <a:bodyPr/>
          <a:p>
            <a:pPr marL="0" indent="508635" eaLnBrk="1">
              <a:lnSpc>
                <a:spcPct val="110000"/>
              </a:lnSpc>
              <a:spcBef>
                <a:spcPts val="0"/>
              </a:spcBef>
              <a:buNone/>
            </a:pPr>
            <a:r>
              <a:rPr lang="zh-CN" altLang="en-US" sz="2400" dirty="0">
                <a:solidFill>
                  <a:srgbClr val="FF5050"/>
                </a:solidFill>
                <a:latin typeface="Times New Roman" panose="02020603050405020304" pitchFamily="18" charset="0"/>
                <a:ea typeface="楷体" panose="02010609060101010101" charset="-122"/>
                <a:cs typeface="Times New Roman" panose="02020603050405020304" pitchFamily="18" charset="0"/>
              </a:rPr>
              <a:t>接收部分的指标测试和测试结果</a:t>
            </a:r>
            <a:endParaRPr lang="zh-CN" altLang="en-US" sz="2400" dirty="0">
              <a:solidFill>
                <a:srgbClr val="FF5050"/>
              </a:solidFill>
              <a:latin typeface="Times New Roman" panose="02020603050405020304" pitchFamily="18" charset="0"/>
              <a:ea typeface="楷体" panose="02010609060101010101" charset="-122"/>
              <a:cs typeface="Times New Roman" panose="02020603050405020304" pitchFamily="18" charset="0"/>
            </a:endParaRPr>
          </a:p>
          <a:p>
            <a:pPr marL="0" indent="508635" eaLnBrk="1">
              <a:lnSpc>
                <a:spcPct val="110000"/>
              </a:lnSpc>
              <a:spcBef>
                <a:spcPts val="0"/>
              </a:spcBef>
              <a:buNone/>
            </a:pPr>
            <a:r>
              <a:rPr lang="zh-CN" altLang="en-US" sz="2400" dirty="0">
                <a:latin typeface="Times New Roman" panose="02020603050405020304" pitchFamily="18" charset="0"/>
                <a:ea typeface="楷体" panose="02010609060101010101" charset="-122"/>
                <a:cs typeface="Times New Roman" panose="02020603050405020304" pitchFamily="18" charset="0"/>
              </a:rPr>
              <a:t>接收部分主要指标是接收的灵敏度、信噪比以及其镜像抑制。测试结果如表X.X.1所列。</a:t>
            </a:r>
            <a:endParaRPr lang="zh-CN" altLang="en-US" sz="2400" dirty="0">
              <a:latin typeface="Times New Roman" panose="02020603050405020304" pitchFamily="18" charset="0"/>
              <a:ea typeface="楷体" panose="02010609060101010101" charset="-122"/>
              <a:cs typeface="Times New Roman" panose="02020603050405020304" pitchFamily="18" charset="0"/>
            </a:endParaRPr>
          </a:p>
          <a:p>
            <a:pPr marL="0" indent="508635" eaLnBrk="1">
              <a:lnSpc>
                <a:spcPct val="110000"/>
              </a:lnSpc>
              <a:spcBef>
                <a:spcPts val="0"/>
              </a:spcBef>
              <a:buNone/>
            </a:pPr>
            <a:r>
              <a:rPr lang="zh-CN" altLang="en-US" sz="2400" dirty="0">
                <a:latin typeface="Times New Roman" panose="02020603050405020304" pitchFamily="18" charset="0"/>
                <a:ea typeface="楷体" panose="02010609060101010101" charset="-122"/>
                <a:cs typeface="Times New Roman" panose="02020603050405020304" pitchFamily="18" charset="0"/>
              </a:rPr>
              <a:t> （1）接收机灵敏度</a:t>
            </a:r>
            <a:endParaRPr lang="zh-CN" altLang="en-US" sz="2400" dirty="0">
              <a:latin typeface="Times New Roman" panose="02020603050405020304" pitchFamily="18" charset="0"/>
              <a:ea typeface="楷体" panose="02010609060101010101" charset="-122"/>
              <a:cs typeface="Times New Roman" panose="02020603050405020304" pitchFamily="18" charset="0"/>
            </a:endParaRPr>
          </a:p>
          <a:p>
            <a:pPr marL="0" indent="508635" eaLnBrk="1">
              <a:lnSpc>
                <a:spcPct val="110000"/>
              </a:lnSpc>
              <a:spcBef>
                <a:spcPts val="0"/>
              </a:spcBef>
              <a:buNone/>
            </a:pPr>
            <a:r>
              <a:rPr lang="zh-CN" altLang="en-US" sz="2400" dirty="0">
                <a:latin typeface="Times New Roman" panose="02020603050405020304" pitchFamily="18" charset="0"/>
                <a:ea typeface="楷体" panose="02010609060101010101" charset="-122"/>
                <a:cs typeface="Times New Roman" panose="02020603050405020304" pitchFamily="18" charset="0"/>
              </a:rPr>
              <a:t> 1）定义</a:t>
            </a:r>
            <a:endParaRPr lang="zh-CN" altLang="en-US" sz="2400" dirty="0">
              <a:latin typeface="Times New Roman" panose="02020603050405020304" pitchFamily="18" charset="0"/>
              <a:ea typeface="楷体" panose="02010609060101010101" charset="-122"/>
              <a:cs typeface="Times New Roman" panose="02020603050405020304" pitchFamily="18" charset="0"/>
            </a:endParaRPr>
          </a:p>
          <a:p>
            <a:pPr marL="0" indent="508635" eaLnBrk="1">
              <a:lnSpc>
                <a:spcPct val="110000"/>
              </a:lnSpc>
              <a:spcBef>
                <a:spcPts val="0"/>
              </a:spcBef>
              <a:buNone/>
            </a:pPr>
            <a:r>
              <a:rPr lang="zh-CN" altLang="en-US" sz="2400" dirty="0">
                <a:latin typeface="Times New Roman" panose="02020603050405020304" pitchFamily="18" charset="0"/>
                <a:ea typeface="楷体" panose="02010609060101010101" charset="-122"/>
                <a:cs typeface="Times New Roman" panose="02020603050405020304" pitchFamily="18" charset="0"/>
              </a:rPr>
              <a:t>接收机的灵敏度是指在给定的音频输出信杂比下，产生标称输出功率所需要的最小信号电平。</a:t>
            </a:r>
            <a:endParaRPr lang="zh-CN" altLang="en-US" sz="2400" dirty="0">
              <a:latin typeface="Times New Roman" panose="02020603050405020304" pitchFamily="18" charset="0"/>
              <a:ea typeface="楷体" panose="02010609060101010101" charset="-122"/>
              <a:cs typeface="Times New Roman" panose="02020603050405020304" pitchFamily="18" charset="0"/>
            </a:endParaRPr>
          </a:p>
          <a:p>
            <a:pPr marL="0" indent="508635" eaLnBrk="1">
              <a:lnSpc>
                <a:spcPct val="110000"/>
              </a:lnSpc>
              <a:spcBef>
                <a:spcPts val="0"/>
              </a:spcBef>
              <a:buNone/>
            </a:pPr>
            <a:r>
              <a:rPr lang="zh-CN" altLang="en-US" sz="2400" dirty="0">
                <a:latin typeface="Times New Roman" panose="02020603050405020304" pitchFamily="18" charset="0"/>
                <a:ea typeface="楷体" panose="02010609060101010101" charset="-122"/>
                <a:cs typeface="Times New Roman" panose="02020603050405020304" pitchFamily="18" charset="0"/>
              </a:rPr>
              <a:t>2）测试方法</a:t>
            </a:r>
            <a:endParaRPr lang="zh-CN" altLang="en-US" sz="2400" dirty="0">
              <a:latin typeface="Times New Roman" panose="02020603050405020304" pitchFamily="18" charset="0"/>
              <a:ea typeface="楷体" panose="02010609060101010101" charset="-122"/>
              <a:cs typeface="Times New Roman" panose="02020603050405020304" pitchFamily="18" charset="0"/>
            </a:endParaRPr>
          </a:p>
          <a:p>
            <a:pPr marL="0" indent="508635" eaLnBrk="1">
              <a:lnSpc>
                <a:spcPct val="110000"/>
              </a:lnSpc>
              <a:spcBef>
                <a:spcPts val="0"/>
              </a:spcBef>
              <a:buNone/>
            </a:pPr>
            <a:r>
              <a:rPr lang="zh-CN" altLang="en-US" sz="2400" dirty="0">
                <a:latin typeface="Times New Roman" panose="02020603050405020304" pitchFamily="18" charset="0"/>
                <a:ea typeface="楷体" panose="02010609060101010101" charset="-122"/>
                <a:cs typeface="Times New Roman" panose="02020603050405020304" pitchFamily="18" charset="0"/>
              </a:rPr>
              <a:t>测量电路如图X</a:t>
            </a:r>
            <a:r>
              <a:rPr lang="en-US" altLang="zh-CN" sz="2400" dirty="0">
                <a:latin typeface="Times New Roman" panose="02020603050405020304" pitchFamily="18" charset="0"/>
                <a:ea typeface="楷体" panose="02010609060101010101" charset="-122"/>
                <a:cs typeface="Times New Roman" panose="02020603050405020304" pitchFamily="18" charset="0"/>
              </a:rPr>
              <a:t>.</a:t>
            </a:r>
            <a:r>
              <a:rPr lang="zh-CN" altLang="en-US" sz="2400" dirty="0">
                <a:latin typeface="Times New Roman" panose="02020603050405020304" pitchFamily="18" charset="0"/>
                <a:ea typeface="楷体" panose="02010609060101010101" charset="-122"/>
                <a:cs typeface="Times New Roman" panose="02020603050405020304" pitchFamily="18" charset="0"/>
              </a:rPr>
              <a:t>X</a:t>
            </a:r>
            <a:r>
              <a:rPr lang="en-US" altLang="zh-CN" sz="2400" dirty="0">
                <a:latin typeface="Times New Roman" panose="02020603050405020304" pitchFamily="18" charset="0"/>
                <a:ea typeface="楷体" panose="02010609060101010101" charset="-122"/>
                <a:cs typeface="Times New Roman" panose="02020603050405020304" pitchFamily="18" charset="0"/>
              </a:rPr>
              <a:t>.</a:t>
            </a:r>
            <a:r>
              <a:rPr lang="zh-CN" altLang="en-US" sz="2400" dirty="0">
                <a:latin typeface="Times New Roman" panose="02020603050405020304" pitchFamily="18" charset="0"/>
                <a:ea typeface="楷体" panose="02010609060101010101" charset="-122"/>
                <a:cs typeface="Times New Roman" panose="02020603050405020304" pitchFamily="18" charset="0"/>
              </a:rPr>
              <a:t>1所示，将K固定在2位置。</a:t>
            </a:r>
            <a:endParaRPr lang="zh-CN" altLang="en-US" sz="2400" dirty="0">
              <a:latin typeface="Times New Roman" panose="02020603050405020304" pitchFamily="18" charset="0"/>
              <a:ea typeface="楷体" panose="02010609060101010101" charset="-122"/>
              <a:cs typeface="Times New Roman" panose="02020603050405020304" pitchFamily="18" charset="0"/>
            </a:endParaRPr>
          </a:p>
          <a:p>
            <a:pPr marL="0" indent="508635" eaLnBrk="1">
              <a:lnSpc>
                <a:spcPct val="110000"/>
              </a:lnSpc>
              <a:spcBef>
                <a:spcPts val="0"/>
              </a:spcBef>
              <a:buNone/>
            </a:pPr>
            <a:r>
              <a:rPr lang="zh-CN" altLang="en-US" sz="2400" dirty="0">
                <a:latin typeface="Times New Roman" panose="02020603050405020304" pitchFamily="18" charset="0"/>
                <a:ea typeface="楷体" panose="02010609060101010101" charset="-122"/>
                <a:cs typeface="Times New Roman" panose="02020603050405020304" pitchFamily="18" charset="0"/>
              </a:rPr>
              <a:t> （a）调频信号发生器的载波频率为35 MHz，调制频率1 kHz，频偏±75 kHz，接收机的音调平位，按失真最小调谐，调节音量，使其输出为标准输出功率。</a:t>
            </a:r>
            <a:endParaRPr lang="zh-CN" altLang="en-US" sz="2400" dirty="0">
              <a:latin typeface="Times New Roman" panose="02020603050405020304" pitchFamily="18" charset="0"/>
              <a:ea typeface="楷体" panose="02010609060101010101" charset="-122"/>
              <a:cs typeface="Times New Roman" panose="02020603050405020304" pitchFamily="18" charset="0"/>
            </a:endParaRPr>
          </a:p>
          <a:p>
            <a:pPr marL="0" indent="508635" eaLnBrk="1">
              <a:lnSpc>
                <a:spcPct val="110000"/>
              </a:lnSpc>
              <a:spcBef>
                <a:spcPts val="0"/>
              </a:spcBef>
              <a:buNone/>
            </a:pPr>
            <a:r>
              <a:rPr lang="zh-CN" altLang="en-US" sz="2400" dirty="0">
                <a:latin typeface="Times New Roman" panose="02020603050405020304" pitchFamily="18" charset="0"/>
                <a:ea typeface="楷体" panose="02010609060101010101" charset="-122"/>
                <a:cs typeface="Times New Roman" panose="02020603050405020304" pitchFamily="18" charset="0"/>
              </a:rPr>
              <a:t> （b）改变输入信号电平及接收机的音量，使输出保持标准输出功率，而用滤基波法测得的信噪比达到30 dB（相当于失真3％），此时的输入信号电平为使用灵敏度。</a:t>
            </a:r>
            <a:endParaRPr lang="zh-CN" altLang="en-US" sz="2400" dirty="0">
              <a:latin typeface="Times New Roman" panose="02020603050405020304" pitchFamily="18" charset="0"/>
              <a:ea typeface="楷体" panose="02010609060101010101" charset="-122"/>
              <a:cs typeface="Times New Roman" panose="02020603050405020304" pitchFamily="18" charset="0"/>
            </a:endParaRPr>
          </a:p>
          <a:p>
            <a:pPr marL="0" indent="508635" eaLnBrk="1">
              <a:lnSpc>
                <a:spcPct val="110000"/>
              </a:lnSpc>
              <a:spcBef>
                <a:spcPts val="0"/>
              </a:spcBef>
              <a:buNone/>
            </a:pPr>
            <a:r>
              <a:rPr lang="zh-CN" altLang="en-US" sz="2400" dirty="0">
                <a:latin typeface="Times New Roman" panose="02020603050405020304" pitchFamily="18" charset="0"/>
                <a:ea typeface="楷体" panose="02010609060101010101" charset="-122"/>
                <a:cs typeface="Times New Roman" panose="02020603050405020304" pitchFamily="18" charset="0"/>
              </a:rPr>
              <a:t>（c）测量还可以在其他测量频率、频偏以及信噪比下重复进行。</a:t>
            </a:r>
            <a:endParaRPr lang="zh-CN" altLang="en-US" sz="2400" dirty="0">
              <a:latin typeface="Times New Roman" panose="02020603050405020304" pitchFamily="18" charset="0"/>
              <a:ea typeface="楷体" panose="02010609060101010101" charset="-122"/>
              <a:cs typeface="Times New Roman" panose="02020603050405020304" pitchFamily="18" charset="0"/>
            </a:endParaRPr>
          </a:p>
        </p:txBody>
      </p:sp>
      <p:sp>
        <p:nvSpPr>
          <p:cNvPr id="31746" name="标题 31745"/>
          <p:cNvSpPr>
            <a:spLocks noGrp="1" noRot="1"/>
          </p:cNvSpPr>
          <p:nvPr>
            <p:ph type="title"/>
          </p:nvPr>
        </p:nvSpPr>
        <p:spPr>
          <a:xfrm>
            <a:off x="102235" y="0"/>
            <a:ext cx="6863080" cy="745490"/>
          </a:xfrm>
          <a:solidFill>
            <a:schemeClr val="bg1"/>
          </a:solidFill>
        </p:spPr>
        <p:txBody>
          <a:bodyPr anchor="ctr"/>
          <a:p>
            <a:pPr marL="685800" indent="-685800"/>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3.8   </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测试方法与数据处理</a:t>
            </a:r>
            <a:r>
              <a:rPr lang="en-US" altLang="zh-CN" sz="2800" b="1">
                <a:solidFill>
                  <a:srgbClr val="FF0000"/>
                </a:solidFill>
                <a:latin typeface="Times New Roman" panose="02020603050405020304" pitchFamily="18" charset="0"/>
                <a:ea typeface="楷体" panose="02010609060101010101" charset="-122"/>
                <a:cs typeface="Times New Roman" panose="02020603050405020304" pitchFamily="18" charset="0"/>
              </a:rPr>
              <a:t>（</a:t>
            </a:r>
            <a:r>
              <a:rPr lang="zh-CN" altLang="en-US" sz="2800" b="1">
                <a:solidFill>
                  <a:srgbClr val="FF0000"/>
                </a:solidFill>
                <a:latin typeface="Times New Roman" panose="02020603050405020304" pitchFamily="18" charset="0"/>
                <a:ea typeface="楷体" panose="02010609060101010101" charset="-122"/>
                <a:cs typeface="Times New Roman" panose="02020603050405020304" pitchFamily="18" charset="0"/>
              </a:rPr>
              <a:t>案例</a:t>
            </a:r>
            <a:r>
              <a:rPr lang="en-US" altLang="zh-CN" sz="2800" b="1">
                <a:solidFill>
                  <a:srgbClr val="FF0000"/>
                </a:solidFill>
                <a:latin typeface="Times New Roman" panose="02020603050405020304" pitchFamily="18" charset="0"/>
                <a:ea typeface="楷体" panose="02010609060101010101" charset="-122"/>
                <a:cs typeface="Times New Roman" panose="02020603050405020304" pitchFamily="18" charset="0"/>
              </a:rPr>
              <a:t>）</a:t>
            </a:r>
            <a:endParaRPr lang="en-US" altLang="zh-CN" sz="2800" b="1">
              <a:solidFill>
                <a:srgbClr val="FF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3" name="文本占位符 35842"/>
          <p:cNvSpPr>
            <a:spLocks noGrp="1" noRot="1"/>
          </p:cNvSpPr>
          <p:nvPr>
            <p:ph type="body" sz="half" idx="1"/>
          </p:nvPr>
        </p:nvSpPr>
        <p:spPr>
          <a:xfrm>
            <a:off x="2036763" y="1511618"/>
            <a:ext cx="7723187" cy="422275"/>
          </a:xfrm>
        </p:spPr>
        <p:txBody>
          <a:bodyPr>
            <a:normAutofit fontScale="90000"/>
          </a:bodyPr>
          <a:p>
            <a:pPr algn="ctr">
              <a:lnSpc>
                <a:spcPct val="90000"/>
              </a:lnSpc>
              <a:buNone/>
            </a:pPr>
            <a:r>
              <a:rPr lang="zh-CN" altLang="en-US" sz="2400" b="1">
                <a:solidFill>
                  <a:srgbClr val="FF0000"/>
                </a:solidFill>
                <a:latin typeface="Times New Roman" panose="02020603050405020304" pitchFamily="18" charset="0"/>
                <a:ea typeface="楷体" panose="02010609060101010101" charset="-122"/>
                <a:cs typeface="Times New Roman" panose="02020603050405020304" pitchFamily="18" charset="0"/>
              </a:rPr>
              <a:t>表</a:t>
            </a:r>
            <a:r>
              <a:rPr lang="en-US" altLang="zh-CN" sz="2400" b="1">
                <a:solidFill>
                  <a:srgbClr val="FF0000"/>
                </a:solidFill>
                <a:latin typeface="Times New Roman" panose="02020603050405020304" pitchFamily="18" charset="0"/>
                <a:ea typeface="楷体" panose="02010609060101010101" charset="-122"/>
                <a:cs typeface="Times New Roman" panose="02020603050405020304" pitchFamily="18" charset="0"/>
              </a:rPr>
              <a:t>X.X.1   </a:t>
            </a:r>
            <a:r>
              <a:rPr lang="zh-CN" altLang="en-US" sz="2400" b="1">
                <a:solidFill>
                  <a:srgbClr val="FF0000"/>
                </a:solidFill>
                <a:latin typeface="Times New Roman" panose="02020603050405020304" pitchFamily="18" charset="0"/>
                <a:ea typeface="楷体" panose="02010609060101010101" charset="-122"/>
                <a:cs typeface="Times New Roman" panose="02020603050405020304" pitchFamily="18" charset="0"/>
              </a:rPr>
              <a:t>接收部分参数测量</a:t>
            </a:r>
            <a:endParaRPr lang="zh-CN" altLang="en-US" sz="2400" b="1">
              <a:solidFill>
                <a:srgbClr val="FF0000"/>
              </a:solidFill>
              <a:latin typeface="Times New Roman" panose="02020603050405020304" pitchFamily="18" charset="0"/>
              <a:ea typeface="楷体" panose="02010609060101010101" charset="-122"/>
              <a:cs typeface="Times New Roman" panose="02020603050405020304" pitchFamily="18" charset="0"/>
            </a:endParaRPr>
          </a:p>
        </p:txBody>
      </p:sp>
      <p:graphicFrame>
        <p:nvGraphicFramePr>
          <p:cNvPr id="35844" name="内容占位符 35843"/>
          <p:cNvGraphicFramePr/>
          <p:nvPr>
            <p:ph sz="half" idx="2"/>
            <p:custDataLst>
              <p:tags r:id="rId1"/>
            </p:custDataLst>
          </p:nvPr>
        </p:nvGraphicFramePr>
        <p:xfrm>
          <a:off x="628015" y="2049145"/>
          <a:ext cx="10856595" cy="4406900"/>
        </p:xfrm>
        <a:graphic>
          <a:graphicData uri="http://schemas.openxmlformats.org/drawingml/2006/table">
            <a:tbl>
              <a:tblPr/>
              <a:tblGrid>
                <a:gridCol w="1363980"/>
                <a:gridCol w="3836670"/>
                <a:gridCol w="3485515"/>
                <a:gridCol w="1358900"/>
                <a:gridCol w="811530"/>
              </a:tblGrid>
              <a:tr h="39624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300" b="1">
                          <a:latin typeface="Times New Roman" panose="02020603050405020304" pitchFamily="18" charset="0"/>
                          <a:ea typeface="楷体" panose="02010609060101010101" charset="-122"/>
                        </a:rPr>
                        <a:t>基本参数</a:t>
                      </a:r>
                      <a:endParaRPr lang="zh-CN" altLang="en-US" sz="2300" b="1">
                        <a:latin typeface="Times New Roman" panose="02020603050405020304" pitchFamily="18" charset="0"/>
                        <a:ea typeface="楷体" panose="0201060906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300" b="1">
                          <a:latin typeface="Times New Roman" panose="02020603050405020304" pitchFamily="18" charset="0"/>
                          <a:ea typeface="楷体" panose="02010609060101010101" charset="-122"/>
                        </a:rPr>
                        <a:t>测量条件</a:t>
                      </a:r>
                      <a:endParaRPr lang="zh-CN" altLang="en-US" sz="2300" b="1">
                        <a:latin typeface="Times New Roman" panose="02020603050405020304" pitchFamily="18" charset="0"/>
                        <a:ea typeface="楷体" panose="0201060906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300" b="1">
                          <a:latin typeface="Times New Roman" panose="02020603050405020304" pitchFamily="18" charset="0"/>
                          <a:ea typeface="楷体" panose="02010609060101010101" charset="-122"/>
                        </a:rPr>
                        <a:t>测试数据</a:t>
                      </a:r>
                      <a:endParaRPr lang="zh-CN" altLang="en-US" sz="2300" b="1">
                        <a:latin typeface="Times New Roman" panose="02020603050405020304" pitchFamily="18" charset="0"/>
                        <a:ea typeface="楷体" panose="0201060906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300" b="1">
                          <a:latin typeface="Times New Roman" panose="02020603050405020304" pitchFamily="18" charset="0"/>
                          <a:ea typeface="楷体" panose="02010609060101010101" charset="-122"/>
                        </a:rPr>
                        <a:t>单位</a:t>
                      </a:r>
                      <a:endParaRPr lang="zh-CN" altLang="en-US" sz="2300" b="1">
                        <a:latin typeface="Times New Roman" panose="02020603050405020304" pitchFamily="18" charset="0"/>
                        <a:ea typeface="楷体" panose="0201060906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12776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300" b="1">
                          <a:latin typeface="Times New Roman" panose="02020603050405020304" pitchFamily="18" charset="0"/>
                          <a:ea typeface="楷体" panose="02010609060101010101" charset="-122"/>
                        </a:rPr>
                        <a:t>灵敏度</a:t>
                      </a:r>
                      <a:endParaRPr lang="zh-CN" altLang="en-US" sz="2300" b="1">
                        <a:latin typeface="Times New Roman" panose="02020603050405020304" pitchFamily="18" charset="0"/>
                        <a:ea typeface="楷体" panose="0201060906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300" b="1">
                          <a:latin typeface="Times New Roman" panose="02020603050405020304" pitchFamily="18" charset="0"/>
                          <a:ea typeface="楷体" panose="02010609060101010101" charset="-122"/>
                          <a:cs typeface="Times New Roman" panose="02020603050405020304" pitchFamily="18" charset="0"/>
                        </a:rPr>
                        <a:t>测量频率：</a:t>
                      </a:r>
                      <a:r>
                        <a:rPr lang="en-US" altLang="zh-CN" sz="2300" b="1">
                          <a:latin typeface="Times New Roman" panose="02020603050405020304" pitchFamily="18" charset="0"/>
                          <a:ea typeface="楷体" panose="02010609060101010101" charset="-122"/>
                          <a:cs typeface="Times New Roman" panose="02020603050405020304" pitchFamily="18" charset="0"/>
                        </a:rPr>
                        <a:t>35 MHz</a:t>
                      </a:r>
                      <a:endParaRPr lang="en-US" altLang="zh-CN" sz="2300" b="1">
                        <a:latin typeface="Times New Roman" panose="02020603050405020304" pitchFamily="18" charset="0"/>
                        <a:ea typeface="楷体" panose="02010609060101010101" charset="-122"/>
                        <a:cs typeface="Times New Roman" panose="02020603050405020304" pitchFamily="18" charset="0"/>
                      </a:endParaRPr>
                    </a:p>
                    <a:p>
                      <a:pPr marL="0" lvl="0" indent="0" algn="ctr">
                        <a:buClrTx/>
                        <a:buNone/>
                      </a:pPr>
                      <a:r>
                        <a:rPr lang="zh-CN" altLang="en-US" sz="2300" b="1">
                          <a:latin typeface="Times New Roman" panose="02020603050405020304" pitchFamily="18" charset="0"/>
                          <a:ea typeface="楷体" panose="02010609060101010101" charset="-122"/>
                          <a:cs typeface="Times New Roman" panose="02020603050405020304" pitchFamily="18" charset="0"/>
                        </a:rPr>
                        <a:t>频偏：土</a:t>
                      </a:r>
                      <a:r>
                        <a:rPr lang="en-US" altLang="zh-CN" sz="2300" b="1">
                          <a:latin typeface="Times New Roman" panose="02020603050405020304" pitchFamily="18" charset="0"/>
                          <a:ea typeface="楷体" panose="02010609060101010101" charset="-122"/>
                          <a:cs typeface="Times New Roman" panose="02020603050405020304" pitchFamily="18" charset="0"/>
                        </a:rPr>
                        <a:t>75 kHz</a:t>
                      </a:r>
                      <a:endParaRPr lang="en-US" altLang="zh-CN" sz="2300" b="1">
                        <a:latin typeface="Times New Roman" panose="02020603050405020304" pitchFamily="18" charset="0"/>
                        <a:ea typeface="楷体" panose="02010609060101010101" charset="-122"/>
                        <a:cs typeface="Times New Roman" panose="02020603050405020304" pitchFamily="18" charset="0"/>
                      </a:endParaRPr>
                    </a:p>
                    <a:p>
                      <a:pPr marL="0" lvl="0" indent="0" algn="ctr">
                        <a:buClrTx/>
                        <a:buNone/>
                      </a:pPr>
                      <a:r>
                        <a:rPr lang="zh-CN" altLang="en-US" sz="2300" b="1">
                          <a:latin typeface="Times New Roman" panose="02020603050405020304" pitchFamily="18" charset="0"/>
                          <a:ea typeface="楷体" panose="02010609060101010101" charset="-122"/>
                          <a:cs typeface="Times New Roman" panose="02020603050405020304" pitchFamily="18" charset="0"/>
                        </a:rPr>
                        <a:t>信噪比：</a:t>
                      </a:r>
                      <a:r>
                        <a:rPr lang="en-US" altLang="zh-CN" sz="2300" b="1">
                          <a:latin typeface="Times New Roman" panose="02020603050405020304" pitchFamily="18" charset="0"/>
                          <a:ea typeface="楷体" panose="02010609060101010101" charset="-122"/>
                          <a:cs typeface="Times New Roman" panose="02020603050405020304" pitchFamily="18" charset="0"/>
                        </a:rPr>
                        <a:t>30dB（</a:t>
                      </a:r>
                      <a:r>
                        <a:rPr lang="zh-CN" altLang="en-US" sz="2300" b="1">
                          <a:latin typeface="Times New Roman" panose="02020603050405020304" pitchFamily="18" charset="0"/>
                          <a:ea typeface="楷体" panose="02010609060101010101" charset="-122"/>
                          <a:cs typeface="Times New Roman" panose="02020603050405020304" pitchFamily="18" charset="0"/>
                        </a:rPr>
                        <a:t>滤基波法</a:t>
                      </a:r>
                      <a:r>
                        <a:rPr lang="en-US" altLang="zh-CN" sz="2300" b="1">
                          <a:latin typeface="Times New Roman" panose="02020603050405020304" pitchFamily="18" charset="0"/>
                          <a:ea typeface="楷体" panose="02010609060101010101" charset="-122"/>
                          <a:cs typeface="Times New Roman" panose="02020603050405020304" pitchFamily="18" charset="0"/>
                        </a:rPr>
                        <a:t>）</a:t>
                      </a:r>
                      <a:endParaRPr lang="zh-CN" altLang="en-US" sz="2300" b="1">
                        <a:latin typeface="Times New Roman" panose="02020603050405020304" pitchFamily="18" charset="0"/>
                        <a:ea typeface="楷体" panose="02010609060101010101" charset="-122"/>
                        <a:cs typeface="Times New Roman" panose="02020603050405020304" pitchFamily="18" charset="0"/>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300" b="1">
                          <a:latin typeface="Times New Roman" panose="02020603050405020304" pitchFamily="18" charset="0"/>
                          <a:ea typeface="楷体" panose="02010609060101010101" charset="-122"/>
                        </a:rPr>
                        <a:t>调谐方法：失真最小</a:t>
                      </a:r>
                      <a:endParaRPr lang="zh-CN" altLang="en-US" sz="2300" b="1">
                        <a:latin typeface="Times New Roman" panose="02020603050405020304" pitchFamily="18" charset="0"/>
                        <a:ea typeface="楷体" panose="02010609060101010101" charset="-122"/>
                        <a:cs typeface="Times New Roman" panose="02020603050405020304" pitchFamily="18" charset="0"/>
                      </a:endParaRPr>
                    </a:p>
                    <a:p>
                      <a:pPr marL="0" lvl="0" indent="0" algn="ctr">
                        <a:buClrTx/>
                        <a:buNone/>
                      </a:pPr>
                      <a:r>
                        <a:rPr lang="zh-CN" altLang="en-US" sz="2300" b="1">
                          <a:latin typeface="Times New Roman" panose="02020603050405020304" pitchFamily="18" charset="0"/>
                          <a:ea typeface="楷体" panose="02010609060101010101" charset="-122"/>
                        </a:rPr>
                        <a:t>输出功率：标准输出功率</a:t>
                      </a:r>
                      <a:endParaRPr lang="zh-CN" altLang="en-US" sz="2300" b="1">
                        <a:latin typeface="Times New Roman" panose="02020603050405020304" pitchFamily="18" charset="0"/>
                        <a:ea typeface="楷体" panose="02010609060101010101" charset="-122"/>
                        <a:cs typeface="Times New Roman" panose="02020603050405020304" pitchFamily="18" charset="0"/>
                      </a:endParaRPr>
                    </a:p>
                    <a:p>
                      <a:pPr marL="0" lvl="0" indent="0" algn="ctr">
                        <a:buClrTx/>
                        <a:buNone/>
                      </a:pPr>
                      <a:r>
                        <a:rPr lang="zh-CN" altLang="en-US" sz="2300" b="1">
                          <a:latin typeface="Times New Roman" panose="02020603050405020304" pitchFamily="18" charset="0"/>
                          <a:ea typeface="楷体" panose="02010609060101010101" charset="-122"/>
                        </a:rPr>
                        <a:t>音调：平直位置</a:t>
                      </a:r>
                      <a:endParaRPr lang="zh-CN" altLang="en-US" sz="2300" b="1">
                        <a:latin typeface="Times New Roman" panose="02020603050405020304" pitchFamily="18" charset="0"/>
                        <a:ea typeface="楷体" panose="0201060906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300" b="1">
                          <a:latin typeface="Times New Roman" panose="02020603050405020304" pitchFamily="18" charset="0"/>
                          <a:ea typeface="楷体" panose="02010609060101010101" charset="-122"/>
                          <a:cs typeface="Times New Roman" panose="02020603050405020304" pitchFamily="18" charset="0"/>
                        </a:rPr>
                        <a:t>10</a:t>
                      </a:r>
                      <a:endParaRPr lang="en-US" altLang="zh-CN" sz="2300" b="1">
                        <a:latin typeface="Times New Roman" panose="02020603050405020304" pitchFamily="18" charset="0"/>
                        <a:ea typeface="楷体" panose="02010609060101010101" charset="-122"/>
                        <a:cs typeface="Times New Roman" panose="02020603050405020304" pitchFamily="18" charset="0"/>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300" b="1">
                          <a:latin typeface="Times New Roman" panose="02020603050405020304" pitchFamily="18" charset="0"/>
                          <a:ea typeface="楷体" panose="02010609060101010101" charset="-122"/>
                          <a:cs typeface="Times New Roman" panose="02020603050405020304" pitchFamily="18" charset="0"/>
                        </a:rPr>
                        <a:t>μV</a:t>
                      </a:r>
                      <a:endParaRPr lang="en-US" altLang="zh-CN" sz="2300" b="1">
                        <a:latin typeface="Times New Roman" panose="02020603050405020304" pitchFamily="18" charset="0"/>
                        <a:ea typeface="楷体" panose="02010609060101010101" charset="-122"/>
                        <a:cs typeface="Times New Roman" panose="02020603050405020304" pitchFamily="18" charset="0"/>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12776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300" b="1">
                          <a:latin typeface="Times New Roman" panose="02020603050405020304" pitchFamily="18" charset="0"/>
                          <a:ea typeface="楷体" panose="02010609060101010101" charset="-122"/>
                        </a:rPr>
                        <a:t>信噪比</a:t>
                      </a:r>
                      <a:endParaRPr lang="zh-CN" altLang="en-US" sz="2300" b="1">
                        <a:latin typeface="Times New Roman" panose="02020603050405020304" pitchFamily="18" charset="0"/>
                        <a:ea typeface="楷体" panose="0201060906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300" b="1">
                          <a:latin typeface="Times New Roman" panose="02020603050405020304" pitchFamily="18" charset="0"/>
                          <a:ea typeface="楷体" panose="02010609060101010101" charset="-122"/>
                          <a:cs typeface="Times New Roman" panose="02020603050405020304" pitchFamily="18" charset="0"/>
                        </a:rPr>
                        <a:t>测量频率：</a:t>
                      </a:r>
                      <a:r>
                        <a:rPr lang="en-US" altLang="zh-CN" sz="2300" b="1">
                          <a:latin typeface="Times New Roman" panose="02020603050405020304" pitchFamily="18" charset="0"/>
                          <a:ea typeface="楷体" panose="02010609060101010101" charset="-122"/>
                          <a:cs typeface="Times New Roman" panose="02020603050405020304" pitchFamily="18" charset="0"/>
                        </a:rPr>
                        <a:t>35 MHz</a:t>
                      </a:r>
                      <a:endParaRPr lang="en-US" altLang="zh-CN" sz="2300" b="1">
                        <a:latin typeface="Times New Roman" panose="02020603050405020304" pitchFamily="18" charset="0"/>
                        <a:ea typeface="楷体" panose="02010609060101010101" charset="-122"/>
                        <a:cs typeface="Times New Roman" panose="02020603050405020304" pitchFamily="18" charset="0"/>
                      </a:endParaRPr>
                    </a:p>
                    <a:p>
                      <a:pPr marL="0" lvl="0" indent="0" algn="ctr">
                        <a:buClrTx/>
                        <a:buNone/>
                      </a:pPr>
                      <a:r>
                        <a:rPr lang="zh-CN" altLang="en-US" sz="2300" b="1">
                          <a:latin typeface="Times New Roman" panose="02020603050405020304" pitchFamily="18" charset="0"/>
                          <a:ea typeface="楷体" panose="02010609060101010101" charset="-122"/>
                          <a:cs typeface="Times New Roman" panose="02020603050405020304" pitchFamily="18" charset="0"/>
                        </a:rPr>
                        <a:t>频偏：土</a:t>
                      </a:r>
                      <a:r>
                        <a:rPr lang="en-US" altLang="zh-CN" sz="2300" b="1">
                          <a:latin typeface="Times New Roman" panose="02020603050405020304" pitchFamily="18" charset="0"/>
                          <a:ea typeface="楷体" panose="02010609060101010101" charset="-122"/>
                          <a:cs typeface="Times New Roman" panose="02020603050405020304" pitchFamily="18" charset="0"/>
                        </a:rPr>
                        <a:t>75 kHz（</a:t>
                      </a:r>
                      <a:r>
                        <a:rPr lang="zh-CN" altLang="en-US" sz="2300" b="1">
                          <a:latin typeface="Times New Roman" panose="02020603050405020304" pitchFamily="18" charset="0"/>
                          <a:ea typeface="楷体" panose="02010609060101010101" charset="-122"/>
                          <a:cs typeface="Times New Roman" panose="02020603050405020304" pitchFamily="18" charset="0"/>
                        </a:rPr>
                        <a:t>去调制法</a:t>
                      </a:r>
                      <a:r>
                        <a:rPr lang="en-US" altLang="zh-CN" sz="2300" b="1">
                          <a:latin typeface="Times New Roman" panose="02020603050405020304" pitchFamily="18" charset="0"/>
                          <a:ea typeface="楷体" panose="02010609060101010101" charset="-122"/>
                          <a:cs typeface="Times New Roman" panose="02020603050405020304" pitchFamily="18" charset="0"/>
                        </a:rPr>
                        <a:t>）</a:t>
                      </a:r>
                      <a:endParaRPr lang="zh-CN" altLang="en-US" sz="2300" b="1">
                        <a:latin typeface="Times New Roman" panose="02020603050405020304" pitchFamily="18" charset="0"/>
                        <a:ea typeface="楷体" panose="02010609060101010101" charset="-122"/>
                        <a:cs typeface="Times New Roman" panose="02020603050405020304" pitchFamily="18" charset="0"/>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300" b="1">
                          <a:latin typeface="Times New Roman" panose="02020603050405020304" pitchFamily="18" charset="0"/>
                          <a:ea typeface="楷体" panose="02010609060101010101" charset="-122"/>
                        </a:rPr>
                        <a:t>调谐方式：失真最小</a:t>
                      </a:r>
                      <a:endParaRPr lang="zh-CN" altLang="en-US" sz="2300" b="1">
                        <a:latin typeface="Times New Roman" panose="02020603050405020304" pitchFamily="18" charset="0"/>
                        <a:ea typeface="楷体" panose="02010609060101010101" charset="-122"/>
                        <a:cs typeface="Times New Roman" panose="02020603050405020304" pitchFamily="18" charset="0"/>
                      </a:endParaRPr>
                    </a:p>
                    <a:p>
                      <a:pPr marL="0" lvl="0" indent="0" algn="ctr">
                        <a:buClrTx/>
                        <a:buNone/>
                      </a:pPr>
                      <a:r>
                        <a:rPr lang="zh-CN" altLang="en-US" sz="2300" b="1">
                          <a:latin typeface="Times New Roman" panose="02020603050405020304" pitchFamily="18" charset="0"/>
                          <a:ea typeface="楷体" panose="02010609060101010101" charset="-122"/>
                        </a:rPr>
                        <a:t>输出功率：标称有用功率</a:t>
                      </a:r>
                      <a:endParaRPr lang="zh-CN" altLang="en-US" sz="2300" b="1">
                        <a:latin typeface="Times New Roman" panose="02020603050405020304" pitchFamily="18" charset="0"/>
                        <a:ea typeface="楷体" panose="02010609060101010101" charset="-122"/>
                        <a:cs typeface="Times New Roman" panose="02020603050405020304" pitchFamily="18" charset="0"/>
                      </a:endParaRPr>
                    </a:p>
                    <a:p>
                      <a:pPr marL="0" lvl="0" indent="0" algn="ctr">
                        <a:buClrTx/>
                        <a:buNone/>
                      </a:pPr>
                      <a:r>
                        <a:rPr lang="zh-CN" altLang="en-US" sz="2300" b="1">
                          <a:latin typeface="Times New Roman" panose="02020603050405020304" pitchFamily="18" charset="0"/>
                          <a:ea typeface="楷体" panose="02010609060101010101" charset="-122"/>
                        </a:rPr>
                        <a:t>音调：平直位置</a:t>
                      </a:r>
                      <a:endParaRPr lang="zh-CN" altLang="en-US" sz="2300" b="1">
                        <a:latin typeface="Times New Roman" panose="02020603050405020304" pitchFamily="18" charset="0"/>
                        <a:ea typeface="楷体" panose="0201060906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300" b="1">
                          <a:latin typeface="Times New Roman" panose="02020603050405020304" pitchFamily="18" charset="0"/>
                          <a:ea typeface="楷体" panose="02010609060101010101" charset="-122"/>
                          <a:cs typeface="Times New Roman" panose="02020603050405020304" pitchFamily="18" charset="0"/>
                        </a:rPr>
                        <a:t>60</a:t>
                      </a:r>
                      <a:endParaRPr lang="en-US" altLang="zh-CN" sz="2300" b="1">
                        <a:latin typeface="Times New Roman" panose="02020603050405020304" pitchFamily="18" charset="0"/>
                        <a:ea typeface="楷体" panose="02010609060101010101" charset="-122"/>
                        <a:cs typeface="Times New Roman" panose="02020603050405020304" pitchFamily="18" charset="0"/>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300" b="1">
                          <a:latin typeface="Times New Roman" panose="02020603050405020304" pitchFamily="18" charset="0"/>
                          <a:ea typeface="楷体" panose="02010609060101010101" charset="-122"/>
                          <a:cs typeface="Times New Roman" panose="02020603050405020304" pitchFamily="18" charset="0"/>
                        </a:rPr>
                        <a:t>dB</a:t>
                      </a:r>
                      <a:endParaRPr lang="en-US" altLang="zh-CN" sz="2300" b="1">
                        <a:latin typeface="Times New Roman" panose="02020603050405020304" pitchFamily="18" charset="0"/>
                        <a:ea typeface="楷体" panose="02010609060101010101" charset="-122"/>
                        <a:cs typeface="Times New Roman" panose="02020603050405020304" pitchFamily="18" charset="0"/>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39954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300" b="1">
                          <a:latin typeface="Times New Roman" panose="02020603050405020304" pitchFamily="18" charset="0"/>
                          <a:ea typeface="楷体" panose="02010609060101010101" charset="-122"/>
                        </a:rPr>
                        <a:t>镜像抑制</a:t>
                      </a:r>
                      <a:endParaRPr lang="zh-CN" altLang="en-US" sz="2300" b="1">
                        <a:latin typeface="Times New Roman" panose="02020603050405020304" pitchFamily="18" charset="0"/>
                        <a:ea typeface="楷体" panose="0201060906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300" b="1">
                          <a:latin typeface="Times New Roman" panose="02020603050405020304" pitchFamily="18" charset="0"/>
                          <a:ea typeface="楷体" panose="02010609060101010101" charset="-122"/>
                          <a:cs typeface="Times New Roman" panose="02020603050405020304" pitchFamily="18" charset="0"/>
                        </a:rPr>
                        <a:t>  </a:t>
                      </a:r>
                      <a:r>
                        <a:rPr lang="zh-CN" altLang="en-US" sz="2300" b="1">
                          <a:latin typeface="Times New Roman" panose="02020603050405020304" pitchFamily="18" charset="0"/>
                          <a:ea typeface="楷体" panose="02010609060101010101" charset="-122"/>
                          <a:cs typeface="Times New Roman" panose="02020603050405020304" pitchFamily="18" charset="0"/>
                        </a:rPr>
                        <a:t>测量频率：</a:t>
                      </a:r>
                      <a:r>
                        <a:rPr lang="en-US" altLang="zh-CN" sz="2300" b="1">
                          <a:latin typeface="Times New Roman" panose="02020603050405020304" pitchFamily="18" charset="0"/>
                          <a:ea typeface="楷体" panose="02010609060101010101" charset="-122"/>
                          <a:cs typeface="Times New Roman" panose="02020603050405020304" pitchFamily="18" charset="0"/>
                        </a:rPr>
                        <a:t>88</a:t>
                      </a:r>
                      <a:r>
                        <a:rPr lang="zh-CN" altLang="en-US" sz="2300" b="1">
                          <a:latin typeface="Times New Roman" panose="02020603050405020304" pitchFamily="18" charset="0"/>
                          <a:ea typeface="楷体" panose="02010609060101010101" charset="-122"/>
                          <a:cs typeface="Times New Roman" panose="02020603050405020304" pitchFamily="18" charset="0"/>
                        </a:rPr>
                        <a:t>、</a:t>
                      </a:r>
                      <a:r>
                        <a:rPr lang="en-US" altLang="zh-CN" sz="2300" b="1">
                          <a:latin typeface="Times New Roman" panose="02020603050405020304" pitchFamily="18" charset="0"/>
                          <a:ea typeface="楷体" panose="02010609060101010101" charset="-122"/>
                          <a:cs typeface="Times New Roman" panose="02020603050405020304" pitchFamily="18" charset="0"/>
                        </a:rPr>
                        <a:t>108 MHz</a:t>
                      </a:r>
                      <a:endParaRPr lang="en-US" altLang="zh-CN" sz="2300" b="1">
                        <a:latin typeface="Times New Roman" panose="02020603050405020304" pitchFamily="18" charset="0"/>
                        <a:ea typeface="楷体" panose="02010609060101010101" charset="-122"/>
                        <a:cs typeface="Times New Roman" panose="02020603050405020304" pitchFamily="18" charset="0"/>
                      </a:endParaRPr>
                    </a:p>
                    <a:p>
                      <a:pPr marL="0" lvl="0" indent="0" algn="ctr">
                        <a:buClrTx/>
                        <a:buNone/>
                      </a:pPr>
                      <a:r>
                        <a:rPr lang="en-US" altLang="zh-CN" sz="2300" b="1">
                          <a:latin typeface="Times New Roman" panose="02020603050405020304" pitchFamily="18" charset="0"/>
                          <a:ea typeface="楷体" panose="02010609060101010101" charset="-122"/>
                          <a:cs typeface="Times New Roman" panose="02020603050405020304" pitchFamily="18" charset="0"/>
                        </a:rPr>
                        <a:t> </a:t>
                      </a:r>
                      <a:r>
                        <a:rPr lang="zh-CN" altLang="en-US" sz="2300" b="1">
                          <a:latin typeface="Times New Roman" panose="02020603050405020304" pitchFamily="18" charset="0"/>
                          <a:ea typeface="楷体" panose="02010609060101010101" charset="-122"/>
                          <a:cs typeface="Times New Roman" panose="02020603050405020304" pitchFamily="18" charset="0"/>
                        </a:rPr>
                        <a:t>取指标较差一点</a:t>
                      </a:r>
                      <a:endParaRPr lang="zh-CN" altLang="en-US" sz="2300" b="1">
                        <a:latin typeface="Times New Roman" panose="02020603050405020304" pitchFamily="18" charset="0"/>
                        <a:ea typeface="楷体" panose="02010609060101010101" charset="-122"/>
                        <a:cs typeface="Times New Roman" panose="02020603050405020304" pitchFamily="18" charset="0"/>
                      </a:endParaRPr>
                    </a:p>
                    <a:p>
                      <a:pPr marL="0" lvl="0" indent="0" algn="ctr">
                        <a:buClrTx/>
                        <a:buNone/>
                      </a:pPr>
                      <a:r>
                        <a:rPr lang="zh-CN" altLang="en-US" sz="2300" b="1">
                          <a:latin typeface="Times New Roman" panose="02020603050405020304" pitchFamily="18" charset="0"/>
                          <a:ea typeface="楷体" panose="02010609060101010101" charset="-122"/>
                          <a:cs typeface="Times New Roman" panose="02020603050405020304" pitchFamily="18" charset="0"/>
                        </a:rPr>
                        <a:t> 频偏：土</a:t>
                      </a:r>
                      <a:r>
                        <a:rPr lang="en-US" altLang="zh-CN" sz="2300" b="1">
                          <a:latin typeface="Times New Roman" panose="02020603050405020304" pitchFamily="18" charset="0"/>
                          <a:ea typeface="楷体" panose="02010609060101010101" charset="-122"/>
                          <a:cs typeface="Times New Roman" panose="02020603050405020304" pitchFamily="18" charset="0"/>
                        </a:rPr>
                        <a:t>22</a:t>
                      </a:r>
                      <a:r>
                        <a:rPr lang="zh-CN" altLang="en-US" sz="2300" b="1">
                          <a:latin typeface="Times New Roman" panose="02020603050405020304" pitchFamily="18" charset="0"/>
                          <a:ea typeface="楷体" panose="02010609060101010101" charset="-122"/>
                          <a:cs typeface="Times New Roman" panose="02020603050405020304" pitchFamily="18" charset="0"/>
                        </a:rPr>
                        <a:t>．</a:t>
                      </a:r>
                      <a:r>
                        <a:rPr lang="en-US" altLang="zh-CN" sz="2300" b="1">
                          <a:latin typeface="Times New Roman" panose="02020603050405020304" pitchFamily="18" charset="0"/>
                          <a:ea typeface="楷体" panose="02010609060101010101" charset="-122"/>
                          <a:cs typeface="Times New Roman" panose="02020603050405020304" pitchFamily="18" charset="0"/>
                        </a:rPr>
                        <a:t>5 kHz</a:t>
                      </a:r>
                      <a:endParaRPr lang="zh-CN" altLang="en-US" sz="2300" b="1">
                        <a:latin typeface="Times New Roman" panose="02020603050405020304" pitchFamily="18" charset="0"/>
                        <a:ea typeface="楷体" panose="02010609060101010101" charset="-122"/>
                        <a:cs typeface="Times New Roman" panose="02020603050405020304" pitchFamily="18" charset="0"/>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300" b="1">
                          <a:latin typeface="Times New Roman" panose="02020603050405020304" pitchFamily="18" charset="0"/>
                          <a:ea typeface="楷体" panose="02010609060101010101" charset="-122"/>
                        </a:rPr>
                        <a:t>调谐方法：噪声最小</a:t>
                      </a:r>
                      <a:endParaRPr lang="zh-CN" altLang="en-US" sz="2300" b="1">
                        <a:latin typeface="Times New Roman" panose="02020603050405020304" pitchFamily="18" charset="0"/>
                        <a:ea typeface="楷体" panose="02010609060101010101" charset="-122"/>
                        <a:cs typeface="Times New Roman" panose="02020603050405020304" pitchFamily="18" charset="0"/>
                      </a:endParaRPr>
                    </a:p>
                    <a:p>
                      <a:pPr marL="0" lvl="0" indent="0" algn="ctr">
                        <a:buClrTx/>
                        <a:buNone/>
                      </a:pPr>
                      <a:r>
                        <a:rPr lang="zh-CN" altLang="en-US" sz="2300" b="1">
                          <a:latin typeface="Times New Roman" panose="02020603050405020304" pitchFamily="18" charset="0"/>
                          <a:ea typeface="楷体" panose="02010609060101010101" charset="-122"/>
                        </a:rPr>
                        <a:t>输出功率：标准输出功率</a:t>
                      </a:r>
                      <a:endParaRPr lang="zh-CN" altLang="en-US" sz="2300" b="1">
                        <a:latin typeface="Times New Roman" panose="02020603050405020304" pitchFamily="18" charset="0"/>
                        <a:ea typeface="楷体" panose="02010609060101010101" charset="-122"/>
                        <a:cs typeface="Times New Roman" panose="02020603050405020304" pitchFamily="18" charset="0"/>
                      </a:endParaRPr>
                    </a:p>
                    <a:p>
                      <a:pPr marL="0" lvl="0" indent="0" algn="ctr">
                        <a:buClrTx/>
                        <a:buNone/>
                      </a:pPr>
                      <a:r>
                        <a:rPr lang="zh-CN" altLang="en-US" sz="2300" b="1">
                          <a:latin typeface="Times New Roman" panose="02020603050405020304" pitchFamily="18" charset="0"/>
                          <a:ea typeface="楷体" panose="02010609060101010101" charset="-122"/>
                        </a:rPr>
                        <a:t>音调：窄带位置</a:t>
                      </a:r>
                      <a:endParaRPr lang="zh-CN" altLang="en-US" sz="2300" b="1">
                        <a:latin typeface="Times New Roman" panose="02020603050405020304" pitchFamily="18" charset="0"/>
                        <a:ea typeface="楷体" panose="0201060906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300" b="1">
                          <a:latin typeface="Times New Roman" panose="02020603050405020304" pitchFamily="18" charset="0"/>
                          <a:ea typeface="楷体" panose="02010609060101010101" charset="-122"/>
                          <a:cs typeface="Times New Roman" panose="02020603050405020304" pitchFamily="18" charset="0"/>
                        </a:rPr>
                        <a:t>40</a:t>
                      </a:r>
                      <a:endParaRPr lang="en-US" altLang="zh-CN" sz="2300" b="1">
                        <a:latin typeface="Times New Roman" panose="02020603050405020304" pitchFamily="18" charset="0"/>
                        <a:ea typeface="楷体" panose="02010609060101010101" charset="-122"/>
                        <a:cs typeface="Times New Roman" panose="02020603050405020304" pitchFamily="18" charset="0"/>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300" b="1">
                          <a:latin typeface="Times New Roman" panose="02020603050405020304" pitchFamily="18" charset="0"/>
                          <a:ea typeface="楷体" panose="02010609060101010101" charset="-122"/>
                          <a:cs typeface="Times New Roman" panose="02020603050405020304" pitchFamily="18" charset="0"/>
                        </a:rPr>
                        <a:t>dB</a:t>
                      </a:r>
                      <a:endParaRPr lang="en-US" altLang="zh-CN" sz="2300" b="1">
                        <a:latin typeface="Times New Roman" panose="02020603050405020304" pitchFamily="18" charset="0"/>
                        <a:ea typeface="楷体" panose="02010609060101010101" charset="-122"/>
                        <a:cs typeface="Times New Roman" panose="02020603050405020304" pitchFamily="18" charset="0"/>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31746" name="标题 31745"/>
          <p:cNvSpPr>
            <a:spLocks noGrp="1" noRot="1"/>
          </p:cNvSpPr>
          <p:nvPr>
            <p:ph type="title"/>
          </p:nvPr>
        </p:nvSpPr>
        <p:spPr>
          <a:xfrm>
            <a:off x="514350" y="363220"/>
            <a:ext cx="7686675" cy="745490"/>
          </a:xfrm>
          <a:solidFill>
            <a:schemeClr val="bg1"/>
          </a:solidFill>
        </p:spPr>
        <p:txBody>
          <a:bodyPr anchor="ctr">
            <a:normAutofit fontScale="90000"/>
          </a:bodyPr>
          <a:p>
            <a:pPr marL="685800" indent="-685800"/>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3.8   </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测试方法与数据处理</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（9</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分</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a:t>
            </a:r>
            <a:endPar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6866" name="图片 36865" descr="未标题-1 拷贝"/>
          <p:cNvPicPr>
            <a:picLocks noChangeAspect="1"/>
          </p:cNvPicPr>
          <p:nvPr/>
        </p:nvPicPr>
        <p:blipFill>
          <a:blip r:embed="rId1"/>
          <a:stretch>
            <a:fillRect/>
          </a:stretch>
        </p:blipFill>
        <p:spPr>
          <a:xfrm>
            <a:off x="1282065" y="3243580"/>
            <a:ext cx="9144000" cy="2344738"/>
          </a:xfrm>
          <a:prstGeom prst="rect">
            <a:avLst/>
          </a:prstGeom>
          <a:noFill/>
          <a:ln w="9525">
            <a:noFill/>
          </a:ln>
        </p:spPr>
      </p:pic>
      <p:sp>
        <p:nvSpPr>
          <p:cNvPr id="31746" name="标题 31745"/>
          <p:cNvSpPr>
            <a:spLocks noGrp="1" noRot="1"/>
          </p:cNvSpPr>
          <p:nvPr>
            <p:ph type="title"/>
          </p:nvPr>
        </p:nvSpPr>
        <p:spPr>
          <a:xfrm>
            <a:off x="679450" y="817245"/>
            <a:ext cx="6863080" cy="745490"/>
          </a:xfrm>
          <a:solidFill>
            <a:schemeClr val="bg1"/>
          </a:solidFill>
        </p:spPr>
        <p:txBody>
          <a:bodyPr anchor="ctr"/>
          <a:p>
            <a:pPr marL="685800" indent="-685800"/>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3.8   </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测试方法与数据处理</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（9</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分</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a:t>
            </a:r>
            <a:endPar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endParaRPr>
          </a:p>
        </p:txBody>
      </p:sp>
      <p:sp>
        <p:nvSpPr>
          <p:cNvPr id="3" name="文本框 2"/>
          <p:cNvSpPr txBox="1"/>
          <p:nvPr/>
        </p:nvSpPr>
        <p:spPr>
          <a:xfrm>
            <a:off x="1282065" y="1990725"/>
            <a:ext cx="10193020" cy="521970"/>
          </a:xfrm>
          <a:prstGeom prst="rect">
            <a:avLst/>
          </a:prstGeom>
          <a:noFill/>
        </p:spPr>
        <p:txBody>
          <a:bodyPr wrap="none" rtlCol="0">
            <a:spAutoFit/>
          </a:bodyPr>
          <a:p>
            <a:pPr algn="l"/>
            <a:r>
              <a:rPr lang="zh-CN" sz="2800" b="1">
                <a:solidFill>
                  <a:srgbClr val="FF0000"/>
                </a:solidFill>
                <a:latin typeface="Times New Roman" panose="02020603050405020304" pitchFamily="18" charset="0"/>
                <a:ea typeface="楷体" panose="02010609060101010101" charset="-122"/>
                <a:cs typeface="Times New Roman" panose="02020603050405020304" pitchFamily="18" charset="0"/>
              </a:rPr>
              <a:t>给出必要的框图，有助于原理说明</a:t>
            </a:r>
            <a:r>
              <a:rPr lang="zh-CN" sz="280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和</a:t>
            </a:r>
            <a:r>
              <a:rPr lang="zh-CN" sz="280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理解，减少冗长的文字叙述</a:t>
            </a:r>
            <a:endParaRPr lang="zh-CN" sz="2800" b="1">
              <a:solidFill>
                <a:srgbClr val="FF0000"/>
              </a:solidFill>
              <a:latin typeface="Times New Roman" panose="02020603050405020304" pitchFamily="18" charset="0"/>
              <a:ea typeface="楷体" panose="02010609060101010101" charset="-122"/>
              <a:cs typeface="Times New Roman" panose="02020603050405020304" pitchFamily="18" charset="0"/>
              <a:sym typeface="+mn-ea"/>
            </a:endParaRPr>
          </a:p>
        </p:txBody>
      </p:sp>
    </p:spTree>
  </p:cSld>
  <p:clrMapOvr>
    <a:masterClrMapping/>
  </p:clrMapOvr>
  <p:transition>
    <p:pull dir="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37889"/>
          <p:cNvSpPr>
            <a:spLocks noGrp="1" noRot="1"/>
          </p:cNvSpPr>
          <p:nvPr>
            <p:ph type="title"/>
          </p:nvPr>
        </p:nvSpPr>
        <p:spPr>
          <a:xfrm>
            <a:off x="1847850" y="476250"/>
            <a:ext cx="5517515" cy="1143000"/>
          </a:xfrm>
        </p:spPr>
        <p:txBody>
          <a:bodyPr anchor="ctr"/>
          <a:p>
            <a:pPr marL="685800" indent="-685800"/>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3.9  </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测试结果分析</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（4</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分</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a:t>
            </a:r>
            <a:endPar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endParaRPr>
          </a:p>
        </p:txBody>
      </p:sp>
      <p:sp>
        <p:nvSpPr>
          <p:cNvPr id="37891" name="文本占位符 37890"/>
          <p:cNvSpPr>
            <a:spLocks noGrp="1" noRot="1"/>
          </p:cNvSpPr>
          <p:nvPr>
            <p:ph type="body" idx="1"/>
          </p:nvPr>
        </p:nvSpPr>
        <p:spPr>
          <a:xfrm>
            <a:off x="1847850" y="1700530"/>
            <a:ext cx="8540750" cy="3558540"/>
          </a:xfrm>
        </p:spPr>
        <p:txBody>
          <a:bodyPr/>
          <a:p>
            <a:pPr>
              <a:lnSpc>
                <a:spcPct val="120000"/>
              </a:lnSpc>
              <a:buNone/>
            </a:pPr>
            <a:r>
              <a:rPr lang="zh-CN" altLang="en-US">
                <a:latin typeface="Times New Roman" panose="02020603050405020304" pitchFamily="18" charset="0"/>
                <a:ea typeface="楷体" panose="02010609060101010101" charset="-122"/>
                <a:cs typeface="Times New Roman" panose="02020603050405020304" pitchFamily="18" charset="0"/>
              </a:rPr>
              <a:t>结论包括：</a:t>
            </a:r>
            <a:endParaRPr lang="zh-CN" altLang="en-US">
              <a:latin typeface="Times New Roman" panose="02020603050405020304" pitchFamily="18" charset="0"/>
              <a:ea typeface="楷体" panose="02010609060101010101" charset="-122"/>
              <a:cs typeface="Times New Roman" panose="02020603050405020304" pitchFamily="18" charset="0"/>
            </a:endParaRPr>
          </a:p>
          <a:p>
            <a:pPr>
              <a:lnSpc>
                <a:spcPct val="120000"/>
              </a:lnSpc>
            </a:pPr>
            <a:r>
              <a:rPr lang="zh-CN" altLang="en-US">
                <a:latin typeface="Times New Roman" panose="02020603050405020304" pitchFamily="18" charset="0"/>
                <a:ea typeface="楷体" panose="02010609060101010101" charset="-122"/>
                <a:cs typeface="Times New Roman" panose="02020603050405020304" pitchFamily="18" charset="0"/>
              </a:rPr>
              <a:t>是否达到题目要求</a:t>
            </a:r>
            <a:r>
              <a:rPr lang="en-US" altLang="zh-CN">
                <a:solidFill>
                  <a:srgbClr val="FF5050"/>
                </a:solidFill>
                <a:latin typeface="Times New Roman" panose="02020603050405020304" pitchFamily="18" charset="0"/>
                <a:ea typeface="楷体" panose="02010609060101010101" charset="-122"/>
                <a:cs typeface="Times New Roman" panose="02020603050405020304" pitchFamily="18" charset="0"/>
              </a:rPr>
              <a:t>（</a:t>
            </a:r>
            <a:r>
              <a:rPr lang="zh-CN" altLang="en-US">
                <a:solidFill>
                  <a:srgbClr val="FF5050"/>
                </a:solidFill>
                <a:latin typeface="Times New Roman" panose="02020603050405020304" pitchFamily="18" charset="0"/>
                <a:ea typeface="楷体" panose="02010609060101010101" charset="-122"/>
                <a:cs typeface="Times New Roman" panose="02020603050405020304" pitchFamily="18" charset="0"/>
              </a:rPr>
              <a:t>技术指标</a:t>
            </a:r>
            <a:r>
              <a:rPr lang="en-US" altLang="zh-CN">
                <a:solidFill>
                  <a:srgbClr val="FF5050"/>
                </a:solidFill>
                <a:latin typeface="Times New Roman" panose="02020603050405020304" pitchFamily="18" charset="0"/>
                <a:ea typeface="楷体" panose="02010609060101010101" charset="-122"/>
                <a:cs typeface="Times New Roman" panose="02020603050405020304" pitchFamily="18" charset="0"/>
              </a:rPr>
              <a:t>）</a:t>
            </a:r>
            <a:r>
              <a:rPr lang="zh-CN" altLang="en-US">
                <a:latin typeface="Times New Roman" panose="02020603050405020304" pitchFamily="18" charset="0"/>
                <a:ea typeface="楷体" panose="02010609060101010101" charset="-122"/>
                <a:cs typeface="Times New Roman" panose="02020603050405020304" pitchFamily="18" charset="0"/>
              </a:rPr>
              <a:t>，对整个作品作一个完整、结论性评价。</a:t>
            </a:r>
            <a:endParaRPr lang="zh-CN" altLang="en-US">
              <a:latin typeface="Times New Roman" panose="02020603050405020304" pitchFamily="18" charset="0"/>
              <a:ea typeface="楷体" panose="02010609060101010101" charset="-122"/>
              <a:cs typeface="Times New Roman" panose="02020603050405020304" pitchFamily="18" charset="0"/>
            </a:endParaRPr>
          </a:p>
          <a:p>
            <a:pPr>
              <a:lnSpc>
                <a:spcPct val="120000"/>
              </a:lnSpc>
            </a:pPr>
            <a:r>
              <a:rPr lang="zh-CN" altLang="en-US">
                <a:latin typeface="Times New Roman" panose="02020603050405020304" pitchFamily="18" charset="0"/>
                <a:ea typeface="楷体" panose="02010609060101010101" charset="-122"/>
                <a:cs typeface="Times New Roman" panose="02020603050405020304" pitchFamily="18" charset="0"/>
              </a:rPr>
              <a:t>对测试结果和数据进行误差分析（可以利用</a:t>
            </a:r>
            <a:r>
              <a:rPr lang="en-US" altLang="zh-CN">
                <a:latin typeface="Times New Roman" panose="02020603050405020304" pitchFamily="18" charset="0"/>
                <a:ea typeface="楷体" panose="02010609060101010101" charset="-122"/>
                <a:cs typeface="Times New Roman" panose="02020603050405020304" pitchFamily="18" charset="0"/>
              </a:rPr>
              <a:t>Matlab</a:t>
            </a:r>
            <a:r>
              <a:rPr lang="zh-CN" altLang="en-US">
                <a:latin typeface="Times New Roman" panose="02020603050405020304" pitchFamily="18" charset="0"/>
                <a:ea typeface="楷体" panose="02010609060101010101" charset="-122"/>
                <a:cs typeface="Times New Roman" panose="02020603050405020304" pitchFamily="18" charset="0"/>
              </a:rPr>
              <a:t>等软件工具制作图表）</a:t>
            </a:r>
            <a:endParaRPr lang="zh-CN" altLang="en-US">
              <a:latin typeface="Times New Roman" panose="02020603050405020304" pitchFamily="18" charset="0"/>
              <a:ea typeface="楷体" panose="02010609060101010101" charset="-122"/>
              <a:cs typeface="Times New Roman" panose="02020603050405020304" pitchFamily="18" charset="0"/>
            </a:endParaRPr>
          </a:p>
          <a:p>
            <a:pPr>
              <a:lnSpc>
                <a:spcPct val="120000"/>
              </a:lnSpc>
            </a:pPr>
            <a:r>
              <a:rPr lang="zh-CN" altLang="en-US">
                <a:latin typeface="Times New Roman" panose="02020603050405020304" pitchFamily="18" charset="0"/>
                <a:ea typeface="楷体" panose="02010609060101010101" charset="-122"/>
                <a:cs typeface="Times New Roman" panose="02020603050405020304" pitchFamily="18" charset="0"/>
              </a:rPr>
              <a:t>不足改进意见</a:t>
            </a:r>
            <a:endParaRPr lang="zh-CN" altLang="en-US">
              <a:latin typeface="Times New Roman" panose="02020603050405020304" pitchFamily="18" charset="0"/>
              <a:ea typeface="楷体" panose="02010609060101010101" charset="-122"/>
              <a:cs typeface="Times New Roman" panose="02020603050405020304" pitchFamily="18" charset="0"/>
            </a:endParaRPr>
          </a:p>
        </p:txBody>
      </p:sp>
      <p:sp>
        <p:nvSpPr>
          <p:cNvPr id="2" name="文本框 1"/>
          <p:cNvSpPr txBox="1"/>
          <p:nvPr/>
        </p:nvSpPr>
        <p:spPr>
          <a:xfrm>
            <a:off x="2891155" y="5412740"/>
            <a:ext cx="5187950" cy="521970"/>
          </a:xfrm>
          <a:prstGeom prst="rect">
            <a:avLst/>
          </a:prstGeom>
          <a:noFill/>
        </p:spPr>
        <p:txBody>
          <a:bodyPr wrap="none" rtlCol="0">
            <a:spAutoFit/>
          </a:bodyPr>
          <a:p>
            <a:pPr algn="l"/>
            <a:r>
              <a:rPr lang="zh-CN" altLang="en-US" sz="280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通过测试对作品要有一个结论！</a:t>
            </a:r>
            <a:endParaRPr lang="zh-CN" altLang="en-US" sz="2800" b="1">
              <a:solidFill>
                <a:srgbClr val="FF0000"/>
              </a:solidFill>
              <a:latin typeface="Times New Roman" panose="02020603050405020304" pitchFamily="18" charset="0"/>
              <a:ea typeface="楷体" panose="02010609060101010101" charset="-122"/>
              <a:cs typeface="Times New Roman" panose="02020603050405020304" pitchFamily="18" charset="0"/>
              <a:sym typeface="+mn-ea"/>
            </a:endParaRPr>
          </a:p>
        </p:txBody>
      </p:sp>
    </p:spTree>
  </p:cSld>
  <p:clrMapOvr>
    <a:masterClrMapping/>
  </p:clrMapOvr>
  <p:transition>
    <p:pull dir="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5" name="文本占位符 38914"/>
          <p:cNvSpPr>
            <a:spLocks noGrp="1" noRot="1"/>
          </p:cNvSpPr>
          <p:nvPr>
            <p:ph type="body" sz="half" idx="1"/>
          </p:nvPr>
        </p:nvSpPr>
        <p:spPr>
          <a:xfrm>
            <a:off x="3296920" y="1032510"/>
            <a:ext cx="5913120" cy="525145"/>
          </a:xfrm>
        </p:spPr>
        <p:txBody>
          <a:bodyPr/>
          <a:p>
            <a:pPr>
              <a:lnSpc>
                <a:spcPct val="80000"/>
              </a:lnSpc>
              <a:buNone/>
            </a:pPr>
            <a:r>
              <a:rPr lang="zh-CN" altLang="en-US" sz="2400"/>
              <a:t>表</a:t>
            </a:r>
            <a:r>
              <a:rPr lang="en-US" altLang="zh-CN" sz="2400"/>
              <a:t>X.X.1  </a:t>
            </a:r>
            <a:r>
              <a:rPr lang="zh-CN" altLang="en-US" sz="2400"/>
              <a:t>完成的功能和达到的技术指标</a:t>
            </a:r>
            <a:endParaRPr lang="zh-CN" altLang="en-US" sz="2400"/>
          </a:p>
        </p:txBody>
      </p:sp>
      <p:graphicFrame>
        <p:nvGraphicFramePr>
          <p:cNvPr id="38916" name="内容占位符 38915"/>
          <p:cNvGraphicFramePr/>
          <p:nvPr>
            <p:ph sz="half" idx="2"/>
            <p:custDataLst>
              <p:tags r:id="rId1"/>
            </p:custDataLst>
          </p:nvPr>
        </p:nvGraphicFramePr>
        <p:xfrm>
          <a:off x="706755" y="1557655"/>
          <a:ext cx="10626090" cy="4568825"/>
        </p:xfrm>
        <a:graphic>
          <a:graphicData uri="http://schemas.openxmlformats.org/drawingml/2006/table">
            <a:tbl>
              <a:tblPr/>
              <a:tblGrid>
                <a:gridCol w="894080"/>
                <a:gridCol w="462915"/>
                <a:gridCol w="5959475"/>
                <a:gridCol w="3309620"/>
              </a:tblGrid>
              <a:tr h="36576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a:latin typeface="华文楷体" panose="02010600040101010101" charset="-122"/>
                          <a:ea typeface="华文楷体" panose="02010600040101010101" charset="-122"/>
                        </a:rPr>
                        <a:t>序号</a:t>
                      </a:r>
                      <a:endParaRPr lang="zh-CN" altLang="en-US" sz="2000">
                        <a:latin typeface="华文楷体" panose="02010600040101010101" charset="-122"/>
                        <a:ea typeface="华文楷体" panose="0201060004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a:latin typeface="华文楷体" panose="02010600040101010101" charset="-122"/>
                          <a:ea typeface="华文楷体" panose="02010600040101010101" charset="-122"/>
                        </a:rPr>
                        <a:t>具体要求</a:t>
                      </a:r>
                      <a:endParaRPr lang="zh-CN" altLang="en-US" sz="2000">
                        <a:latin typeface="华文楷体" panose="02010600040101010101" charset="-122"/>
                        <a:ea typeface="华文楷体" panose="0201060004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zh-CN" altLang="en-US" sz="2000">
                          <a:latin typeface="华文楷体" panose="02010600040101010101" charset="-122"/>
                          <a:ea typeface="华文楷体" panose="02010600040101010101" charset="-122"/>
                        </a:rPr>
                        <a:t>实现情况</a:t>
                      </a:r>
                      <a:endParaRPr lang="zh-CN" altLang="en-US" sz="2000">
                        <a:latin typeface="华文楷体" panose="02010600040101010101" charset="-122"/>
                        <a:ea typeface="华文楷体" panose="0201060004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24587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000">
                          <a:latin typeface="华文楷体" panose="02010600040101010101" charset="-122"/>
                          <a:ea typeface="华文楷体" panose="02010600040101010101" charset="-122"/>
                        </a:rPr>
                        <a:t>1</a:t>
                      </a:r>
                      <a:endParaRPr lang="en-US" altLang="zh-CN" sz="2000">
                        <a:latin typeface="华文楷体" panose="02010600040101010101" charset="-122"/>
                        <a:ea typeface="华文楷体" panose="0201060004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5">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ClrTx/>
                        <a:buNone/>
                      </a:pPr>
                      <a:endParaRPr lang="en-US" altLang="zh-CN" sz="2000">
                        <a:latin typeface="华文楷体" panose="02010600040101010101" charset="-122"/>
                        <a:ea typeface="华文楷体" panose="02010600040101010101" charset="-122"/>
                      </a:endParaRPr>
                    </a:p>
                    <a:p>
                      <a:pPr marL="0" lvl="0" indent="0">
                        <a:buClrTx/>
                        <a:buNone/>
                      </a:pPr>
                      <a:endParaRPr lang="en-US" altLang="zh-CN" sz="2000">
                        <a:latin typeface="华文楷体" panose="02010600040101010101" charset="-122"/>
                        <a:ea typeface="华文楷体" panose="02010600040101010101" charset="-122"/>
                      </a:endParaRPr>
                    </a:p>
                    <a:p>
                      <a:pPr marL="0" lvl="0" indent="0">
                        <a:buClrTx/>
                        <a:buNone/>
                      </a:pPr>
                      <a:endParaRPr lang="en-US" altLang="zh-CN" sz="2000">
                        <a:latin typeface="华文楷体" panose="02010600040101010101" charset="-122"/>
                        <a:ea typeface="华文楷体" panose="02010600040101010101" charset="-122"/>
                      </a:endParaRPr>
                    </a:p>
                    <a:p>
                      <a:pPr marL="0" lvl="0" indent="0">
                        <a:buClrTx/>
                        <a:buNone/>
                      </a:pPr>
                      <a:endParaRPr lang="en-US" altLang="zh-CN" sz="2000">
                        <a:latin typeface="华文楷体" panose="02010600040101010101" charset="-122"/>
                        <a:ea typeface="华文楷体" panose="02010600040101010101" charset="-122"/>
                      </a:endParaRPr>
                    </a:p>
                    <a:p>
                      <a:pPr marL="0" lvl="0" indent="0">
                        <a:buClrTx/>
                        <a:buNone/>
                      </a:pPr>
                      <a:endParaRPr lang="en-US" altLang="zh-CN" sz="2000">
                        <a:latin typeface="华文楷体" panose="02010600040101010101" charset="-122"/>
                        <a:ea typeface="华文楷体" panose="02010600040101010101" charset="-122"/>
                      </a:endParaRPr>
                    </a:p>
                    <a:p>
                      <a:pPr marL="0" lvl="0" indent="0">
                        <a:buClrTx/>
                        <a:buNone/>
                      </a:pPr>
                      <a:r>
                        <a:rPr lang="zh-CN" altLang="en-US" sz="2000">
                          <a:latin typeface="华文楷体" panose="02010600040101010101" charset="-122"/>
                          <a:ea typeface="华文楷体" panose="02010600040101010101" charset="-122"/>
                        </a:rPr>
                        <a:t>基</a:t>
                      </a:r>
                      <a:endParaRPr lang="zh-CN" altLang="en-US" sz="2000">
                        <a:latin typeface="华文楷体" panose="02010600040101010101" charset="-122"/>
                        <a:ea typeface="华文楷体" panose="02010600040101010101" charset="-122"/>
                        <a:cs typeface="Times New Roman" panose="02020603050405020304" pitchFamily="18" charset="0"/>
                      </a:endParaRPr>
                    </a:p>
                    <a:p>
                      <a:pPr marL="0" lvl="0" indent="0">
                        <a:buClrTx/>
                        <a:buNone/>
                      </a:pPr>
                      <a:r>
                        <a:rPr lang="zh-CN" altLang="en-US" sz="2000">
                          <a:latin typeface="华文楷体" panose="02010600040101010101" charset="-122"/>
                          <a:ea typeface="华文楷体" panose="02010600040101010101" charset="-122"/>
                        </a:rPr>
                        <a:t>本</a:t>
                      </a:r>
                      <a:endParaRPr lang="zh-CN" altLang="en-US" sz="2000">
                        <a:latin typeface="华文楷体" panose="02010600040101010101" charset="-122"/>
                        <a:ea typeface="华文楷体" panose="02010600040101010101" charset="-122"/>
                        <a:cs typeface="Times New Roman" panose="02020603050405020304" pitchFamily="18" charset="0"/>
                      </a:endParaRPr>
                    </a:p>
                    <a:p>
                      <a:pPr marL="0" lvl="0" indent="0">
                        <a:buClrTx/>
                        <a:buNone/>
                      </a:pPr>
                      <a:r>
                        <a:rPr lang="zh-CN" altLang="en-US" sz="2000">
                          <a:latin typeface="华文楷体" panose="02010600040101010101" charset="-122"/>
                          <a:ea typeface="华文楷体" panose="02010600040101010101" charset="-122"/>
                        </a:rPr>
                        <a:t>要</a:t>
                      </a:r>
                      <a:endParaRPr lang="zh-CN" altLang="en-US" sz="2000">
                        <a:latin typeface="华文楷体" panose="02010600040101010101" charset="-122"/>
                        <a:ea typeface="华文楷体" panose="02010600040101010101" charset="-122"/>
                        <a:cs typeface="Times New Roman" panose="02020603050405020304" pitchFamily="18" charset="0"/>
                      </a:endParaRPr>
                    </a:p>
                    <a:p>
                      <a:pPr marL="0" lvl="0" indent="0">
                        <a:buClrTx/>
                        <a:buNone/>
                      </a:pPr>
                      <a:r>
                        <a:rPr lang="zh-CN" altLang="en-US" sz="2000">
                          <a:latin typeface="华文楷体" panose="02010600040101010101" charset="-122"/>
                          <a:ea typeface="华文楷体" panose="02010600040101010101" charset="-122"/>
                        </a:rPr>
                        <a:t>求</a:t>
                      </a:r>
                      <a:endParaRPr lang="zh-CN" altLang="en-US" sz="2000">
                        <a:latin typeface="华文楷体" panose="02010600040101010101" charset="-122"/>
                        <a:ea typeface="华文楷体" panose="0201060004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ClrTx/>
                        <a:buNone/>
                      </a:pPr>
                      <a:r>
                        <a:rPr lang="zh-CN" altLang="en-US" sz="2000">
                          <a:latin typeface="华文楷体" panose="02010600040101010101" charset="-122"/>
                          <a:ea typeface="华文楷体" panose="02010600040101010101" charset="-122"/>
                          <a:cs typeface="华文楷体" panose="02010600040101010101" charset="-122"/>
                        </a:rPr>
                        <a:t>发射频率为</a:t>
                      </a:r>
                      <a:r>
                        <a:rPr lang="en-US" altLang="zh-CN" sz="2000">
                          <a:latin typeface="华文楷体" panose="02010600040101010101" charset="-122"/>
                          <a:ea typeface="华文楷体" panose="02010600040101010101" charset="-122"/>
                          <a:cs typeface="华文楷体" panose="02010600040101010101" charset="-122"/>
                        </a:rPr>
                        <a:t>30</a:t>
                      </a:r>
                      <a:r>
                        <a:rPr lang="zh-CN" altLang="en-US" sz="2000">
                          <a:latin typeface="华文楷体" panose="02010600040101010101" charset="-122"/>
                          <a:ea typeface="华文楷体" panose="02010600040101010101" charset="-122"/>
                          <a:cs typeface="华文楷体" panose="02010600040101010101" charset="-122"/>
                        </a:rPr>
                        <a:t>～</a:t>
                      </a:r>
                      <a:r>
                        <a:rPr lang="en-US" altLang="zh-CN" sz="2000">
                          <a:latin typeface="华文楷体" panose="02010600040101010101" charset="-122"/>
                          <a:ea typeface="华文楷体" panose="02010600040101010101" charset="-122"/>
                          <a:cs typeface="华文楷体" panose="02010600040101010101" charset="-122"/>
                        </a:rPr>
                        <a:t>40 MHz</a:t>
                      </a:r>
                      <a:r>
                        <a:rPr lang="zh-CN" altLang="en-US" sz="2000">
                          <a:latin typeface="华文楷体" panose="02010600040101010101" charset="-122"/>
                          <a:ea typeface="华文楷体" panose="02010600040101010101" charset="-122"/>
                          <a:cs typeface="华文楷体" panose="02010600040101010101" charset="-122"/>
                        </a:rPr>
                        <a:t>之间传送一语音信号，发射峰值</a:t>
                      </a:r>
                      <a:endParaRPr lang="zh-CN" altLang="en-US" sz="2000">
                        <a:latin typeface="华文楷体" panose="02010600040101010101" charset="-122"/>
                        <a:ea typeface="华文楷体" panose="02010600040101010101" charset="-122"/>
                        <a:cs typeface="华文楷体" panose="02010600040101010101" charset="-122"/>
                      </a:endParaRPr>
                    </a:p>
                    <a:p>
                      <a:pPr marL="0" lvl="0" indent="0">
                        <a:buClrTx/>
                        <a:buNone/>
                      </a:pPr>
                      <a:r>
                        <a:rPr lang="zh-CN" altLang="en-US" sz="2000">
                          <a:latin typeface="华文楷体" panose="02010600040101010101" charset="-122"/>
                          <a:ea typeface="华文楷体" panose="02010600040101010101" charset="-122"/>
                          <a:cs typeface="华文楷体" panose="02010600040101010101" charset="-122"/>
                        </a:rPr>
                        <a:t>功率不大于</a:t>
                      </a:r>
                      <a:r>
                        <a:rPr lang="en-US" altLang="zh-CN" sz="2000">
                          <a:latin typeface="华文楷体" panose="02010600040101010101" charset="-122"/>
                          <a:ea typeface="华文楷体" panose="02010600040101010101" charset="-122"/>
                          <a:cs typeface="华文楷体" panose="02010600040101010101" charset="-122"/>
                        </a:rPr>
                        <a:t>20 mW</a:t>
                      </a:r>
                      <a:r>
                        <a:rPr lang="zh-CN" altLang="en-US" sz="2000">
                          <a:latin typeface="华文楷体" panose="02010600040101010101" charset="-122"/>
                          <a:ea typeface="华文楷体" panose="02010600040101010101" charset="-122"/>
                          <a:cs typeface="华文楷体" panose="02010600040101010101" charset="-122"/>
                        </a:rPr>
                        <a:t>，输入采用话筒和线路输入</a:t>
                      </a:r>
                      <a:endParaRPr lang="zh-CN" altLang="en-US" sz="2000">
                        <a:latin typeface="华文楷体" panose="02010600040101010101" charset="-122"/>
                        <a:ea typeface="华文楷体" panose="02010600040101010101" charset="-122"/>
                        <a:cs typeface="华文楷体" panose="0201060004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ClrTx/>
                        <a:buNone/>
                      </a:pPr>
                      <a:r>
                        <a:rPr lang="zh-CN" altLang="en-US" sz="2000">
                          <a:latin typeface="华文楷体" panose="02010600040101010101" charset="-122"/>
                          <a:ea typeface="华文楷体" panose="02010600040101010101" charset="-122"/>
                          <a:cs typeface="华文楷体" panose="02010600040101010101" charset="-122"/>
                        </a:rPr>
                        <a:t>全部完成，发射频率为</a:t>
                      </a:r>
                      <a:r>
                        <a:rPr lang="en-US" altLang="zh-CN" sz="2000">
                          <a:latin typeface="华文楷体" panose="02010600040101010101" charset="-122"/>
                          <a:ea typeface="华文楷体" panose="02010600040101010101" charset="-122"/>
                          <a:cs typeface="华文楷体" panose="02010600040101010101" charset="-122"/>
                        </a:rPr>
                        <a:t>35 MHz</a:t>
                      </a:r>
                      <a:r>
                        <a:rPr lang="zh-CN" altLang="en-US" sz="2000">
                          <a:latin typeface="华文楷体" panose="02010600040101010101" charset="-122"/>
                          <a:ea typeface="华文楷体" panose="02010600040101010101" charset="-122"/>
                          <a:cs typeface="华文楷体" panose="02010600040101010101" charset="-122"/>
                        </a:rPr>
                        <a:t>，输出功率为</a:t>
                      </a:r>
                      <a:r>
                        <a:rPr lang="en-US" altLang="zh-CN" sz="2000">
                          <a:latin typeface="华文楷体" panose="02010600040101010101" charset="-122"/>
                          <a:ea typeface="华文楷体" panose="02010600040101010101" charset="-122"/>
                          <a:cs typeface="华文楷体" panose="02010600040101010101" charset="-122"/>
                        </a:rPr>
                        <a:t>19.59 mW</a:t>
                      </a:r>
                      <a:endParaRPr lang="zh-CN" altLang="en-US" sz="2000">
                        <a:latin typeface="华文楷体" panose="02010600040101010101" charset="-122"/>
                        <a:ea typeface="华文楷体" panose="02010600040101010101" charset="-122"/>
                        <a:cs typeface="华文楷体" panose="0201060004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4135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000">
                          <a:latin typeface="华文楷体" panose="02010600040101010101" charset="-122"/>
                          <a:ea typeface="华文楷体" panose="02010600040101010101" charset="-122"/>
                        </a:rPr>
                        <a:t>2</a:t>
                      </a:r>
                      <a:endParaRPr lang="en-US" altLang="zh-CN" sz="2000">
                        <a:latin typeface="华文楷体" panose="02010600040101010101" charset="-122"/>
                        <a:ea typeface="华文楷体" panose="0201060004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ClrTx/>
                        <a:buNone/>
                      </a:pPr>
                      <a:r>
                        <a:rPr lang="zh-CN" altLang="en-US" sz="2000">
                          <a:latin typeface="华文楷体" panose="02010600040101010101" charset="-122"/>
                          <a:ea typeface="华文楷体" panose="02010600040101010101" charset="-122"/>
                        </a:rPr>
                        <a:t>制作一个从站，接收频率和主站对应，采用电池组供电，用耳机收听语音信号</a:t>
                      </a:r>
                      <a:endParaRPr lang="zh-CN" altLang="en-US" sz="2000">
                        <a:latin typeface="华文楷体" panose="02010600040101010101" charset="-122"/>
                        <a:ea typeface="华文楷体" panose="0201060004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ClrTx/>
                        <a:buNone/>
                      </a:pPr>
                      <a:r>
                        <a:rPr lang="zh-CN" altLang="en-US" sz="2000">
                          <a:latin typeface="华文楷体" panose="02010600040101010101" charset="-122"/>
                          <a:ea typeface="华文楷体" panose="02010600040101010101" charset="-122"/>
                        </a:rPr>
                        <a:t>全部实现，且收听语音信号清晰</a:t>
                      </a:r>
                      <a:endParaRPr lang="zh-CN" altLang="en-US" sz="2000">
                        <a:latin typeface="华文楷体" panose="02010600040101010101" charset="-122"/>
                        <a:ea typeface="华文楷体" panose="0201060004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188085">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000">
                          <a:latin typeface="华文楷体" panose="02010600040101010101" charset="-122"/>
                          <a:ea typeface="华文楷体" panose="02010600040101010101" charset="-122"/>
                        </a:rPr>
                        <a:t>3</a:t>
                      </a:r>
                      <a:endParaRPr lang="en-US" altLang="zh-CN" sz="2000">
                        <a:latin typeface="华文楷体" panose="02010600040101010101" charset="-122"/>
                        <a:ea typeface="华文楷体" panose="0201060004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ClrTx/>
                        <a:buNone/>
                      </a:pPr>
                      <a:r>
                        <a:rPr lang="zh-CN" altLang="en-US" sz="2000">
                          <a:latin typeface="华文楷体" panose="02010600040101010101" charset="-122"/>
                          <a:ea typeface="华文楷体" panose="02010600040101010101" charset="-122"/>
                          <a:cs typeface="华文楷体" panose="02010600040101010101" charset="-122"/>
                        </a:rPr>
                        <a:t>传送信号为</a:t>
                      </a:r>
                      <a:r>
                        <a:rPr lang="en-US" altLang="zh-CN" sz="2000">
                          <a:latin typeface="华文楷体" panose="02010600040101010101" charset="-122"/>
                          <a:ea typeface="华文楷体" panose="02010600040101010101" charset="-122"/>
                          <a:cs typeface="华文楷体" panose="02010600040101010101" charset="-122"/>
                        </a:rPr>
                        <a:t>300</a:t>
                      </a:r>
                      <a:r>
                        <a:rPr lang="zh-CN" altLang="en-US" sz="2000">
                          <a:latin typeface="华文楷体" panose="02010600040101010101" charset="-122"/>
                          <a:ea typeface="华文楷体" panose="02010600040101010101" charset="-122"/>
                          <a:cs typeface="华文楷体" panose="02010600040101010101" charset="-122"/>
                        </a:rPr>
                        <a:t>～</a:t>
                      </a:r>
                      <a:r>
                        <a:rPr lang="en-US" altLang="zh-CN" sz="2000">
                          <a:latin typeface="华文楷体" panose="02010600040101010101" charset="-122"/>
                          <a:ea typeface="华文楷体" panose="02010600040101010101" charset="-122"/>
                          <a:cs typeface="华文楷体" panose="02010600040101010101" charset="-122"/>
                        </a:rPr>
                        <a:t>3400 Hz</a:t>
                      </a:r>
                      <a:r>
                        <a:rPr lang="zh-CN" altLang="en-US" sz="2000">
                          <a:latin typeface="华文楷体" panose="02010600040101010101" charset="-122"/>
                          <a:ea typeface="华文楷体" panose="02010600040101010101" charset="-122"/>
                          <a:cs typeface="华文楷体" panose="02010600040101010101" charset="-122"/>
                        </a:rPr>
                        <a:t>的正弦波时，去掉收、发天线，加一个</a:t>
                      </a:r>
                      <a:r>
                        <a:rPr lang="en-US" altLang="zh-CN" sz="2000">
                          <a:latin typeface="华文楷体" panose="02010600040101010101" charset="-122"/>
                          <a:ea typeface="华文楷体" panose="02010600040101010101" charset="-122"/>
                          <a:cs typeface="华文楷体" panose="02010600040101010101" charset="-122"/>
                        </a:rPr>
                        <a:t>20 dB</a:t>
                      </a:r>
                      <a:r>
                        <a:rPr lang="zh-CN" altLang="en-US" sz="2000">
                          <a:latin typeface="华文楷体" panose="02010600040101010101" charset="-122"/>
                          <a:ea typeface="华文楷体" panose="02010600040101010101" charset="-122"/>
                          <a:cs typeface="华文楷体" panose="02010600040101010101" charset="-122"/>
                        </a:rPr>
                        <a:t>衰减器连接主、从站，观察从站耳机处的接收波形是否失真</a:t>
                      </a:r>
                      <a:endParaRPr lang="zh-CN" altLang="en-US" sz="2000">
                        <a:latin typeface="华文楷体" panose="02010600040101010101" charset="-122"/>
                        <a:ea typeface="华文楷体" panose="02010600040101010101" charset="-122"/>
                        <a:cs typeface="华文楷体" panose="0201060004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ClrTx/>
                        <a:buNone/>
                      </a:pPr>
                      <a:r>
                        <a:rPr lang="zh-CN" altLang="en-US" sz="2000">
                          <a:latin typeface="华文楷体" panose="02010600040101010101" charset="-122"/>
                          <a:ea typeface="华文楷体" panose="02010600040101010101" charset="-122"/>
                        </a:rPr>
                        <a:t>全部完成，波形无明显失真情况</a:t>
                      </a:r>
                      <a:endParaRPr lang="zh-CN" altLang="en-US" sz="2000">
                        <a:latin typeface="华文楷体" panose="02010600040101010101" charset="-122"/>
                        <a:ea typeface="华文楷体" panose="0201060004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76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000">
                          <a:latin typeface="华文楷体" panose="02010600040101010101" charset="-122"/>
                          <a:ea typeface="华文楷体" panose="02010600040101010101" charset="-122"/>
                        </a:rPr>
                        <a:t>4</a:t>
                      </a:r>
                      <a:endParaRPr lang="en-US" altLang="zh-CN" sz="2000">
                        <a:latin typeface="华文楷体" panose="02010600040101010101" charset="-122"/>
                        <a:ea typeface="华文楷体" panose="0201060004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ClrTx/>
                        <a:buNone/>
                      </a:pPr>
                      <a:r>
                        <a:rPr lang="zh-CN" altLang="en-US" sz="2000">
                          <a:latin typeface="华文楷体" panose="02010600040101010101" charset="-122"/>
                          <a:ea typeface="华文楷体" panose="02010600040101010101" charset="-122"/>
                          <a:cs typeface="华文楷体" panose="02010600040101010101" charset="-122"/>
                        </a:rPr>
                        <a:t>主、从站距离不小于</a:t>
                      </a:r>
                      <a:r>
                        <a:rPr lang="en-US" altLang="zh-CN" sz="2000">
                          <a:latin typeface="华文楷体" panose="02010600040101010101" charset="-122"/>
                          <a:ea typeface="华文楷体" panose="02010600040101010101" charset="-122"/>
                          <a:cs typeface="华文楷体" panose="02010600040101010101" charset="-122"/>
                        </a:rPr>
                        <a:t>5 m</a:t>
                      </a:r>
                      <a:endParaRPr lang="zh-CN" altLang="en-US" sz="2000">
                        <a:latin typeface="华文楷体" panose="02010600040101010101" charset="-122"/>
                        <a:ea typeface="华文楷体" panose="02010600040101010101" charset="-122"/>
                        <a:cs typeface="华文楷体" panose="0201060004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ClrTx/>
                        <a:buNone/>
                      </a:pPr>
                      <a:r>
                        <a:rPr lang="zh-CN" altLang="en-US" sz="2000">
                          <a:latin typeface="华文楷体" panose="02010600040101010101" charset="-122"/>
                          <a:ea typeface="华文楷体" panose="02010600040101010101" charset="-122"/>
                        </a:rPr>
                        <a:t>实现</a:t>
                      </a:r>
                      <a:endParaRPr lang="zh-CN" altLang="en-US" sz="2000">
                        <a:latin typeface="华文楷体" panose="02010600040101010101" charset="-122"/>
                        <a:ea typeface="华文楷体" panose="0201060004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41350">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ClrTx/>
                        <a:buNone/>
                      </a:pPr>
                      <a:r>
                        <a:rPr lang="en-US" altLang="zh-CN" sz="2000">
                          <a:latin typeface="华文楷体" panose="02010600040101010101" charset="-122"/>
                          <a:ea typeface="华文楷体" panose="02010600040101010101" charset="-122"/>
                        </a:rPr>
                        <a:t>5</a:t>
                      </a:r>
                      <a:endParaRPr lang="en-US" altLang="zh-CN" sz="2000">
                        <a:latin typeface="华文楷体" panose="02010600040101010101" charset="-122"/>
                        <a:ea typeface="华文楷体" panose="0201060004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ClrTx/>
                        <a:buNone/>
                      </a:pPr>
                      <a:r>
                        <a:rPr lang="zh-CN" altLang="en-US" sz="2000">
                          <a:latin typeface="华文楷体" panose="02010600040101010101" charset="-122"/>
                          <a:ea typeface="华文楷体" panose="02010600040101010101" charset="-122"/>
                          <a:cs typeface="华文楷体" panose="02010600040101010101" charset="-122"/>
                        </a:rPr>
                        <a:t>收发天线采用拉杆或导线，小于等于</a:t>
                      </a:r>
                      <a:r>
                        <a:rPr lang="en-US" altLang="zh-CN" sz="2000">
                          <a:latin typeface="华文楷体" panose="02010600040101010101" charset="-122"/>
                          <a:ea typeface="华文楷体" panose="02010600040101010101" charset="-122"/>
                          <a:cs typeface="华文楷体" panose="02010600040101010101" charset="-122"/>
                        </a:rPr>
                        <a:t>1m</a:t>
                      </a:r>
                      <a:endParaRPr lang="zh-CN" altLang="en-US" sz="2000">
                        <a:latin typeface="华文楷体" panose="02010600040101010101" charset="-122"/>
                        <a:ea typeface="华文楷体" panose="02010600040101010101" charset="-122"/>
                        <a:cs typeface="华文楷体" panose="0201060004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ClrTx/>
                        <a:buNone/>
                      </a:pPr>
                      <a:r>
                        <a:rPr lang="zh-CN" altLang="en-US" sz="2000">
                          <a:latin typeface="华文楷体" panose="02010600040101010101" charset="-122"/>
                          <a:ea typeface="华文楷体" panose="02010600040101010101" charset="-122"/>
                          <a:cs typeface="华文楷体" panose="02010600040101010101" charset="-122"/>
                        </a:rPr>
                        <a:t>完成，拉杆天线</a:t>
                      </a:r>
                      <a:r>
                        <a:rPr lang="en-US" altLang="zh-CN" sz="2000">
                          <a:latin typeface="华文楷体" panose="02010600040101010101" charset="-122"/>
                          <a:ea typeface="华文楷体" panose="02010600040101010101" charset="-122"/>
                          <a:cs typeface="华文楷体" panose="02010600040101010101" charset="-122"/>
                        </a:rPr>
                        <a:t>0.95m</a:t>
                      </a:r>
                      <a:endParaRPr lang="zh-CN" altLang="en-US" sz="2000">
                        <a:latin typeface="华文楷体" panose="02010600040101010101" charset="-122"/>
                        <a:ea typeface="华文楷体" panose="02010600040101010101" charset="-122"/>
                        <a:cs typeface="华文楷体" panose="0201060004010101010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37890" name="标题 37889"/>
          <p:cNvSpPr>
            <a:spLocks noGrp="1" noRot="1"/>
          </p:cNvSpPr>
          <p:nvPr>
            <p:ph type="title"/>
          </p:nvPr>
        </p:nvSpPr>
        <p:spPr>
          <a:xfrm>
            <a:off x="349885" y="81915"/>
            <a:ext cx="5517515" cy="771525"/>
          </a:xfrm>
          <a:solidFill>
            <a:schemeClr val="bg1"/>
          </a:solidFill>
        </p:spPr>
        <p:txBody>
          <a:bodyPr anchor="ctr"/>
          <a:p>
            <a:pPr marL="685800" indent="-685800">
              <a:lnSpc>
                <a:spcPct val="90000"/>
              </a:lnSpc>
            </a:pP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3.9  </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测试结果分析</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（4</a:t>
            </a:r>
            <a:r>
              <a:rPr lang="zh-CN" altLang="en-US" b="1">
                <a:solidFill>
                  <a:schemeClr val="hlink"/>
                </a:solidFill>
                <a:latin typeface="Times New Roman" panose="02020603050405020304" pitchFamily="18" charset="0"/>
                <a:ea typeface="楷体" panose="02010609060101010101" charset="-122"/>
                <a:cs typeface="Times New Roman" panose="02020603050405020304" pitchFamily="18" charset="0"/>
              </a:rPr>
              <a:t>分</a:t>
            </a:r>
            <a:r>
              <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rPr>
              <a:t>）</a:t>
            </a:r>
            <a:endParaRPr lang="en-US" altLang="zh-CN" b="1">
              <a:solidFill>
                <a:schemeClr val="hlink"/>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39937"/>
          <p:cNvSpPr>
            <a:spLocks noGrp="1" noRot="1"/>
          </p:cNvSpPr>
          <p:nvPr>
            <p:ph type="title"/>
          </p:nvPr>
        </p:nvSpPr>
        <p:spPr>
          <a:xfrm>
            <a:off x="1243965" y="919798"/>
            <a:ext cx="8540750" cy="765175"/>
          </a:xfrm>
        </p:spPr>
        <p:txBody>
          <a:bodyPr anchor="ctr"/>
          <a:p>
            <a:pPr marL="685800" indent="-685800"/>
            <a:r>
              <a:rPr lang="zh-CN" altLang="en-US" b="1" u="sng">
                <a:solidFill>
                  <a:srgbClr val="FF0000"/>
                </a:solidFill>
              </a:rPr>
              <a:t>肆  </a:t>
            </a:r>
            <a:r>
              <a:rPr lang="zh-CN" altLang="en-US" b="1" u="sng">
                <a:solidFill>
                  <a:schemeClr val="hlink"/>
                </a:solidFill>
              </a:rPr>
              <a:t>设计总结报告的工整性</a:t>
            </a:r>
            <a:r>
              <a:rPr lang="en-US" altLang="zh-CN" b="1" u="sng">
                <a:solidFill>
                  <a:schemeClr val="hlink"/>
                </a:solidFill>
              </a:rPr>
              <a:t>(3</a:t>
            </a:r>
            <a:r>
              <a:rPr lang="zh-CN" altLang="en-US" b="1" u="sng">
                <a:solidFill>
                  <a:schemeClr val="hlink"/>
                </a:solidFill>
              </a:rPr>
              <a:t>分</a:t>
            </a:r>
            <a:r>
              <a:rPr lang="en-US" altLang="zh-CN" b="1" u="sng">
                <a:solidFill>
                  <a:schemeClr val="hlink"/>
                </a:solidFill>
              </a:rPr>
              <a:t>)</a:t>
            </a:r>
            <a:endParaRPr lang="en-US" altLang="zh-CN" b="1" u="sng">
              <a:solidFill>
                <a:schemeClr val="hlink"/>
              </a:solidFill>
            </a:endParaRPr>
          </a:p>
        </p:txBody>
      </p:sp>
    </p:spTree>
  </p:cSld>
  <p:clrMapOvr>
    <a:masterClrMapping/>
  </p:clrMapOvr>
  <p:transition>
    <p:pull dir="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9" name="文本占位符 39938"/>
          <p:cNvSpPr>
            <a:spLocks noGrp="1" noRot="1"/>
          </p:cNvSpPr>
          <p:nvPr>
            <p:ph type="body" idx="1"/>
          </p:nvPr>
        </p:nvSpPr>
        <p:spPr>
          <a:xfrm>
            <a:off x="584835" y="652780"/>
            <a:ext cx="11012805" cy="5438775"/>
          </a:xfrm>
        </p:spPr>
        <p:txBody>
          <a:bodyPr/>
          <a:p>
            <a:pPr>
              <a:lnSpc>
                <a:spcPct val="120000"/>
              </a:lnSpc>
              <a:buNone/>
            </a:pPr>
            <a:r>
              <a:rPr lang="en-US" altLang="zh-CN" u="sng" dirty="0">
                <a:solidFill>
                  <a:srgbClr val="FF0000"/>
                </a:solidFill>
                <a:latin typeface="Times New Roman" panose="02020603050405020304" pitchFamily="18" charset="0"/>
                <a:ea typeface="楷体" panose="02010609060101010101" charset="-122"/>
                <a:cs typeface="Times New Roman" panose="02020603050405020304" pitchFamily="18" charset="0"/>
              </a:rPr>
              <a:t>4.1  </a:t>
            </a:r>
            <a:r>
              <a:rPr lang="zh-CN" altLang="en-US" u="sng" dirty="0">
                <a:solidFill>
                  <a:srgbClr val="FF0000"/>
                </a:solidFill>
                <a:latin typeface="Times New Roman" panose="02020603050405020304" pitchFamily="18" charset="0"/>
                <a:ea typeface="楷体" panose="02010609060101010101" charset="-122"/>
                <a:cs typeface="Times New Roman" panose="02020603050405020304" pitchFamily="18" charset="0"/>
              </a:rPr>
              <a:t>科技论文撰写格式：</a:t>
            </a:r>
            <a:endParaRPr lang="zh-CN" altLang="en-US" u="sng" dirty="0">
              <a:solidFill>
                <a:srgbClr val="FF0000"/>
              </a:solidFill>
              <a:latin typeface="Times New Roman" panose="02020603050405020304" pitchFamily="18" charset="0"/>
              <a:ea typeface="楷体" panose="02010609060101010101" charset="-122"/>
              <a:cs typeface="Times New Roman" panose="02020603050405020304" pitchFamily="18" charset="0"/>
            </a:endParaRPr>
          </a:p>
          <a:p>
            <a:pPr>
              <a:lnSpc>
                <a:spcPct val="140000"/>
              </a:lnSpc>
            </a:pPr>
            <a:r>
              <a:rPr lang="zh-CN" altLang="en-US" sz="2400" dirty="0">
                <a:latin typeface="Times New Roman" panose="02020603050405020304" pitchFamily="18" charset="0"/>
                <a:ea typeface="楷体" panose="02010609060101010101" charset="-122"/>
                <a:cs typeface="Times New Roman" panose="02020603050405020304" pitchFamily="18" charset="0"/>
              </a:rPr>
              <a:t>章节编号平左顶格，编号与标题间空一个汉字。</a:t>
            </a:r>
            <a:endParaRPr lang="zh-CN" altLang="en-US" sz="2400" dirty="0">
              <a:latin typeface="Times New Roman" panose="02020603050405020304" pitchFamily="18" charset="0"/>
              <a:ea typeface="楷体" panose="02010609060101010101" charset="-122"/>
              <a:cs typeface="Times New Roman" panose="02020603050405020304" pitchFamily="18" charset="0"/>
            </a:endParaRPr>
          </a:p>
          <a:p>
            <a:pPr>
              <a:lnSpc>
                <a:spcPct val="140000"/>
              </a:lnSpc>
            </a:pPr>
            <a:r>
              <a:rPr lang="zh-CN" altLang="en-US" sz="2400" dirty="0">
                <a:latin typeface="Times New Roman" panose="02020603050405020304" pitchFamily="18" charset="0"/>
                <a:ea typeface="楷体" panose="02010609060101010101" charset="-122"/>
                <a:cs typeface="Times New Roman" panose="02020603050405020304" pitchFamily="18" charset="0"/>
              </a:rPr>
              <a:t>正文采用中文宋体四号，英文Times New Roman</a:t>
            </a:r>
            <a:endParaRPr lang="zh-CN" altLang="en-US" sz="2400" dirty="0">
              <a:latin typeface="Times New Roman" panose="02020603050405020304" pitchFamily="18" charset="0"/>
              <a:ea typeface="楷体" panose="02010609060101010101" charset="-122"/>
              <a:cs typeface="Times New Roman" panose="02020603050405020304" pitchFamily="18" charset="0"/>
            </a:endParaRPr>
          </a:p>
          <a:p>
            <a:pPr>
              <a:lnSpc>
                <a:spcPct val="140000"/>
              </a:lnSpc>
            </a:pPr>
            <a:r>
              <a:rPr lang="zh-CN" altLang="en-US" sz="2400" dirty="0">
                <a:latin typeface="Times New Roman" panose="02020603050405020304" pitchFamily="18" charset="0"/>
                <a:ea typeface="楷体" panose="02010609060101010101" charset="-122"/>
                <a:cs typeface="Times New Roman" panose="02020603050405020304" pitchFamily="18" charset="0"/>
              </a:rPr>
              <a:t>文中图和表要先有说明再有图表。</a:t>
            </a:r>
            <a:endParaRPr lang="zh-CN" altLang="en-US" sz="2400" dirty="0">
              <a:latin typeface="Times New Roman" panose="02020603050405020304" pitchFamily="18" charset="0"/>
              <a:ea typeface="楷体" panose="02010609060101010101" charset="-122"/>
              <a:cs typeface="Times New Roman" panose="02020603050405020304" pitchFamily="18" charset="0"/>
            </a:endParaRPr>
          </a:p>
          <a:p>
            <a:pPr>
              <a:lnSpc>
                <a:spcPct val="140000"/>
              </a:lnSpc>
            </a:pPr>
            <a:r>
              <a:rPr lang="zh-CN" altLang="en-US" sz="2400" dirty="0">
                <a:latin typeface="Times New Roman" panose="02020603050405020304" pitchFamily="18" charset="0"/>
                <a:ea typeface="楷体" panose="02010609060101010101" charset="-122"/>
                <a:cs typeface="Times New Roman" panose="02020603050405020304" pitchFamily="18" charset="0"/>
              </a:rPr>
              <a:t>图要清晰、并与文中的叙述要一致，对图中内容的说明尽量放在文中。</a:t>
            </a:r>
            <a:endParaRPr lang="zh-CN" altLang="en-US" sz="2400" dirty="0">
              <a:latin typeface="Times New Roman" panose="02020603050405020304" pitchFamily="18" charset="0"/>
              <a:ea typeface="楷体" panose="02010609060101010101" charset="-122"/>
              <a:cs typeface="Times New Roman" panose="02020603050405020304" pitchFamily="18" charset="0"/>
            </a:endParaRPr>
          </a:p>
          <a:p>
            <a:pPr>
              <a:lnSpc>
                <a:spcPct val="140000"/>
              </a:lnSpc>
            </a:pPr>
            <a:r>
              <a:rPr lang="zh-CN" altLang="en-US" sz="2400" dirty="0">
                <a:latin typeface="Times New Roman" panose="02020603050405020304" pitchFamily="18" charset="0"/>
                <a:ea typeface="楷体" panose="02010609060101010101" charset="-122"/>
                <a:cs typeface="Times New Roman" panose="02020603050405020304" pitchFamily="18" charset="0"/>
              </a:rPr>
              <a:t>图序、图题</a:t>
            </a:r>
            <a:r>
              <a:rPr lang="zh-CN" altLang="en-US" sz="2400" dirty="0">
                <a:solidFill>
                  <a:srgbClr val="FF0000"/>
                </a:solidFill>
                <a:latin typeface="Times New Roman" panose="02020603050405020304" pitchFamily="18" charset="0"/>
                <a:ea typeface="楷体" panose="02010609060101010101" charset="-122"/>
                <a:cs typeface="Times New Roman" panose="02020603050405020304" pitchFamily="18" charset="0"/>
              </a:rPr>
              <a:t>（图注）</a:t>
            </a:r>
            <a:r>
              <a:rPr lang="zh-CN" altLang="en-US" sz="2400" dirty="0">
                <a:latin typeface="Times New Roman" panose="02020603050405020304" pitchFamily="18" charset="0"/>
                <a:ea typeface="楷体" panose="02010609060101010101" charset="-122"/>
                <a:cs typeface="Times New Roman" panose="02020603050405020304" pitchFamily="18" charset="0"/>
              </a:rPr>
              <a:t>居中排于图的正下方；</a:t>
            </a:r>
            <a:endParaRPr lang="zh-CN" altLang="en-US" sz="2400" dirty="0">
              <a:latin typeface="Times New Roman" panose="02020603050405020304" pitchFamily="18" charset="0"/>
              <a:ea typeface="楷体" panose="02010609060101010101" charset="-122"/>
              <a:cs typeface="Times New Roman" panose="02020603050405020304" pitchFamily="18" charset="0"/>
            </a:endParaRPr>
          </a:p>
          <a:p>
            <a:pPr>
              <a:lnSpc>
                <a:spcPct val="140000"/>
              </a:lnSpc>
            </a:pPr>
            <a:r>
              <a:rPr lang="zh-CN" altLang="en-US" sz="2400" dirty="0">
                <a:latin typeface="Times New Roman" panose="02020603050405020304" pitchFamily="18" charset="0"/>
                <a:ea typeface="楷体" panose="02010609060101010101" charset="-122"/>
                <a:cs typeface="Times New Roman" panose="02020603050405020304" pitchFamily="18" charset="0"/>
              </a:rPr>
              <a:t>表序、表题</a:t>
            </a:r>
            <a:r>
              <a:rPr lang="zh-CN" altLang="en-US" sz="2400"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（表头）</a:t>
            </a:r>
            <a:r>
              <a:rPr lang="zh-CN" altLang="en-US" sz="2400" dirty="0">
                <a:latin typeface="Times New Roman" panose="02020603050405020304" pitchFamily="18" charset="0"/>
                <a:ea typeface="楷体" panose="02010609060101010101" charset="-122"/>
                <a:cs typeface="Times New Roman" panose="02020603050405020304" pitchFamily="18" charset="0"/>
              </a:rPr>
              <a:t>居中排于表的正上方；</a:t>
            </a:r>
            <a:endParaRPr lang="zh-CN" altLang="en-US" sz="2400" dirty="0">
              <a:latin typeface="Times New Roman" panose="02020603050405020304" pitchFamily="18" charset="0"/>
              <a:ea typeface="楷体" panose="02010609060101010101" charset="-122"/>
              <a:cs typeface="Times New Roman" panose="02020603050405020304" pitchFamily="18" charset="0"/>
            </a:endParaRPr>
          </a:p>
          <a:p>
            <a:pPr>
              <a:lnSpc>
                <a:spcPct val="140000"/>
              </a:lnSpc>
            </a:pPr>
            <a:r>
              <a:rPr lang="zh-CN" altLang="en-US" sz="2400" dirty="0">
                <a:latin typeface="Times New Roman" panose="02020603050405020304" pitchFamily="18" charset="0"/>
                <a:ea typeface="楷体" panose="02010609060101010101" charset="-122"/>
                <a:cs typeface="Times New Roman" panose="02020603050405020304" pitchFamily="18" charset="0"/>
              </a:rPr>
              <a:t>表格四周封闭，表跨页时另起表头。</a:t>
            </a:r>
            <a:endParaRPr lang="zh-CN" altLang="en-US" sz="2400" dirty="0">
              <a:latin typeface="Times New Roman" panose="02020603050405020304" pitchFamily="18" charset="0"/>
              <a:ea typeface="楷体" panose="02010609060101010101" charset="-122"/>
              <a:cs typeface="Times New Roman" panose="02020603050405020304" pitchFamily="18" charset="0"/>
            </a:endParaRPr>
          </a:p>
          <a:p>
            <a:pPr>
              <a:lnSpc>
                <a:spcPct val="140000"/>
              </a:lnSpc>
            </a:pPr>
            <a:r>
              <a:rPr lang="zh-CN" altLang="en-US" sz="2400" dirty="0">
                <a:latin typeface="Times New Roman" panose="02020603050405020304" pitchFamily="18" charset="0"/>
                <a:ea typeface="楷体" panose="02010609060101010101" charset="-122"/>
                <a:cs typeface="Times New Roman" panose="02020603050405020304" pitchFamily="18" charset="0"/>
              </a:rPr>
              <a:t>图和表中的注释、注脚为</a:t>
            </a:r>
            <a:r>
              <a:rPr lang="zh-CN" altLang="en-US" sz="2400" u="sng" dirty="0">
                <a:solidFill>
                  <a:srgbClr val="FF0000"/>
                </a:solidFill>
                <a:latin typeface="Times New Roman" panose="02020603050405020304" pitchFamily="18" charset="0"/>
                <a:ea typeface="楷体" panose="02010609060101010101" charset="-122"/>
                <a:cs typeface="Times New Roman" panose="02020603050405020304" pitchFamily="18" charset="0"/>
              </a:rPr>
              <a:t>六号宋体</a:t>
            </a:r>
            <a:r>
              <a:rPr lang="zh-CN" altLang="en-US" sz="2400" dirty="0">
                <a:latin typeface="Times New Roman" panose="02020603050405020304" pitchFamily="18" charset="0"/>
                <a:ea typeface="楷体" panose="02010609060101010101" charset="-122"/>
                <a:cs typeface="Times New Roman" panose="02020603050405020304" pitchFamily="18" charset="0"/>
              </a:rPr>
              <a:t>；</a:t>
            </a:r>
            <a:endParaRPr lang="zh-CN" altLang="en-US" sz="2400" dirty="0">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3" name="文本占位符 40962"/>
          <p:cNvSpPr>
            <a:spLocks noGrp="1" noRot="1"/>
          </p:cNvSpPr>
          <p:nvPr>
            <p:ph type="body" idx="1"/>
          </p:nvPr>
        </p:nvSpPr>
        <p:spPr>
          <a:xfrm>
            <a:off x="529590" y="703580"/>
            <a:ext cx="11418570" cy="5285105"/>
          </a:xfrm>
        </p:spPr>
        <p:txBody>
          <a:bodyPr/>
          <a:p>
            <a:pPr>
              <a:lnSpc>
                <a:spcPct val="150000"/>
              </a:lnSpc>
              <a:buNone/>
            </a:pPr>
            <a:r>
              <a:rPr lang="en-US" altLang="zh-CN" u="sng">
                <a:solidFill>
                  <a:srgbClr val="FF0000"/>
                </a:solidFill>
                <a:latin typeface="Times New Roman" panose="02020603050405020304" pitchFamily="18" charset="0"/>
                <a:ea typeface="楷体" panose="02010609060101010101" charset="-122"/>
                <a:cs typeface="Times New Roman" panose="02020603050405020304" pitchFamily="18" charset="0"/>
              </a:rPr>
              <a:t>4.1  </a:t>
            </a:r>
            <a:r>
              <a:rPr lang="zh-CN" altLang="en-US" u="sng">
                <a:solidFill>
                  <a:srgbClr val="FF0000"/>
                </a:solidFill>
                <a:latin typeface="Times New Roman" panose="02020603050405020304" pitchFamily="18" charset="0"/>
                <a:ea typeface="楷体" panose="02010609060101010101" charset="-122"/>
                <a:cs typeface="Times New Roman" panose="02020603050405020304" pitchFamily="18" charset="0"/>
              </a:rPr>
              <a:t>科技论文撰写格式：</a:t>
            </a:r>
            <a:endParaRPr lang="zh-CN" altLang="en-US" u="sng">
              <a:solidFill>
                <a:srgbClr val="FF0000"/>
              </a:solidFill>
              <a:latin typeface="Times New Roman" panose="02020603050405020304" pitchFamily="18" charset="0"/>
              <a:ea typeface="楷体" panose="02010609060101010101" charset="-122"/>
              <a:cs typeface="Times New Roman" panose="02020603050405020304" pitchFamily="18" charset="0"/>
            </a:endParaRPr>
          </a:p>
          <a:p>
            <a:pPr>
              <a:lnSpc>
                <a:spcPct val="150000"/>
              </a:lnSpc>
            </a:pPr>
            <a:r>
              <a:rPr lang="zh-CN" altLang="en-US" sz="2400">
                <a:latin typeface="Times New Roman" panose="02020603050405020304" pitchFamily="18" charset="0"/>
                <a:ea typeface="楷体" panose="02010609060101010101" charset="-122"/>
                <a:cs typeface="Times New Roman" panose="02020603050405020304" pitchFamily="18" charset="0"/>
              </a:rPr>
              <a:t>数学公式居中排，公式中字母正斜体和大小写前后要统一，使用公式编辑器；</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150000"/>
              </a:lnSpc>
            </a:pPr>
            <a:r>
              <a:rPr lang="zh-CN" altLang="en-US" sz="2400">
                <a:latin typeface="Times New Roman" panose="02020603050405020304" pitchFamily="18" charset="0"/>
                <a:ea typeface="楷体" panose="02010609060101010101" charset="-122"/>
                <a:cs typeface="Times New Roman" panose="02020603050405020304" pitchFamily="18" charset="0"/>
              </a:rPr>
              <a:t>公式另行居中，</a:t>
            </a:r>
            <a:r>
              <a:rPr lang="zh-CN" altLang="en-US" sz="2400">
                <a:solidFill>
                  <a:srgbClr val="FF0000"/>
                </a:solidFill>
                <a:latin typeface="Times New Roman" panose="02020603050405020304" pitchFamily="18" charset="0"/>
                <a:ea typeface="楷体" panose="02010609060101010101" charset="-122"/>
                <a:cs typeface="Times New Roman" panose="02020603050405020304" pitchFamily="18" charset="0"/>
              </a:rPr>
              <a:t>公式末不加标点，有编号时可靠</a:t>
            </a:r>
            <a:r>
              <a:rPr lang="zh-CN" altLang="en-US" sz="2400">
                <a:latin typeface="Times New Roman" panose="02020603050405020304" pitchFamily="18" charset="0"/>
                <a:ea typeface="楷体" panose="02010609060101010101" charset="-122"/>
                <a:cs typeface="Times New Roman" panose="02020603050405020304" pitchFamily="18" charset="0"/>
              </a:rPr>
              <a:t>右侧顶边线；</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150000"/>
              </a:lnSpc>
            </a:pPr>
            <a:r>
              <a:rPr lang="zh-CN" altLang="en-US" sz="2400">
                <a:latin typeface="Times New Roman" panose="02020603050405020304" pitchFamily="18" charset="0"/>
                <a:ea typeface="楷体" panose="02010609060101010101" charset="-122"/>
                <a:cs typeface="Times New Roman" panose="02020603050405020304" pitchFamily="18" charset="0"/>
              </a:rPr>
              <a:t>若公式前有文字，如例、解等，文字顶格写，公式仍居中；</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150000"/>
              </a:lnSpc>
            </a:pPr>
            <a:r>
              <a:rPr lang="zh-CN" altLang="en-US" sz="2400">
                <a:latin typeface="Times New Roman" panose="02020603050405020304" pitchFamily="18" charset="0"/>
                <a:ea typeface="楷体" panose="02010609060101010101" charset="-122"/>
                <a:cs typeface="Times New Roman" panose="02020603050405020304" pitchFamily="18" charset="0"/>
              </a:rPr>
              <a:t>公式中的外文字母之间、运算符号与各量符号之间应空半个数字的间距；</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150000"/>
              </a:lnSpc>
            </a:pPr>
            <a:r>
              <a:rPr lang="zh-CN" altLang="en-US" sz="2400">
                <a:latin typeface="Times New Roman" panose="02020603050405020304" pitchFamily="18" charset="0"/>
                <a:ea typeface="楷体" panose="02010609060101010101" charset="-122"/>
                <a:cs typeface="Times New Roman" panose="02020603050405020304" pitchFamily="18" charset="0"/>
              </a:rPr>
              <a:t>若对公式有说明，可接排，如：“式中，</a:t>
            </a:r>
            <a:r>
              <a:rPr lang="en-US" altLang="zh-CN" sz="2400">
                <a:latin typeface="Times New Roman" panose="02020603050405020304" pitchFamily="18" charset="0"/>
                <a:ea typeface="楷体" panose="02010609060101010101" charset="-122"/>
                <a:cs typeface="Times New Roman" panose="02020603050405020304" pitchFamily="18" charset="0"/>
              </a:rPr>
              <a:t>A—XX（</a:t>
            </a:r>
            <a:r>
              <a:rPr lang="zh-CN" altLang="en-US" sz="2400">
                <a:latin typeface="Times New Roman" panose="02020603050405020304" pitchFamily="18" charset="0"/>
                <a:ea typeface="楷体" panose="02010609060101010101" charset="-122"/>
                <a:cs typeface="Times New Roman" panose="02020603050405020304" pitchFamily="18" charset="0"/>
              </a:rPr>
              <a:t>双字线</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a:t>
            </a:r>
            <a:r>
              <a:rPr lang="en-US" altLang="zh-CN" sz="2400">
                <a:latin typeface="Times New Roman" panose="02020603050405020304" pitchFamily="18" charset="0"/>
                <a:ea typeface="楷体" panose="02010609060101010101" charset="-122"/>
                <a:cs typeface="Times New Roman" panose="02020603050405020304" pitchFamily="18" charset="0"/>
              </a:rPr>
              <a:t>B—XX”</a:t>
            </a:r>
            <a:r>
              <a:rPr lang="zh-CN" altLang="en-US" sz="2400">
                <a:latin typeface="Times New Roman" panose="02020603050405020304" pitchFamily="18" charset="0"/>
                <a:ea typeface="楷体" panose="02010609060101010101" charset="-122"/>
                <a:cs typeface="Times New Roman" panose="02020603050405020304" pitchFamily="18" charset="0"/>
              </a:rPr>
              <a:t>，当说明较多时，则另起行顶格写“式中</a:t>
            </a:r>
            <a:r>
              <a:rPr lang="en-US" altLang="zh-CN" sz="2400">
                <a:latin typeface="Times New Roman" panose="02020603050405020304" pitchFamily="18" charset="0"/>
                <a:ea typeface="楷体" panose="02010609060101010101" charset="-122"/>
                <a:cs typeface="Times New Roman" panose="02020603050405020304" pitchFamily="18" charset="0"/>
              </a:rPr>
              <a:t>A—XX  ”</a:t>
            </a:r>
            <a:r>
              <a:rPr lang="zh-CN" altLang="en-US" sz="2400">
                <a:latin typeface="Times New Roman" panose="02020603050405020304" pitchFamily="18" charset="0"/>
                <a:ea typeface="楷体" panose="02010609060101010101" charset="-122"/>
                <a:cs typeface="Times New Roman" panose="02020603050405020304" pitchFamily="18" charset="0"/>
              </a:rPr>
              <a:t>；回行与</a:t>
            </a:r>
            <a:r>
              <a:rPr lang="en-US" altLang="zh-CN" sz="2400">
                <a:latin typeface="Times New Roman" panose="02020603050405020304" pitchFamily="18" charset="0"/>
                <a:ea typeface="楷体" panose="02010609060101010101" charset="-122"/>
                <a:cs typeface="Times New Roman" panose="02020603050405020304" pitchFamily="18" charset="0"/>
              </a:rPr>
              <a:t>A</a:t>
            </a:r>
            <a:r>
              <a:rPr lang="zh-CN" altLang="en-US" sz="2400">
                <a:latin typeface="Times New Roman" panose="02020603050405020304" pitchFamily="18" charset="0"/>
                <a:ea typeface="楷体" panose="02010609060101010101" charset="-122"/>
                <a:cs typeface="Times New Roman" panose="02020603050405020304" pitchFamily="18" charset="0"/>
              </a:rPr>
              <a:t>对齐写“</a:t>
            </a:r>
            <a:r>
              <a:rPr lang="en-US" altLang="zh-CN" sz="2400">
                <a:latin typeface="Times New Roman" panose="02020603050405020304" pitchFamily="18" charset="0"/>
                <a:ea typeface="楷体" panose="02010609060101010101" charset="-122"/>
                <a:cs typeface="Times New Roman" panose="02020603050405020304" pitchFamily="18" charset="0"/>
              </a:rPr>
              <a:t>B—XX”</a:t>
            </a:r>
            <a:r>
              <a:rPr lang="zh-CN" altLang="en-US" sz="2400">
                <a:latin typeface="Times New Roman" panose="02020603050405020304" pitchFamily="18" charset="0"/>
                <a:ea typeface="楷体" panose="02010609060101010101" charset="-122"/>
                <a:cs typeface="Times New Roman" panose="02020603050405020304" pitchFamily="18" charset="0"/>
              </a:rPr>
              <a:t>；</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150000"/>
              </a:lnSpc>
            </a:pPr>
            <a:r>
              <a:rPr lang="zh-CN" altLang="en-US" sz="2400">
                <a:latin typeface="Times New Roman" panose="02020603050405020304" pitchFamily="18" charset="0"/>
                <a:ea typeface="楷体" panose="02010609060101010101" charset="-122"/>
                <a:cs typeface="Times New Roman" panose="02020603050405020304" pitchFamily="18" charset="0"/>
              </a:rPr>
              <a:t>公式中矩阵要居中，且行列上下左右对齐；</a:t>
            </a:r>
            <a:endParaRPr lang="zh-CN" altLang="en-US" sz="2400">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7" name="文本占位符 41986"/>
          <p:cNvSpPr>
            <a:spLocks noGrp="1" noRot="1"/>
          </p:cNvSpPr>
          <p:nvPr>
            <p:ph type="body" idx="1"/>
          </p:nvPr>
        </p:nvSpPr>
        <p:spPr>
          <a:xfrm>
            <a:off x="525145" y="816610"/>
            <a:ext cx="11449050" cy="5250815"/>
          </a:xfrm>
        </p:spPr>
        <p:txBody>
          <a:bodyPr/>
          <a:p>
            <a:pPr>
              <a:lnSpc>
                <a:spcPct val="120000"/>
              </a:lnSpc>
              <a:buNone/>
            </a:pPr>
            <a:r>
              <a:rPr lang="en-US" altLang="zh-CN" u="sng">
                <a:solidFill>
                  <a:srgbClr val="FF0000"/>
                </a:solidFill>
                <a:latin typeface="Times New Roman" panose="02020603050405020304" pitchFamily="18" charset="0"/>
                <a:ea typeface="楷体" panose="02010609060101010101" charset="-122"/>
                <a:cs typeface="Times New Roman" panose="02020603050405020304" pitchFamily="18" charset="0"/>
              </a:rPr>
              <a:t>4.1  </a:t>
            </a:r>
            <a:r>
              <a:rPr lang="zh-CN" altLang="en-US" u="sng">
                <a:solidFill>
                  <a:srgbClr val="FF0000"/>
                </a:solidFill>
                <a:latin typeface="Times New Roman" panose="02020603050405020304" pitchFamily="18" charset="0"/>
                <a:ea typeface="楷体" panose="02010609060101010101" charset="-122"/>
                <a:cs typeface="Times New Roman" panose="02020603050405020304" pitchFamily="18" charset="0"/>
              </a:rPr>
              <a:t>科技论文撰写格式：</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150000"/>
              </a:lnSpc>
            </a:pPr>
            <a:r>
              <a:rPr lang="zh-CN" altLang="en-US" sz="2400">
                <a:latin typeface="Times New Roman" panose="02020603050405020304" pitchFamily="18" charset="0"/>
                <a:ea typeface="楷体" panose="02010609060101010101" charset="-122"/>
                <a:cs typeface="Times New Roman" panose="02020603050405020304" pitchFamily="18" charset="0"/>
              </a:rPr>
              <a:t>一般物理量符号用斜体，如</a:t>
            </a:r>
            <a:r>
              <a:rPr lang="en-US" altLang="zh-CN" sz="2400" i="1">
                <a:latin typeface="Times New Roman" panose="02020603050405020304" pitchFamily="18" charset="0"/>
                <a:ea typeface="楷体" panose="02010609060101010101" charset="-122"/>
                <a:cs typeface="Times New Roman" panose="02020603050405020304" pitchFamily="18" charset="0"/>
              </a:rPr>
              <a:t>f</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en-US" altLang="zh-CN" sz="2400" i="1">
                <a:latin typeface="Times New Roman" panose="02020603050405020304" pitchFamily="18" charset="0"/>
                <a:ea typeface="楷体" panose="02010609060101010101" charset="-122"/>
                <a:cs typeface="Times New Roman" panose="02020603050405020304" pitchFamily="18" charset="0"/>
              </a:rPr>
              <a:t>x</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150000"/>
              </a:lnSpc>
            </a:pPr>
            <a:r>
              <a:rPr lang="zh-CN" altLang="en-US" sz="2400">
                <a:latin typeface="Times New Roman" panose="02020603050405020304" pitchFamily="18" charset="0"/>
                <a:ea typeface="楷体" panose="02010609060101010101" charset="-122"/>
                <a:cs typeface="Times New Roman" panose="02020603050405020304" pitchFamily="18" charset="0"/>
              </a:rPr>
              <a:t>矢量、张量、矩阵符号一律用黑斜体；</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150000"/>
              </a:lnSpc>
            </a:pPr>
            <a:r>
              <a:rPr lang="zh-CN" altLang="en-US" sz="2400">
                <a:latin typeface="Times New Roman" panose="02020603050405020304" pitchFamily="18" charset="0"/>
                <a:ea typeface="楷体" panose="02010609060101010101" charset="-122"/>
                <a:cs typeface="Times New Roman" panose="02020603050405020304" pitchFamily="18" charset="0"/>
              </a:rPr>
              <a:t>计量单位符号、三角函数、公式中的缩写字符、温标符号、数值等一律用正体；</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150000"/>
              </a:lnSpc>
            </a:pPr>
            <a:r>
              <a:rPr lang="zh-CN" altLang="en-US" sz="2400">
                <a:latin typeface="Times New Roman" panose="02020603050405020304" pitchFamily="18" charset="0"/>
                <a:ea typeface="楷体" panose="02010609060101010101" charset="-122"/>
                <a:cs typeface="Times New Roman" panose="02020603050405020304" pitchFamily="18" charset="0"/>
              </a:rPr>
              <a:t>使用法定计量单位，一律用符号表示，不用汉字；</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150000"/>
              </a:lnSpc>
            </a:pPr>
            <a:r>
              <a:rPr lang="zh-CN" altLang="en-US" sz="2400">
                <a:latin typeface="Times New Roman" panose="02020603050405020304" pitchFamily="18" charset="0"/>
                <a:ea typeface="楷体" panose="02010609060101010101" charset="-122"/>
                <a:cs typeface="Times New Roman" panose="02020603050405020304" pitchFamily="18" charset="0"/>
              </a:rPr>
              <a:t>下角标若为物理量一律用斜体；</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150000"/>
              </a:lnSpc>
            </a:pPr>
            <a:r>
              <a:rPr lang="zh-CN" altLang="en-US" sz="2400">
                <a:latin typeface="Times New Roman" panose="02020603050405020304" pitchFamily="18" charset="0"/>
                <a:ea typeface="楷体" panose="02010609060101010101" charset="-122"/>
                <a:cs typeface="Times New Roman" panose="02020603050405020304" pitchFamily="18" charset="0"/>
              </a:rPr>
              <a:t>拉丁、希腊文或人名缩写用正体；</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150000"/>
              </a:lnSpc>
            </a:pPr>
            <a:r>
              <a:rPr lang="zh-CN" altLang="en-US" sz="2400">
                <a:latin typeface="Times New Roman" panose="02020603050405020304" pitchFamily="18" charset="0"/>
                <a:ea typeface="楷体" panose="02010609060101010101" charset="-122"/>
                <a:cs typeface="Times New Roman" panose="02020603050405020304" pitchFamily="18" charset="0"/>
              </a:rPr>
              <a:t>物理量、技术术语和缩写全文统一，采用国际标准；</a:t>
            </a:r>
            <a:endParaRPr lang="zh-CN" altLang="en-US" sz="2400">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1" name="文本占位符 43010"/>
          <p:cNvSpPr>
            <a:spLocks noGrp="1" noRot="1"/>
          </p:cNvSpPr>
          <p:nvPr>
            <p:ph type="body" idx="1"/>
          </p:nvPr>
        </p:nvSpPr>
        <p:spPr>
          <a:xfrm>
            <a:off x="663575" y="835660"/>
            <a:ext cx="11235055" cy="5186680"/>
          </a:xfrm>
        </p:spPr>
        <p:txBody>
          <a:bodyPr/>
          <a:p>
            <a:pPr>
              <a:lnSpc>
                <a:spcPct val="120000"/>
              </a:lnSpc>
              <a:buNone/>
            </a:pPr>
            <a:r>
              <a:rPr lang="en-US" altLang="zh-CN" u="sng">
                <a:solidFill>
                  <a:srgbClr val="FF0000"/>
                </a:solidFill>
                <a:latin typeface="Times New Roman" panose="02020603050405020304" pitchFamily="18" charset="0"/>
                <a:ea typeface="楷体" panose="02010609060101010101" charset="-122"/>
                <a:cs typeface="Times New Roman" panose="02020603050405020304" pitchFamily="18" charset="0"/>
              </a:rPr>
              <a:t>4.2  GB/T 7714《</a:t>
            </a:r>
            <a:r>
              <a:rPr lang="zh-CN" altLang="en-US" u="sng">
                <a:solidFill>
                  <a:srgbClr val="FF0000"/>
                </a:solidFill>
                <a:latin typeface="Times New Roman" panose="02020603050405020304" pitchFamily="18" charset="0"/>
                <a:ea typeface="楷体" panose="02010609060101010101" charset="-122"/>
                <a:cs typeface="Times New Roman" panose="02020603050405020304" pitchFamily="18" charset="0"/>
              </a:rPr>
              <a:t>文后参考文献著录规则</a:t>
            </a:r>
            <a:r>
              <a:rPr lang="en-US" altLang="zh-CN" u="sng">
                <a:solidFill>
                  <a:srgbClr val="FF0000"/>
                </a:solidFill>
                <a:latin typeface="Times New Roman" panose="02020603050405020304" pitchFamily="18" charset="0"/>
                <a:ea typeface="楷体" panose="02010609060101010101" charset="-122"/>
                <a:cs typeface="Times New Roman" panose="02020603050405020304" pitchFamily="18" charset="0"/>
              </a:rPr>
              <a:t>》</a:t>
            </a:r>
            <a:endParaRPr lang="en-US" altLang="zh-CN" u="sng">
              <a:solidFill>
                <a:srgbClr val="FF0000"/>
              </a:solidFill>
              <a:latin typeface="Times New Roman" panose="02020603050405020304" pitchFamily="18" charset="0"/>
              <a:ea typeface="楷体" panose="02010609060101010101" charset="-122"/>
              <a:cs typeface="Times New Roman" panose="02020603050405020304" pitchFamily="18" charset="0"/>
            </a:endParaRPr>
          </a:p>
          <a:p>
            <a:pPr>
              <a:lnSpc>
                <a:spcPct val="160000"/>
              </a:lnSpc>
            </a:pPr>
            <a:r>
              <a:rPr lang="zh-CN" altLang="en-US" sz="2400">
                <a:latin typeface="Times New Roman" panose="02020603050405020304" pitchFamily="18" charset="0"/>
                <a:ea typeface="楷体" panose="02010609060101010101" charset="-122"/>
                <a:cs typeface="Times New Roman" panose="02020603050405020304" pitchFamily="18" charset="0"/>
              </a:rPr>
              <a:t>专著、论文集、学位论文、报告</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16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    </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序号</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主要作者．文献题名．出版地：出版社，出版年．起止页码．</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160000"/>
              </a:lnSpc>
            </a:pPr>
            <a:r>
              <a:rPr lang="zh-CN" altLang="en-US" sz="2400">
                <a:latin typeface="Times New Roman" panose="02020603050405020304" pitchFamily="18" charset="0"/>
                <a:ea typeface="楷体" panose="02010609060101010101" charset="-122"/>
                <a:cs typeface="Times New Roman" panose="02020603050405020304" pitchFamily="18" charset="0"/>
              </a:rPr>
              <a:t>期刊文章</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16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    </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序号</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主要作者．文献题名．刊名，年，卷</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期</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：起止页码．</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160000"/>
              </a:lnSpc>
            </a:pPr>
            <a:r>
              <a:rPr lang="zh-CN" altLang="en-US" sz="2400">
                <a:latin typeface="Times New Roman" panose="02020603050405020304" pitchFamily="18" charset="0"/>
                <a:ea typeface="楷体" panose="02010609060101010101" charset="-122"/>
                <a:cs typeface="Times New Roman" panose="02020603050405020304" pitchFamily="18" charset="0"/>
              </a:rPr>
              <a:t>参考文献中的作者是英语拼写的，姓在前，名在后。参考文献在正文中应标注相应的引用位置，在引文后的右上角用方括号标出。</a:t>
            </a:r>
            <a:endParaRPr lang="zh-CN" altLang="en-US" sz="2400">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5" name="文本占位符 44034"/>
          <p:cNvSpPr>
            <a:spLocks noGrp="1" noRot="1"/>
          </p:cNvSpPr>
          <p:nvPr>
            <p:ph type="body" idx="1"/>
          </p:nvPr>
        </p:nvSpPr>
        <p:spPr>
          <a:xfrm>
            <a:off x="1205865" y="1304925"/>
            <a:ext cx="4191635" cy="4248150"/>
          </a:xfrm>
        </p:spPr>
        <p:txBody>
          <a:bodyPr/>
          <a:p>
            <a:pPr marL="10160" indent="0">
              <a:lnSpc>
                <a:spcPct val="80000"/>
              </a:lnSpc>
              <a:buNone/>
            </a:pPr>
            <a:r>
              <a:rPr lang="en-US" altLang="zh-CN" u="sng">
                <a:solidFill>
                  <a:srgbClr val="FF0000"/>
                </a:solidFill>
                <a:latin typeface="Times New Roman" panose="02020603050405020304" pitchFamily="18" charset="0"/>
                <a:ea typeface="楷体" panose="02010609060101010101" charset="-122"/>
                <a:cs typeface="Times New Roman" panose="02020603050405020304" pitchFamily="18" charset="0"/>
              </a:rPr>
              <a:t>4.3  </a:t>
            </a:r>
            <a:r>
              <a:rPr lang="zh-CN" altLang="en-US" u="sng">
                <a:solidFill>
                  <a:srgbClr val="FF0000"/>
                </a:solidFill>
                <a:latin typeface="Times New Roman" panose="02020603050405020304" pitchFamily="18" charset="0"/>
                <a:ea typeface="楷体" panose="02010609060101010101" charset="-122"/>
                <a:cs typeface="Times New Roman" panose="02020603050405020304" pitchFamily="18" charset="0"/>
              </a:rPr>
              <a:t>文献类型和标志代码</a:t>
            </a:r>
            <a:r>
              <a:rPr lang="zh-CN" altLang="en-US" sz="2400">
                <a:latin typeface="Times New Roman" panose="02020603050405020304" pitchFamily="18" charset="0"/>
                <a:ea typeface="楷体" panose="02010609060101010101" charset="-122"/>
                <a:cs typeface="Times New Roman" panose="02020603050405020304" pitchFamily="18" charset="0"/>
              </a:rPr>
              <a:t> </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marL="353060">
              <a:lnSpc>
                <a:spcPct val="90000"/>
              </a:lnSpc>
            </a:pPr>
            <a:r>
              <a:rPr lang="zh-CN" altLang="en-US" sz="2400">
                <a:latin typeface="Times New Roman" panose="02020603050405020304" pitchFamily="18" charset="0"/>
                <a:ea typeface="楷体" panose="02010609060101010101" charset="-122"/>
                <a:cs typeface="Times New Roman" panose="02020603050405020304" pitchFamily="18" charset="0"/>
              </a:rPr>
              <a:t>普通图书    </a:t>
            </a:r>
            <a:r>
              <a:rPr lang="en-US" altLang="zh-CN" sz="2400">
                <a:latin typeface="Times New Roman" panose="02020603050405020304" pitchFamily="18" charset="0"/>
                <a:ea typeface="楷体" panose="02010609060101010101" charset="-122"/>
                <a:cs typeface="Times New Roman" panose="02020603050405020304" pitchFamily="18" charset="0"/>
              </a:rPr>
              <a:t>M</a:t>
            </a:r>
            <a:endParaRPr lang="en-US" altLang="zh-CN" sz="2400">
              <a:latin typeface="Times New Roman" panose="02020603050405020304" pitchFamily="18" charset="0"/>
              <a:ea typeface="楷体" panose="02010609060101010101" charset="-122"/>
              <a:cs typeface="Times New Roman" panose="02020603050405020304" pitchFamily="18" charset="0"/>
            </a:endParaRPr>
          </a:p>
          <a:p>
            <a:pPr marL="353060">
              <a:lnSpc>
                <a:spcPct val="90000"/>
              </a:lnSpc>
            </a:pPr>
            <a:r>
              <a:rPr lang="zh-CN" altLang="en-US" sz="2400">
                <a:latin typeface="Times New Roman" panose="02020603050405020304" pitchFamily="18" charset="0"/>
                <a:ea typeface="楷体" panose="02010609060101010101" charset="-122"/>
                <a:cs typeface="Times New Roman" panose="02020603050405020304" pitchFamily="18" charset="0"/>
              </a:rPr>
              <a:t>会议录         </a:t>
            </a:r>
            <a:r>
              <a:rPr lang="en-US" altLang="zh-CN" sz="2400">
                <a:latin typeface="Times New Roman" panose="02020603050405020304" pitchFamily="18" charset="0"/>
                <a:ea typeface="楷体" panose="02010609060101010101" charset="-122"/>
                <a:cs typeface="Times New Roman" panose="02020603050405020304" pitchFamily="18" charset="0"/>
              </a:rPr>
              <a:t>C</a:t>
            </a:r>
            <a:endParaRPr lang="en-US" altLang="zh-CN" sz="2400">
              <a:latin typeface="Times New Roman" panose="02020603050405020304" pitchFamily="18" charset="0"/>
              <a:ea typeface="楷体" panose="02010609060101010101" charset="-122"/>
              <a:cs typeface="Times New Roman" panose="02020603050405020304" pitchFamily="18" charset="0"/>
            </a:endParaRPr>
          </a:p>
          <a:p>
            <a:pPr marL="353060">
              <a:lnSpc>
                <a:spcPct val="90000"/>
              </a:lnSpc>
            </a:pPr>
            <a:r>
              <a:rPr lang="zh-CN" altLang="en-US" sz="2400">
                <a:latin typeface="Times New Roman" panose="02020603050405020304" pitchFamily="18" charset="0"/>
                <a:ea typeface="楷体" panose="02010609060101010101" charset="-122"/>
                <a:cs typeface="Times New Roman" panose="02020603050405020304" pitchFamily="18" charset="0"/>
              </a:rPr>
              <a:t>汇编             </a:t>
            </a:r>
            <a:r>
              <a:rPr lang="en-US" altLang="zh-CN" sz="2400">
                <a:latin typeface="Times New Roman" panose="02020603050405020304" pitchFamily="18" charset="0"/>
                <a:ea typeface="楷体" panose="02010609060101010101" charset="-122"/>
                <a:cs typeface="Times New Roman" panose="02020603050405020304" pitchFamily="18" charset="0"/>
              </a:rPr>
              <a:t>O</a:t>
            </a:r>
            <a:endParaRPr lang="en-US" altLang="zh-CN" sz="2400">
              <a:latin typeface="Times New Roman" panose="02020603050405020304" pitchFamily="18" charset="0"/>
              <a:ea typeface="楷体" panose="02010609060101010101" charset="-122"/>
              <a:cs typeface="Times New Roman" panose="02020603050405020304" pitchFamily="18" charset="0"/>
            </a:endParaRPr>
          </a:p>
          <a:p>
            <a:pPr marL="353060">
              <a:lnSpc>
                <a:spcPct val="90000"/>
              </a:lnSpc>
            </a:pPr>
            <a:r>
              <a:rPr lang="zh-CN" altLang="en-US" sz="2400">
                <a:latin typeface="Times New Roman" panose="02020603050405020304" pitchFamily="18" charset="0"/>
                <a:ea typeface="楷体" panose="02010609060101010101" charset="-122"/>
                <a:cs typeface="Times New Roman" panose="02020603050405020304" pitchFamily="18" charset="0"/>
              </a:rPr>
              <a:t>报纸             </a:t>
            </a:r>
            <a:r>
              <a:rPr lang="en-US" altLang="zh-CN" sz="2400">
                <a:latin typeface="Times New Roman" panose="02020603050405020304" pitchFamily="18" charset="0"/>
                <a:ea typeface="楷体" panose="02010609060101010101" charset="-122"/>
                <a:cs typeface="Times New Roman" panose="02020603050405020304" pitchFamily="18" charset="0"/>
              </a:rPr>
              <a:t>N</a:t>
            </a:r>
            <a:endParaRPr lang="en-US" altLang="zh-CN" sz="2400">
              <a:latin typeface="Times New Roman" panose="02020603050405020304" pitchFamily="18" charset="0"/>
              <a:ea typeface="楷体" panose="02010609060101010101" charset="-122"/>
              <a:cs typeface="Times New Roman" panose="02020603050405020304" pitchFamily="18" charset="0"/>
            </a:endParaRPr>
          </a:p>
          <a:p>
            <a:pPr marL="353060">
              <a:lnSpc>
                <a:spcPct val="90000"/>
              </a:lnSpc>
            </a:pPr>
            <a:r>
              <a:rPr lang="zh-CN" altLang="en-US" sz="2400">
                <a:latin typeface="Times New Roman" panose="02020603050405020304" pitchFamily="18" charset="0"/>
                <a:ea typeface="楷体" panose="02010609060101010101" charset="-122"/>
                <a:cs typeface="Times New Roman" panose="02020603050405020304" pitchFamily="18" charset="0"/>
              </a:rPr>
              <a:t>期刊             </a:t>
            </a:r>
            <a:r>
              <a:rPr lang="en-US" altLang="zh-CN" sz="2400">
                <a:latin typeface="Times New Roman" panose="02020603050405020304" pitchFamily="18" charset="0"/>
                <a:ea typeface="楷体" panose="02010609060101010101" charset="-122"/>
                <a:cs typeface="Times New Roman" panose="02020603050405020304" pitchFamily="18" charset="0"/>
              </a:rPr>
              <a:t>J</a:t>
            </a:r>
            <a:endParaRPr lang="en-US" altLang="zh-CN" sz="2400">
              <a:latin typeface="Times New Roman" panose="02020603050405020304" pitchFamily="18" charset="0"/>
              <a:ea typeface="楷体" panose="02010609060101010101" charset="-122"/>
              <a:cs typeface="Times New Roman" panose="02020603050405020304" pitchFamily="18" charset="0"/>
            </a:endParaRPr>
          </a:p>
          <a:p>
            <a:pPr marL="353060">
              <a:lnSpc>
                <a:spcPct val="90000"/>
              </a:lnSpc>
            </a:pPr>
            <a:r>
              <a:rPr lang="zh-CN" altLang="en-US" sz="2400">
                <a:latin typeface="Times New Roman" panose="02020603050405020304" pitchFamily="18" charset="0"/>
                <a:ea typeface="楷体" panose="02010609060101010101" charset="-122"/>
                <a:cs typeface="Times New Roman" panose="02020603050405020304" pitchFamily="18" charset="0"/>
              </a:rPr>
              <a:t>学位论文     </a:t>
            </a:r>
            <a:r>
              <a:rPr lang="en-US" altLang="zh-CN" sz="2400">
                <a:latin typeface="Times New Roman" panose="02020603050405020304" pitchFamily="18" charset="0"/>
                <a:ea typeface="楷体" panose="02010609060101010101" charset="-122"/>
                <a:cs typeface="Times New Roman" panose="02020603050405020304" pitchFamily="18" charset="0"/>
              </a:rPr>
              <a:t>D</a:t>
            </a:r>
            <a:endParaRPr lang="en-US" altLang="zh-CN" sz="2400">
              <a:latin typeface="Times New Roman" panose="02020603050405020304" pitchFamily="18" charset="0"/>
              <a:ea typeface="楷体" panose="02010609060101010101" charset="-122"/>
              <a:cs typeface="Times New Roman" panose="02020603050405020304" pitchFamily="18" charset="0"/>
            </a:endParaRPr>
          </a:p>
          <a:p>
            <a:pPr marL="353060">
              <a:lnSpc>
                <a:spcPct val="90000"/>
              </a:lnSpc>
            </a:pPr>
            <a:r>
              <a:rPr lang="zh-CN" altLang="en-US" sz="2400">
                <a:latin typeface="Times New Roman" panose="02020603050405020304" pitchFamily="18" charset="0"/>
                <a:ea typeface="楷体" panose="02010609060101010101" charset="-122"/>
                <a:cs typeface="Times New Roman" panose="02020603050405020304" pitchFamily="18" charset="0"/>
              </a:rPr>
              <a:t>报告             </a:t>
            </a:r>
            <a:r>
              <a:rPr lang="en-US" altLang="zh-CN" sz="2400">
                <a:latin typeface="Times New Roman" panose="02020603050405020304" pitchFamily="18" charset="0"/>
                <a:ea typeface="楷体" panose="02010609060101010101" charset="-122"/>
                <a:cs typeface="Times New Roman" panose="02020603050405020304" pitchFamily="18" charset="0"/>
              </a:rPr>
              <a:t>R</a:t>
            </a:r>
            <a:endParaRPr lang="en-US" altLang="zh-CN" sz="2400">
              <a:latin typeface="Times New Roman" panose="02020603050405020304" pitchFamily="18" charset="0"/>
              <a:ea typeface="楷体" panose="02010609060101010101" charset="-122"/>
              <a:cs typeface="Times New Roman" panose="02020603050405020304" pitchFamily="18" charset="0"/>
            </a:endParaRPr>
          </a:p>
          <a:p>
            <a:pPr marL="353060">
              <a:lnSpc>
                <a:spcPct val="90000"/>
              </a:lnSpc>
            </a:pPr>
            <a:r>
              <a:rPr lang="zh-CN" altLang="en-US" sz="2400">
                <a:latin typeface="Times New Roman" panose="02020603050405020304" pitchFamily="18" charset="0"/>
                <a:ea typeface="楷体" panose="02010609060101010101" charset="-122"/>
                <a:cs typeface="Times New Roman" panose="02020603050405020304" pitchFamily="18" charset="0"/>
              </a:rPr>
              <a:t>标准             </a:t>
            </a:r>
            <a:r>
              <a:rPr lang="en-US" altLang="zh-CN" sz="2400">
                <a:latin typeface="Times New Roman" panose="02020603050405020304" pitchFamily="18" charset="0"/>
                <a:ea typeface="楷体" panose="02010609060101010101" charset="-122"/>
                <a:cs typeface="Times New Roman" panose="02020603050405020304" pitchFamily="18" charset="0"/>
              </a:rPr>
              <a:t>S</a:t>
            </a:r>
            <a:endParaRPr lang="en-US" altLang="zh-CN" sz="2400">
              <a:latin typeface="Times New Roman" panose="02020603050405020304" pitchFamily="18" charset="0"/>
              <a:ea typeface="楷体" panose="02010609060101010101" charset="-122"/>
              <a:cs typeface="Times New Roman" panose="02020603050405020304" pitchFamily="18" charset="0"/>
            </a:endParaRPr>
          </a:p>
          <a:p>
            <a:pPr marL="353060">
              <a:lnSpc>
                <a:spcPct val="90000"/>
              </a:lnSpc>
            </a:pPr>
            <a:r>
              <a:rPr lang="zh-CN" altLang="en-US" sz="2400">
                <a:latin typeface="Times New Roman" panose="02020603050405020304" pitchFamily="18" charset="0"/>
                <a:ea typeface="楷体" panose="02010609060101010101" charset="-122"/>
                <a:cs typeface="Times New Roman" panose="02020603050405020304" pitchFamily="18" charset="0"/>
              </a:rPr>
              <a:t>专利             </a:t>
            </a:r>
            <a:r>
              <a:rPr lang="en-US" altLang="zh-CN" sz="2400">
                <a:latin typeface="Times New Roman" panose="02020603050405020304" pitchFamily="18" charset="0"/>
                <a:ea typeface="楷体" panose="02010609060101010101" charset="-122"/>
                <a:cs typeface="Times New Roman" panose="02020603050405020304" pitchFamily="18" charset="0"/>
              </a:rPr>
              <a:t>P</a:t>
            </a:r>
            <a:endParaRPr lang="en-US" altLang="zh-CN" sz="2400">
              <a:latin typeface="Times New Roman" panose="02020603050405020304" pitchFamily="18" charset="0"/>
              <a:ea typeface="楷体" panose="02010609060101010101" charset="-122"/>
              <a:cs typeface="Times New Roman" panose="02020603050405020304" pitchFamily="18" charset="0"/>
            </a:endParaRPr>
          </a:p>
          <a:p>
            <a:pPr marL="353060">
              <a:lnSpc>
                <a:spcPct val="80000"/>
              </a:lnSpc>
              <a:buNone/>
            </a:pPr>
            <a:r>
              <a:rPr lang="en-US" altLang="zh-CN" sz="2400">
                <a:latin typeface="Times New Roman" panose="02020603050405020304" pitchFamily="18" charset="0"/>
                <a:ea typeface="楷体" panose="02010609060101010101" charset="-122"/>
                <a:cs typeface="Times New Roman" panose="02020603050405020304" pitchFamily="18" charset="0"/>
              </a:rPr>
              <a:t>    </a:t>
            </a:r>
            <a:endParaRPr lang="en-US" altLang="zh-CN" sz="2400">
              <a:latin typeface="Times New Roman" panose="02020603050405020304" pitchFamily="18" charset="0"/>
              <a:ea typeface="楷体" panose="02010609060101010101" charset="-122"/>
              <a:cs typeface="Times New Roman" panose="02020603050405020304" pitchFamily="18" charset="0"/>
            </a:endParaRPr>
          </a:p>
        </p:txBody>
      </p:sp>
      <p:sp>
        <p:nvSpPr>
          <p:cNvPr id="44036" name="文本框 44035"/>
          <p:cNvSpPr txBox="1"/>
          <p:nvPr/>
        </p:nvSpPr>
        <p:spPr>
          <a:xfrm>
            <a:off x="6663690" y="1917700"/>
            <a:ext cx="3197225" cy="3635375"/>
          </a:xfrm>
          <a:prstGeom prst="rect">
            <a:avLst/>
          </a:prstGeom>
          <a:noFill/>
          <a:ln w="9525">
            <a:noFill/>
          </a:ln>
          <a:scene3d>
            <a:camera prst="legacyObliqueTopRight">
              <a:rot lat="0" lon="0" rev="0"/>
            </a:camera>
            <a:lightRig rig="legacyFlat3" dir="b"/>
          </a:scene3d>
          <a:sp3d extrusionH="430200" prstMaterial="legacyMatte">
            <a:bevelT w="13500" h="13500" prst="angle"/>
            <a:bevelB w="13500" h="13500" prst="angle"/>
          </a:sp3d>
        </p:spPr>
        <p:txBody>
          <a:bodyPr wrap="square">
            <a:spAutoFit/>
            <a:flatTx/>
          </a:bodyPr>
          <a:p>
            <a:pPr marL="342900" indent="-342900">
              <a:lnSpc>
                <a:spcPct val="120000"/>
              </a:lnSpc>
              <a:spcBef>
                <a:spcPct val="20000"/>
              </a:spcBef>
              <a:buClr>
                <a:schemeClr val="hlink"/>
              </a:buClr>
              <a:buSzPct val="70000"/>
              <a:buFont typeface="Wingdings" panose="05000000000000000000" charset="0"/>
              <a:buChar char="p"/>
            </a:pPr>
            <a:r>
              <a:rPr lang="zh-CN" altLang="en-US" sz="2400">
                <a:latin typeface="Times New Roman" panose="02020603050405020304" pitchFamily="18" charset="0"/>
                <a:ea typeface="楷体" panose="02010609060101010101" charset="-122"/>
                <a:cs typeface="Times New Roman" panose="02020603050405020304" pitchFamily="18" charset="0"/>
              </a:rPr>
              <a:t>数据库            </a:t>
            </a:r>
            <a:r>
              <a:rPr lang="en-US" altLang="zh-CN" sz="2400">
                <a:latin typeface="Times New Roman" panose="02020603050405020304" pitchFamily="18" charset="0"/>
                <a:ea typeface="楷体" panose="02010609060101010101" charset="-122"/>
                <a:cs typeface="Times New Roman" panose="02020603050405020304" pitchFamily="18" charset="0"/>
              </a:rPr>
              <a:t>DB</a:t>
            </a:r>
            <a:endParaRPr lang="en-US" altLang="zh-CN" sz="2400">
              <a:latin typeface="Times New Roman" panose="02020603050405020304" pitchFamily="18" charset="0"/>
              <a:ea typeface="楷体" panose="02010609060101010101" charset="-122"/>
              <a:cs typeface="Times New Roman" panose="02020603050405020304" pitchFamily="18" charset="0"/>
            </a:endParaRPr>
          </a:p>
          <a:p>
            <a:pPr marL="342900" indent="-342900">
              <a:lnSpc>
                <a:spcPct val="120000"/>
              </a:lnSpc>
              <a:spcBef>
                <a:spcPct val="20000"/>
              </a:spcBef>
              <a:buClr>
                <a:schemeClr val="hlink"/>
              </a:buClr>
              <a:buSzPct val="70000"/>
              <a:buFont typeface="Wingdings" panose="05000000000000000000" charset="0"/>
              <a:buChar char="p"/>
            </a:pPr>
            <a:r>
              <a:rPr lang="zh-CN" altLang="en-US" sz="2400">
                <a:latin typeface="Times New Roman" panose="02020603050405020304" pitchFamily="18" charset="0"/>
                <a:ea typeface="楷体" panose="02010609060101010101" charset="-122"/>
                <a:cs typeface="Times New Roman" panose="02020603050405020304" pitchFamily="18" charset="0"/>
              </a:rPr>
              <a:t>计算机程序    </a:t>
            </a:r>
            <a:r>
              <a:rPr lang="en-US" altLang="zh-CN" sz="2400">
                <a:latin typeface="Times New Roman" panose="02020603050405020304" pitchFamily="18" charset="0"/>
                <a:ea typeface="楷体" panose="02010609060101010101" charset="-122"/>
                <a:cs typeface="Times New Roman" panose="02020603050405020304" pitchFamily="18" charset="0"/>
              </a:rPr>
              <a:t>CP</a:t>
            </a:r>
            <a:endParaRPr lang="en-US" altLang="zh-CN" sz="2400">
              <a:latin typeface="Times New Roman" panose="02020603050405020304" pitchFamily="18" charset="0"/>
              <a:ea typeface="楷体" panose="02010609060101010101" charset="-122"/>
              <a:cs typeface="Times New Roman" panose="02020603050405020304" pitchFamily="18" charset="0"/>
            </a:endParaRPr>
          </a:p>
          <a:p>
            <a:pPr marL="342900" indent="-342900">
              <a:lnSpc>
                <a:spcPct val="120000"/>
              </a:lnSpc>
              <a:spcBef>
                <a:spcPct val="20000"/>
              </a:spcBef>
              <a:buClr>
                <a:schemeClr val="hlink"/>
              </a:buClr>
              <a:buSzPct val="70000"/>
              <a:buFont typeface="Wingdings" panose="05000000000000000000" charset="0"/>
              <a:buChar char="p"/>
            </a:pPr>
            <a:r>
              <a:rPr lang="zh-CN" altLang="en-US" sz="2400">
                <a:latin typeface="Times New Roman" panose="02020603050405020304" pitchFamily="18" charset="0"/>
                <a:ea typeface="楷体" panose="02010609060101010101" charset="-122"/>
                <a:cs typeface="Times New Roman" panose="02020603050405020304" pitchFamily="18" charset="0"/>
              </a:rPr>
              <a:t>电子公告        </a:t>
            </a:r>
            <a:r>
              <a:rPr lang="en-US" altLang="zh-CN" sz="2400">
                <a:latin typeface="Times New Roman" panose="02020603050405020304" pitchFamily="18" charset="0"/>
                <a:ea typeface="楷体" panose="02010609060101010101" charset="-122"/>
                <a:cs typeface="Times New Roman" panose="02020603050405020304" pitchFamily="18" charset="0"/>
              </a:rPr>
              <a:t>PB</a:t>
            </a:r>
            <a:endParaRPr lang="en-US" altLang="zh-CN" sz="2400">
              <a:latin typeface="Times New Roman" panose="02020603050405020304" pitchFamily="18" charset="0"/>
              <a:ea typeface="楷体" panose="02010609060101010101" charset="-122"/>
              <a:cs typeface="Times New Roman" panose="02020603050405020304" pitchFamily="18" charset="0"/>
            </a:endParaRPr>
          </a:p>
          <a:p>
            <a:pPr marL="342900" indent="-342900">
              <a:lnSpc>
                <a:spcPct val="120000"/>
              </a:lnSpc>
              <a:spcBef>
                <a:spcPct val="20000"/>
              </a:spcBef>
              <a:buClr>
                <a:schemeClr val="hlink"/>
              </a:buClr>
              <a:buSzPct val="70000"/>
              <a:buFont typeface="Wingdings" panose="05000000000000000000" charset="0"/>
              <a:buChar char="p"/>
            </a:pPr>
            <a:r>
              <a:rPr lang="zh-CN" altLang="en-US" sz="2400">
                <a:latin typeface="Times New Roman" panose="02020603050405020304" pitchFamily="18" charset="0"/>
                <a:ea typeface="楷体" panose="02010609060101010101" charset="-122"/>
                <a:cs typeface="Times New Roman" panose="02020603050405020304" pitchFamily="18" charset="0"/>
              </a:rPr>
              <a:t>磁带               </a:t>
            </a:r>
            <a:r>
              <a:rPr lang="en-US" altLang="zh-CN" sz="2400">
                <a:latin typeface="Times New Roman" panose="02020603050405020304" pitchFamily="18" charset="0"/>
                <a:ea typeface="楷体" panose="02010609060101010101" charset="-122"/>
                <a:cs typeface="Times New Roman" panose="02020603050405020304" pitchFamily="18" charset="0"/>
              </a:rPr>
              <a:t>MT</a:t>
            </a:r>
            <a:endParaRPr lang="en-US" altLang="zh-CN" sz="2400">
              <a:latin typeface="Times New Roman" panose="02020603050405020304" pitchFamily="18" charset="0"/>
              <a:ea typeface="楷体" panose="02010609060101010101" charset="-122"/>
              <a:cs typeface="Times New Roman" panose="02020603050405020304" pitchFamily="18" charset="0"/>
            </a:endParaRPr>
          </a:p>
          <a:p>
            <a:pPr marL="342900" indent="-342900">
              <a:lnSpc>
                <a:spcPct val="120000"/>
              </a:lnSpc>
              <a:spcBef>
                <a:spcPct val="20000"/>
              </a:spcBef>
              <a:buClr>
                <a:schemeClr val="hlink"/>
              </a:buClr>
              <a:buSzPct val="70000"/>
              <a:buFont typeface="Wingdings" panose="05000000000000000000" charset="0"/>
              <a:buChar char="p"/>
            </a:pPr>
            <a:r>
              <a:rPr lang="zh-CN" altLang="en-US" sz="2400">
                <a:latin typeface="Times New Roman" panose="02020603050405020304" pitchFamily="18" charset="0"/>
                <a:ea typeface="楷体" panose="02010609060101010101" charset="-122"/>
                <a:cs typeface="Times New Roman" panose="02020603050405020304" pitchFamily="18" charset="0"/>
              </a:rPr>
              <a:t>磁盘               </a:t>
            </a:r>
            <a:r>
              <a:rPr lang="en-US" altLang="zh-CN" sz="2400">
                <a:latin typeface="Times New Roman" panose="02020603050405020304" pitchFamily="18" charset="0"/>
                <a:ea typeface="楷体" panose="02010609060101010101" charset="-122"/>
                <a:cs typeface="Times New Roman" panose="02020603050405020304" pitchFamily="18" charset="0"/>
              </a:rPr>
              <a:t>DK</a:t>
            </a:r>
            <a:endParaRPr lang="en-US" altLang="zh-CN" sz="2400">
              <a:latin typeface="Times New Roman" panose="02020603050405020304" pitchFamily="18" charset="0"/>
              <a:ea typeface="楷体" panose="02010609060101010101" charset="-122"/>
              <a:cs typeface="Times New Roman" panose="02020603050405020304" pitchFamily="18" charset="0"/>
            </a:endParaRPr>
          </a:p>
          <a:p>
            <a:pPr marL="342900" indent="-342900">
              <a:lnSpc>
                <a:spcPct val="120000"/>
              </a:lnSpc>
              <a:spcBef>
                <a:spcPct val="20000"/>
              </a:spcBef>
              <a:buClr>
                <a:schemeClr val="hlink"/>
              </a:buClr>
              <a:buSzPct val="70000"/>
              <a:buFont typeface="Wingdings" panose="05000000000000000000" charset="0"/>
              <a:buChar char="p"/>
            </a:pPr>
            <a:r>
              <a:rPr lang="zh-CN" altLang="en-US" sz="2400">
                <a:latin typeface="Times New Roman" panose="02020603050405020304" pitchFamily="18" charset="0"/>
                <a:ea typeface="楷体" panose="02010609060101010101" charset="-122"/>
                <a:cs typeface="Times New Roman" panose="02020603050405020304" pitchFamily="18" charset="0"/>
              </a:rPr>
              <a:t>光盘               </a:t>
            </a:r>
            <a:r>
              <a:rPr lang="en-US" altLang="zh-CN" sz="2400">
                <a:latin typeface="Times New Roman" panose="02020603050405020304" pitchFamily="18" charset="0"/>
                <a:ea typeface="楷体" panose="02010609060101010101" charset="-122"/>
                <a:cs typeface="Times New Roman" panose="02020603050405020304" pitchFamily="18" charset="0"/>
              </a:rPr>
              <a:t>CD</a:t>
            </a:r>
            <a:endParaRPr lang="en-US" altLang="zh-CN" sz="2400">
              <a:latin typeface="Times New Roman" panose="02020603050405020304" pitchFamily="18" charset="0"/>
              <a:ea typeface="楷体" panose="02010609060101010101" charset="-122"/>
              <a:cs typeface="Times New Roman" panose="02020603050405020304" pitchFamily="18" charset="0"/>
            </a:endParaRPr>
          </a:p>
          <a:p>
            <a:pPr marL="342900" indent="-342900">
              <a:lnSpc>
                <a:spcPct val="120000"/>
              </a:lnSpc>
              <a:spcBef>
                <a:spcPct val="20000"/>
              </a:spcBef>
              <a:buClr>
                <a:schemeClr val="hlink"/>
              </a:buClr>
              <a:buSzPct val="70000"/>
              <a:buFont typeface="Wingdings" panose="05000000000000000000" charset="0"/>
              <a:buChar char="p"/>
            </a:pPr>
            <a:r>
              <a:rPr lang="zh-CN" altLang="en-US" sz="2400">
                <a:latin typeface="Times New Roman" panose="02020603050405020304" pitchFamily="18" charset="0"/>
                <a:ea typeface="楷体" panose="02010609060101010101" charset="-122"/>
                <a:cs typeface="Times New Roman" panose="02020603050405020304" pitchFamily="18" charset="0"/>
              </a:rPr>
              <a:t>联机网络       </a:t>
            </a:r>
            <a:r>
              <a:rPr lang="en-US" altLang="zh-CN" sz="2400">
                <a:latin typeface="Times New Roman" panose="02020603050405020304" pitchFamily="18" charset="0"/>
                <a:ea typeface="楷体" panose="02010609060101010101" charset="-122"/>
                <a:cs typeface="Times New Roman" panose="02020603050405020304" pitchFamily="18" charset="0"/>
              </a:rPr>
              <a:t>OL</a:t>
            </a:r>
            <a:endParaRPr lang="en-US" altLang="zh-CN" sz="2400">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9" name="文本占位符 45058"/>
          <p:cNvSpPr>
            <a:spLocks noGrp="1" noRot="1"/>
          </p:cNvSpPr>
          <p:nvPr>
            <p:ph type="body" idx="1"/>
          </p:nvPr>
        </p:nvSpPr>
        <p:spPr>
          <a:xfrm>
            <a:off x="596900" y="637540"/>
            <a:ext cx="11266170" cy="5708015"/>
          </a:xfrm>
          <a:solidFill>
            <a:schemeClr val="bg1"/>
          </a:solidFill>
        </p:spPr>
        <p:txBody>
          <a:bodyPr/>
          <a:p>
            <a:pPr marL="0" indent="0">
              <a:lnSpc>
                <a:spcPct val="100000"/>
              </a:lnSpc>
              <a:buNone/>
            </a:pPr>
            <a:r>
              <a:rPr lang="en-US" altLang="zh-CN" u="sng">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4.4  </a:t>
            </a:r>
            <a:r>
              <a:rPr lang="zh-CN" altLang="en-US" u="sng">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文献格式</a:t>
            </a:r>
            <a:r>
              <a:rPr lang="zh-CN" altLang="en-US" sz="2400">
                <a:latin typeface="Times New Roman" panose="02020603050405020304" pitchFamily="18" charset="0"/>
                <a:ea typeface="楷体" panose="02010609060101010101" charset="-122"/>
                <a:cs typeface="Times New Roman" panose="02020603050405020304" pitchFamily="18" charset="0"/>
                <a:sym typeface="+mn-ea"/>
              </a:rPr>
              <a:t> </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100000"/>
              </a:lnSpc>
            </a:pPr>
            <a:r>
              <a:rPr lang="zh-CN" altLang="en-US" sz="2400">
                <a:latin typeface="Times New Roman" panose="02020603050405020304" pitchFamily="18" charset="0"/>
                <a:ea typeface="楷体" panose="02010609060101010101" charset="-122"/>
                <a:cs typeface="Times New Roman" panose="02020603050405020304" pitchFamily="18" charset="0"/>
              </a:rPr>
              <a:t>普通图书 </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marL="0" indent="0">
              <a:lnSpc>
                <a:spcPct val="10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         </a:t>
            </a:r>
            <a:r>
              <a:rPr lang="en-US" altLang="zh-CN" sz="2400">
                <a:latin typeface="Times New Roman" panose="02020603050405020304" pitchFamily="18" charset="0"/>
                <a:ea typeface="楷体" panose="02010609060101010101" charset="-122"/>
                <a:cs typeface="Times New Roman" panose="02020603050405020304" pitchFamily="18" charset="0"/>
              </a:rPr>
              <a:t>[1] </a:t>
            </a:r>
            <a:r>
              <a:rPr lang="zh-CN" altLang="en-US" sz="2400">
                <a:latin typeface="Times New Roman" panose="02020603050405020304" pitchFamily="18" charset="0"/>
                <a:ea typeface="楷体" panose="02010609060101010101" charset="-122"/>
                <a:cs typeface="Times New Roman" panose="02020603050405020304" pitchFamily="18" charset="0"/>
              </a:rPr>
              <a:t>赵凯华</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罗蔚茵</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新概念物理教程</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力学</a:t>
            </a:r>
            <a:r>
              <a:rPr lang="en-US" altLang="zh-CN" sz="2400">
                <a:latin typeface="Times New Roman" panose="02020603050405020304" pitchFamily="18" charset="0"/>
                <a:ea typeface="楷体" panose="02010609060101010101" charset="-122"/>
                <a:cs typeface="Times New Roman" panose="02020603050405020304" pitchFamily="18" charset="0"/>
              </a:rPr>
              <a:t>[M].</a:t>
            </a:r>
            <a:r>
              <a:rPr lang="zh-CN" altLang="en-US" sz="2400">
                <a:latin typeface="Times New Roman" panose="02020603050405020304" pitchFamily="18" charset="0"/>
                <a:ea typeface="楷体" panose="02010609060101010101" charset="-122"/>
                <a:cs typeface="Times New Roman" panose="02020603050405020304" pitchFamily="18" charset="0"/>
              </a:rPr>
              <a:t>北京</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高等教育出版社</a:t>
            </a:r>
            <a:r>
              <a:rPr lang="en-US" altLang="zh-CN" sz="2400">
                <a:latin typeface="Times New Roman" panose="02020603050405020304" pitchFamily="18" charset="0"/>
                <a:ea typeface="楷体" panose="02010609060101010101" charset="-122"/>
                <a:cs typeface="Times New Roman" panose="02020603050405020304" pitchFamily="18" charset="0"/>
              </a:rPr>
              <a:t>,1995. </a:t>
            </a:r>
            <a:endParaRPr lang="en-US" altLang="zh-CN" sz="2400" b="1">
              <a:latin typeface="Times New Roman" panose="02020603050405020304" pitchFamily="18" charset="0"/>
              <a:ea typeface="楷体" panose="02010609060101010101" charset="-122"/>
              <a:cs typeface="Times New Roman" panose="02020603050405020304" pitchFamily="18" charset="0"/>
            </a:endParaRPr>
          </a:p>
          <a:p>
            <a:pPr marL="0" indent="0">
              <a:lnSpc>
                <a:spcPct val="10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论文集、会议录 </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marL="0" indent="0">
              <a:lnSpc>
                <a:spcPct val="10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         </a:t>
            </a:r>
            <a:r>
              <a:rPr lang="en-US" altLang="zh-CN" sz="2400">
                <a:latin typeface="Times New Roman" panose="02020603050405020304" pitchFamily="18" charset="0"/>
                <a:ea typeface="楷体" panose="02010609060101010101" charset="-122"/>
                <a:cs typeface="Times New Roman" panose="02020603050405020304" pitchFamily="18" charset="0"/>
              </a:rPr>
              <a:t>[2] </a:t>
            </a:r>
            <a:r>
              <a:rPr lang="zh-CN" altLang="en-US" sz="2400">
                <a:latin typeface="Times New Roman" panose="02020603050405020304" pitchFamily="18" charset="0"/>
                <a:ea typeface="楷体" panose="02010609060101010101" charset="-122"/>
                <a:cs typeface="Times New Roman" panose="02020603050405020304" pitchFamily="18" charset="0"/>
              </a:rPr>
              <a:t>中国力学学会</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第</a:t>
            </a:r>
            <a:r>
              <a:rPr lang="en-US" altLang="zh-CN" sz="2400">
                <a:latin typeface="Times New Roman" panose="02020603050405020304" pitchFamily="18" charset="0"/>
                <a:ea typeface="楷体" panose="02010609060101010101" charset="-122"/>
                <a:cs typeface="Times New Roman" panose="02020603050405020304" pitchFamily="18" charset="0"/>
              </a:rPr>
              <a:t>3</a:t>
            </a:r>
            <a:r>
              <a:rPr lang="zh-CN" altLang="en-US" sz="2400">
                <a:latin typeface="Times New Roman" panose="02020603050405020304" pitchFamily="18" charset="0"/>
                <a:ea typeface="楷体" panose="02010609060101010101" charset="-122"/>
                <a:cs typeface="Times New Roman" panose="02020603050405020304" pitchFamily="18" charset="0"/>
              </a:rPr>
              <a:t>届全国实验流体力学学术会议论文集</a:t>
            </a:r>
            <a:r>
              <a:rPr lang="en-US" altLang="zh-CN" sz="2400">
                <a:latin typeface="Times New Roman" panose="02020603050405020304" pitchFamily="18" charset="0"/>
                <a:ea typeface="楷体" panose="02010609060101010101" charset="-122"/>
                <a:cs typeface="Times New Roman" panose="02020603050405020304" pitchFamily="18" charset="0"/>
              </a:rPr>
              <a:t>[C].</a:t>
            </a:r>
            <a:r>
              <a:rPr lang="zh-CN" altLang="en-US" sz="2400">
                <a:latin typeface="Times New Roman" panose="02020603050405020304" pitchFamily="18" charset="0"/>
                <a:ea typeface="楷体" panose="02010609060101010101" charset="-122"/>
                <a:cs typeface="Times New Roman" panose="02020603050405020304" pitchFamily="18" charset="0"/>
              </a:rPr>
              <a:t>天津</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出版者不祥</a:t>
            </a:r>
            <a:r>
              <a:rPr lang="en-US" altLang="zh-CN" sz="2400">
                <a:latin typeface="Times New Roman" panose="02020603050405020304" pitchFamily="18" charset="0"/>
                <a:ea typeface="楷体" panose="02010609060101010101" charset="-122"/>
                <a:cs typeface="Times New Roman" panose="02020603050405020304" pitchFamily="18" charset="0"/>
              </a:rPr>
              <a:t>],1990. </a:t>
            </a:r>
            <a:endParaRPr lang="en-US" altLang="zh-CN" sz="2400" b="1">
              <a:latin typeface="Times New Roman" panose="02020603050405020304" pitchFamily="18" charset="0"/>
              <a:ea typeface="楷体" panose="02010609060101010101" charset="-122"/>
              <a:cs typeface="Times New Roman" panose="02020603050405020304" pitchFamily="18" charset="0"/>
            </a:endParaRPr>
          </a:p>
          <a:p>
            <a:pPr>
              <a:lnSpc>
                <a:spcPct val="100000"/>
              </a:lnSpc>
            </a:pPr>
            <a:r>
              <a:rPr lang="zh-CN" altLang="en-US" sz="2400">
                <a:latin typeface="Times New Roman" panose="02020603050405020304" pitchFamily="18" charset="0"/>
                <a:ea typeface="楷体" panose="02010609060101010101" charset="-122"/>
                <a:cs typeface="Times New Roman" panose="02020603050405020304" pitchFamily="18" charset="0"/>
              </a:rPr>
              <a:t>科技</a:t>
            </a:r>
            <a:r>
              <a:rPr lang="zh-CN" altLang="en-US" sz="2400">
                <a:latin typeface="Times New Roman" panose="02020603050405020304" pitchFamily="18" charset="0"/>
                <a:ea typeface="楷体" panose="02010609060101010101" charset="-122"/>
                <a:cs typeface="Times New Roman" panose="02020603050405020304" pitchFamily="18" charset="0"/>
              </a:rPr>
              <a:t>报告 </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marL="0" indent="0">
              <a:lnSpc>
                <a:spcPct val="10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         </a:t>
            </a:r>
            <a:r>
              <a:rPr lang="en-US" altLang="zh-CN" sz="2400">
                <a:latin typeface="Times New Roman" panose="02020603050405020304" pitchFamily="18" charset="0"/>
                <a:ea typeface="楷体" panose="02010609060101010101" charset="-122"/>
                <a:cs typeface="Times New Roman" panose="02020603050405020304" pitchFamily="18" charset="0"/>
              </a:rPr>
              <a:t>[3] U</a:t>
            </a:r>
            <a:r>
              <a:rPr lang="zh-CN" altLang="en-US" sz="2400">
                <a:latin typeface="Times New Roman" panose="02020603050405020304" pitchFamily="18" charset="0"/>
                <a:ea typeface="楷体" panose="02010609060101010101" charset="-122"/>
                <a:cs typeface="Times New Roman" panose="02020603050405020304" pitchFamily="18" charset="0"/>
              </a:rPr>
              <a:t>．</a:t>
            </a:r>
            <a:r>
              <a:rPr lang="en-US" altLang="zh-CN" sz="2400">
                <a:latin typeface="Times New Roman" panose="02020603050405020304" pitchFamily="18" charset="0"/>
                <a:ea typeface="楷体" panose="02010609060101010101" charset="-122"/>
                <a:cs typeface="Times New Roman" panose="02020603050405020304" pitchFamily="18" charset="0"/>
              </a:rPr>
              <a:t>S</a:t>
            </a:r>
            <a:r>
              <a:rPr lang="zh-CN" altLang="en-US" sz="2400">
                <a:latin typeface="Times New Roman" panose="02020603050405020304" pitchFamily="18" charset="0"/>
                <a:ea typeface="楷体" panose="02010609060101010101" charset="-122"/>
                <a:cs typeface="Times New Roman" panose="02020603050405020304" pitchFamily="18" charset="0"/>
              </a:rPr>
              <a:t>．</a:t>
            </a:r>
            <a:r>
              <a:rPr lang="en-US" altLang="zh-CN" sz="2400">
                <a:latin typeface="Times New Roman" panose="02020603050405020304" pitchFamily="18" charset="0"/>
                <a:ea typeface="楷体" panose="02010609060101010101" charset="-122"/>
                <a:cs typeface="Times New Roman" panose="02020603050405020304" pitchFamily="18" charset="0"/>
              </a:rPr>
              <a:t>Department of Transportation Federal Highway Administration. Guidelines for handling excavated acid-producing materials, PB 91-194001[R]. Springfield: U.S. Department of Commerce National Information Service,1990. </a:t>
            </a:r>
            <a:endParaRPr lang="en-US" altLang="zh-CN" sz="2400" b="1">
              <a:latin typeface="Times New Roman" panose="02020603050405020304" pitchFamily="18" charset="0"/>
              <a:ea typeface="楷体" panose="02010609060101010101" charset="-122"/>
              <a:cs typeface="Times New Roman" panose="02020603050405020304" pitchFamily="18" charset="0"/>
            </a:endParaRPr>
          </a:p>
          <a:p>
            <a:pPr>
              <a:lnSpc>
                <a:spcPct val="100000"/>
              </a:lnSpc>
            </a:pPr>
            <a:r>
              <a:rPr lang="zh-CN" altLang="en-US" sz="2400">
                <a:latin typeface="Times New Roman" panose="02020603050405020304" pitchFamily="18" charset="0"/>
                <a:ea typeface="楷体" panose="02010609060101010101" charset="-122"/>
                <a:cs typeface="Times New Roman" panose="02020603050405020304" pitchFamily="18" charset="0"/>
              </a:rPr>
              <a:t>学位论文 </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marL="0" indent="0">
              <a:lnSpc>
                <a:spcPct val="10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        </a:t>
            </a:r>
            <a:r>
              <a:rPr lang="en-US" altLang="zh-CN" sz="2400">
                <a:latin typeface="Times New Roman" panose="02020603050405020304" pitchFamily="18" charset="0"/>
                <a:ea typeface="楷体" panose="02010609060101010101" charset="-122"/>
                <a:cs typeface="Times New Roman" panose="02020603050405020304" pitchFamily="18" charset="0"/>
              </a:rPr>
              <a:t>[4] </a:t>
            </a:r>
            <a:r>
              <a:rPr lang="zh-CN" altLang="en-US" sz="2400">
                <a:latin typeface="Times New Roman" panose="02020603050405020304" pitchFamily="18" charset="0"/>
                <a:ea typeface="楷体" panose="02010609060101010101" charset="-122"/>
                <a:cs typeface="Times New Roman" panose="02020603050405020304" pitchFamily="18" charset="0"/>
              </a:rPr>
              <a:t>张志祥</a:t>
            </a:r>
            <a:r>
              <a:rPr lang="en-US" altLang="zh-CN" sz="2400">
                <a:latin typeface="Times New Roman" panose="02020603050405020304" pitchFamily="18" charset="0"/>
                <a:ea typeface="楷体" panose="02010609060101010101" charset="-122"/>
                <a:cs typeface="Times New Roman" panose="02020603050405020304" pitchFamily="18" charset="0"/>
              </a:rPr>
              <a:t>. </a:t>
            </a:r>
            <a:r>
              <a:rPr lang="zh-CN" altLang="en-US" sz="2400">
                <a:latin typeface="Times New Roman" panose="02020603050405020304" pitchFamily="18" charset="0"/>
                <a:ea typeface="楷体" panose="02010609060101010101" charset="-122"/>
                <a:cs typeface="Times New Roman" panose="02020603050405020304" pitchFamily="18" charset="0"/>
              </a:rPr>
              <a:t>间断动力系统的随机扰动及其在守恒律方程中的应用</a:t>
            </a:r>
            <a:r>
              <a:rPr lang="en-US" altLang="zh-CN" sz="2400">
                <a:latin typeface="Times New Roman" panose="02020603050405020304" pitchFamily="18" charset="0"/>
                <a:ea typeface="楷体" panose="02010609060101010101" charset="-122"/>
                <a:cs typeface="Times New Roman" panose="02020603050405020304" pitchFamily="18" charset="0"/>
              </a:rPr>
              <a:t>[D].</a:t>
            </a:r>
            <a:r>
              <a:rPr lang="zh-CN" altLang="en-US" sz="2400">
                <a:latin typeface="Times New Roman" panose="02020603050405020304" pitchFamily="18" charset="0"/>
                <a:ea typeface="楷体" panose="02010609060101010101" charset="-122"/>
                <a:cs typeface="Times New Roman" panose="02020603050405020304" pitchFamily="18" charset="0"/>
              </a:rPr>
              <a:t>北京</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北京大学数学学院</a:t>
            </a:r>
            <a:r>
              <a:rPr lang="en-US" altLang="zh-CN" sz="2400">
                <a:latin typeface="Times New Roman" panose="02020603050405020304" pitchFamily="18" charset="0"/>
                <a:ea typeface="楷体" panose="02010609060101010101" charset="-122"/>
                <a:cs typeface="Times New Roman" panose="02020603050405020304" pitchFamily="18" charset="0"/>
              </a:rPr>
              <a:t>,1998. </a:t>
            </a:r>
            <a:endParaRPr lang="en-US" altLang="zh-CN" sz="2400" b="1">
              <a:latin typeface="Times New Roman" panose="02020603050405020304" pitchFamily="18" charset="0"/>
              <a:ea typeface="楷体" panose="02010609060101010101" charset="-122"/>
              <a:cs typeface="Times New Roman" panose="02020603050405020304" pitchFamily="18" charset="0"/>
            </a:endParaRPr>
          </a:p>
          <a:p>
            <a:pPr>
              <a:lnSpc>
                <a:spcPct val="80000"/>
              </a:lnSpc>
            </a:pPr>
            <a:endParaRPr lang="en-US" altLang="zh-CN" sz="2400">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9" name="文本占位符 45058"/>
          <p:cNvSpPr>
            <a:spLocks noGrp="1" noRot="1"/>
          </p:cNvSpPr>
          <p:nvPr>
            <p:ph type="body" idx="1"/>
          </p:nvPr>
        </p:nvSpPr>
        <p:spPr>
          <a:xfrm>
            <a:off x="516255" y="1211580"/>
            <a:ext cx="11159490" cy="5332730"/>
          </a:xfrm>
          <a:solidFill>
            <a:schemeClr val="bg1"/>
          </a:solidFill>
        </p:spPr>
        <p:txBody>
          <a:bodyPr/>
          <a:p>
            <a:pPr>
              <a:lnSpc>
                <a:spcPct val="90000"/>
              </a:lnSpc>
            </a:pPr>
            <a:r>
              <a:rPr lang="zh-CN" altLang="en-US" sz="2400">
                <a:latin typeface="Times New Roman" panose="02020603050405020304" pitchFamily="18" charset="0"/>
                <a:ea typeface="楷体" panose="02010609060101010101" charset="-122"/>
                <a:cs typeface="Times New Roman" panose="02020603050405020304" pitchFamily="18" charset="0"/>
              </a:rPr>
              <a:t>专利文献 </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        </a:t>
            </a:r>
            <a:r>
              <a:rPr lang="en-US" altLang="zh-CN" sz="2400">
                <a:latin typeface="Times New Roman" panose="02020603050405020304" pitchFamily="18" charset="0"/>
                <a:ea typeface="楷体" panose="02010609060101010101" charset="-122"/>
                <a:cs typeface="Times New Roman" panose="02020603050405020304" pitchFamily="18" charset="0"/>
              </a:rPr>
              <a:t>[5] </a:t>
            </a:r>
            <a:r>
              <a:rPr lang="zh-CN" altLang="en-US" sz="2400">
                <a:latin typeface="Times New Roman" panose="02020603050405020304" pitchFamily="18" charset="0"/>
                <a:ea typeface="楷体" panose="02010609060101010101" charset="-122"/>
                <a:cs typeface="Times New Roman" panose="02020603050405020304" pitchFamily="18" charset="0"/>
              </a:rPr>
              <a:t>刘加林</a:t>
            </a:r>
            <a:r>
              <a:rPr lang="en-US" altLang="zh-CN" sz="2400">
                <a:latin typeface="Times New Roman" panose="02020603050405020304" pitchFamily="18" charset="0"/>
                <a:ea typeface="楷体" panose="02010609060101010101" charset="-122"/>
                <a:cs typeface="Times New Roman" panose="02020603050405020304" pitchFamily="18" charset="0"/>
              </a:rPr>
              <a:t>. </a:t>
            </a:r>
            <a:r>
              <a:rPr lang="zh-CN" altLang="en-US" sz="2400">
                <a:latin typeface="Times New Roman" panose="02020603050405020304" pitchFamily="18" charset="0"/>
                <a:ea typeface="楷体" panose="02010609060101010101" charset="-122"/>
                <a:cs typeface="Times New Roman" panose="02020603050405020304" pitchFamily="18" charset="0"/>
              </a:rPr>
              <a:t>多功能一次性压舌板</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中国</a:t>
            </a:r>
            <a:r>
              <a:rPr lang="en-US" altLang="zh-CN" sz="2400">
                <a:latin typeface="Times New Roman" panose="02020603050405020304" pitchFamily="18" charset="0"/>
                <a:ea typeface="楷体" panose="02010609060101010101" charset="-122"/>
                <a:cs typeface="Times New Roman" panose="02020603050405020304" pitchFamily="18" charset="0"/>
              </a:rPr>
              <a:t>,92214985.2[P].1993-04-14. </a:t>
            </a:r>
            <a:endParaRPr lang="en-US" altLang="zh-CN" sz="2400" b="1">
              <a:latin typeface="Times New Roman" panose="02020603050405020304" pitchFamily="18" charset="0"/>
              <a:ea typeface="楷体" panose="02010609060101010101" charset="-122"/>
              <a:cs typeface="Times New Roman" panose="02020603050405020304" pitchFamily="18" charset="0"/>
            </a:endParaRPr>
          </a:p>
          <a:p>
            <a:pPr>
              <a:lnSpc>
                <a:spcPct val="90000"/>
              </a:lnSpc>
            </a:pPr>
            <a:r>
              <a:rPr lang="zh-CN" altLang="en-US" sz="2400">
                <a:latin typeface="Times New Roman" panose="02020603050405020304" pitchFamily="18" charset="0"/>
                <a:ea typeface="楷体" panose="02010609060101010101" charset="-122"/>
                <a:cs typeface="Times New Roman" panose="02020603050405020304" pitchFamily="18" charset="0"/>
              </a:rPr>
              <a:t>标准 </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        </a:t>
            </a:r>
            <a:r>
              <a:rPr lang="en-US" altLang="zh-CN" sz="2400">
                <a:latin typeface="Times New Roman" panose="02020603050405020304" pitchFamily="18" charset="0"/>
                <a:ea typeface="楷体" panose="02010609060101010101" charset="-122"/>
                <a:cs typeface="Times New Roman" panose="02020603050405020304" pitchFamily="18" charset="0"/>
              </a:rPr>
              <a:t>[6] </a:t>
            </a:r>
            <a:r>
              <a:rPr lang="zh-CN" altLang="en-US" sz="2400">
                <a:latin typeface="Times New Roman" panose="02020603050405020304" pitchFamily="18" charset="0"/>
                <a:ea typeface="楷体" panose="02010609060101010101" charset="-122"/>
                <a:cs typeface="Times New Roman" panose="02020603050405020304" pitchFamily="18" charset="0"/>
              </a:rPr>
              <a:t>国家标准局信息分类编码研究所</a:t>
            </a:r>
            <a:r>
              <a:rPr lang="en-US" altLang="zh-CN" sz="2400">
                <a:latin typeface="Times New Roman" panose="02020603050405020304" pitchFamily="18" charset="0"/>
                <a:ea typeface="楷体" panose="02010609060101010101" charset="-122"/>
                <a:cs typeface="Times New Roman" panose="02020603050405020304" pitchFamily="18" charset="0"/>
              </a:rPr>
              <a:t>.GB/T 2659-1986 </a:t>
            </a:r>
            <a:r>
              <a:rPr lang="zh-CN" altLang="en-US" sz="2400">
                <a:latin typeface="Times New Roman" panose="02020603050405020304" pitchFamily="18" charset="0"/>
                <a:ea typeface="楷体" panose="02010609060101010101" charset="-122"/>
                <a:cs typeface="Times New Roman" panose="02020603050405020304" pitchFamily="18" charset="0"/>
              </a:rPr>
              <a:t>世界各国和地区名称代码</a:t>
            </a:r>
            <a:r>
              <a:rPr lang="en-US" altLang="zh-CN" sz="2400">
                <a:latin typeface="Times New Roman" panose="02020603050405020304" pitchFamily="18" charset="0"/>
                <a:ea typeface="楷体" panose="02010609060101010101" charset="-122"/>
                <a:cs typeface="Times New Roman" panose="02020603050405020304" pitchFamily="18" charset="0"/>
              </a:rPr>
              <a:t>[S]//</a:t>
            </a:r>
            <a:r>
              <a:rPr lang="zh-CN" altLang="en-US" sz="2400">
                <a:latin typeface="Times New Roman" panose="02020603050405020304" pitchFamily="18" charset="0"/>
                <a:ea typeface="楷体" panose="02010609060101010101" charset="-122"/>
                <a:cs typeface="Times New Roman" panose="02020603050405020304" pitchFamily="18" charset="0"/>
              </a:rPr>
              <a:t>全国文献工作标准化技术委员会</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文献工作国家标准汇编</a:t>
            </a:r>
            <a:r>
              <a:rPr lang="en-US" altLang="zh-CN" sz="2400">
                <a:latin typeface="Times New Roman" panose="02020603050405020304" pitchFamily="18" charset="0"/>
                <a:ea typeface="楷体" panose="02010609060101010101" charset="-122"/>
                <a:cs typeface="Times New Roman" panose="02020603050405020304" pitchFamily="18" charset="0"/>
              </a:rPr>
              <a:t>:3.</a:t>
            </a:r>
            <a:r>
              <a:rPr lang="zh-CN" altLang="en-US" sz="2400">
                <a:latin typeface="Times New Roman" panose="02020603050405020304" pitchFamily="18" charset="0"/>
                <a:ea typeface="楷体" panose="02010609060101010101" charset="-122"/>
                <a:cs typeface="Times New Roman" panose="02020603050405020304" pitchFamily="18" charset="0"/>
              </a:rPr>
              <a:t>北京</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中国标准出版社</a:t>
            </a:r>
            <a:r>
              <a:rPr lang="en-US" altLang="zh-CN" sz="2400">
                <a:latin typeface="Times New Roman" panose="02020603050405020304" pitchFamily="18" charset="0"/>
                <a:ea typeface="楷体" panose="02010609060101010101" charset="-122"/>
                <a:cs typeface="Times New Roman" panose="02020603050405020304" pitchFamily="18" charset="0"/>
              </a:rPr>
              <a:t>,1988:59-92. </a:t>
            </a:r>
            <a:endParaRPr lang="en-US" altLang="zh-CN" sz="2400" b="1">
              <a:latin typeface="Times New Roman" panose="02020603050405020304" pitchFamily="18" charset="0"/>
              <a:ea typeface="楷体" panose="02010609060101010101" charset="-122"/>
              <a:cs typeface="Times New Roman" panose="02020603050405020304" pitchFamily="18" charset="0"/>
            </a:endParaRPr>
          </a:p>
          <a:p>
            <a:pPr>
              <a:lnSpc>
                <a:spcPct val="90000"/>
              </a:lnSpc>
            </a:pPr>
            <a:r>
              <a:rPr lang="zh-CN" altLang="en-US" sz="2400">
                <a:latin typeface="Times New Roman" panose="02020603050405020304" pitchFamily="18" charset="0"/>
                <a:ea typeface="楷体" panose="02010609060101010101" charset="-122"/>
                <a:cs typeface="Times New Roman" panose="02020603050405020304" pitchFamily="18" charset="0"/>
              </a:rPr>
              <a:t>期刊 </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        </a:t>
            </a:r>
            <a:r>
              <a:rPr lang="en-US" altLang="zh-CN" sz="2400">
                <a:latin typeface="Times New Roman" panose="02020603050405020304" pitchFamily="18" charset="0"/>
                <a:ea typeface="楷体" panose="02010609060101010101" charset="-122"/>
                <a:cs typeface="Times New Roman" panose="02020603050405020304" pitchFamily="18" charset="0"/>
              </a:rPr>
              <a:t>[7] </a:t>
            </a:r>
            <a:r>
              <a:rPr lang="zh-CN" altLang="en-US" sz="2400">
                <a:latin typeface="Times New Roman" panose="02020603050405020304" pitchFamily="18" charset="0"/>
                <a:ea typeface="楷体" panose="02010609060101010101" charset="-122"/>
                <a:cs typeface="Times New Roman" panose="02020603050405020304" pitchFamily="18" charset="0"/>
              </a:rPr>
              <a:t>陶仁骥</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密码学与数学</a:t>
            </a:r>
            <a:r>
              <a:rPr lang="en-US" altLang="zh-CN" sz="2400">
                <a:latin typeface="Times New Roman" panose="02020603050405020304" pitchFamily="18" charset="0"/>
                <a:ea typeface="楷体" panose="02010609060101010101" charset="-122"/>
                <a:cs typeface="Times New Roman" panose="02020603050405020304" pitchFamily="18" charset="0"/>
              </a:rPr>
              <a:t>[J].</a:t>
            </a:r>
            <a:r>
              <a:rPr lang="zh-CN" altLang="en-US" sz="2400">
                <a:latin typeface="Times New Roman" panose="02020603050405020304" pitchFamily="18" charset="0"/>
                <a:ea typeface="楷体" panose="02010609060101010101" charset="-122"/>
                <a:cs typeface="Times New Roman" panose="02020603050405020304" pitchFamily="18" charset="0"/>
              </a:rPr>
              <a:t>自然杂志</a:t>
            </a:r>
            <a:r>
              <a:rPr lang="en-US" altLang="zh-CN" sz="2400">
                <a:latin typeface="Times New Roman" panose="02020603050405020304" pitchFamily="18" charset="0"/>
                <a:ea typeface="楷体" panose="02010609060101010101" charset="-122"/>
                <a:cs typeface="Times New Roman" panose="02020603050405020304" pitchFamily="18" charset="0"/>
              </a:rPr>
              <a:t>,1984,7（7）:527. </a:t>
            </a:r>
            <a:endParaRPr lang="en-US" altLang="zh-CN" sz="2400" b="1">
              <a:latin typeface="Times New Roman" panose="02020603050405020304" pitchFamily="18" charset="0"/>
              <a:ea typeface="楷体" panose="02010609060101010101" charset="-122"/>
              <a:cs typeface="Times New Roman" panose="02020603050405020304" pitchFamily="18" charset="0"/>
            </a:endParaRPr>
          </a:p>
          <a:p>
            <a:pPr>
              <a:lnSpc>
                <a:spcPct val="90000"/>
              </a:lnSpc>
            </a:pPr>
            <a:r>
              <a:rPr lang="zh-CN" altLang="en-US" sz="2400">
                <a:latin typeface="Times New Roman" panose="02020603050405020304" pitchFamily="18" charset="0"/>
                <a:ea typeface="楷体" panose="02010609060101010101" charset="-122"/>
                <a:cs typeface="Times New Roman" panose="02020603050405020304" pitchFamily="18" charset="0"/>
              </a:rPr>
              <a:t>报纸 </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        </a:t>
            </a:r>
            <a:r>
              <a:rPr lang="en-US" altLang="zh-CN" sz="2400">
                <a:latin typeface="Times New Roman" panose="02020603050405020304" pitchFamily="18" charset="0"/>
                <a:ea typeface="楷体" panose="02010609060101010101" charset="-122"/>
                <a:cs typeface="Times New Roman" panose="02020603050405020304" pitchFamily="18" charset="0"/>
              </a:rPr>
              <a:t>[8] </a:t>
            </a:r>
            <a:r>
              <a:rPr lang="zh-CN" altLang="en-US" sz="2400">
                <a:latin typeface="Times New Roman" panose="02020603050405020304" pitchFamily="18" charset="0"/>
                <a:ea typeface="楷体" panose="02010609060101010101" charset="-122"/>
                <a:cs typeface="Times New Roman" panose="02020603050405020304" pitchFamily="18" charset="0"/>
              </a:rPr>
              <a:t>丁文祥</a:t>
            </a:r>
            <a:r>
              <a:rPr lang="en-US" altLang="zh-CN" sz="2400">
                <a:latin typeface="Times New Roman" panose="02020603050405020304" pitchFamily="18" charset="0"/>
                <a:ea typeface="楷体" panose="02010609060101010101" charset="-122"/>
                <a:cs typeface="Times New Roman" panose="02020603050405020304" pitchFamily="18" charset="0"/>
              </a:rPr>
              <a:t>. </a:t>
            </a:r>
            <a:r>
              <a:rPr lang="zh-CN" altLang="en-US" sz="2400">
                <a:latin typeface="Times New Roman" panose="02020603050405020304" pitchFamily="18" charset="0"/>
                <a:ea typeface="楷体" panose="02010609060101010101" charset="-122"/>
                <a:cs typeface="Times New Roman" panose="02020603050405020304" pitchFamily="18" charset="0"/>
              </a:rPr>
              <a:t>数字革命与竞争国际化</a:t>
            </a:r>
            <a:r>
              <a:rPr lang="en-US" altLang="zh-CN" sz="2400">
                <a:latin typeface="Times New Roman" panose="02020603050405020304" pitchFamily="18" charset="0"/>
                <a:ea typeface="楷体" panose="02010609060101010101" charset="-122"/>
                <a:cs typeface="Times New Roman" panose="02020603050405020304" pitchFamily="18" charset="0"/>
              </a:rPr>
              <a:t>[N].</a:t>
            </a:r>
            <a:r>
              <a:rPr lang="zh-CN" altLang="en-US" sz="2400">
                <a:latin typeface="Times New Roman" panose="02020603050405020304" pitchFamily="18" charset="0"/>
                <a:ea typeface="楷体" panose="02010609060101010101" charset="-122"/>
                <a:cs typeface="Times New Roman" panose="02020603050405020304" pitchFamily="18" charset="0"/>
              </a:rPr>
              <a:t>中国青年报</a:t>
            </a:r>
            <a:r>
              <a:rPr lang="en-US" altLang="zh-CN" sz="2400">
                <a:latin typeface="Times New Roman" panose="02020603050405020304" pitchFamily="18" charset="0"/>
                <a:ea typeface="楷体" panose="02010609060101010101" charset="-122"/>
                <a:cs typeface="Times New Roman" panose="02020603050405020304" pitchFamily="18" charset="0"/>
              </a:rPr>
              <a:t>,2000 -11-20（15）. </a:t>
            </a:r>
            <a:endParaRPr lang="en-US" altLang="zh-CN" sz="2400" b="1">
              <a:latin typeface="Times New Roman" panose="02020603050405020304" pitchFamily="18" charset="0"/>
              <a:ea typeface="楷体" panose="02010609060101010101" charset="-122"/>
              <a:cs typeface="Times New Roman" panose="02020603050405020304" pitchFamily="18" charset="0"/>
            </a:endParaRPr>
          </a:p>
          <a:p>
            <a:pPr>
              <a:lnSpc>
                <a:spcPct val="90000"/>
              </a:lnSpc>
            </a:pPr>
            <a:r>
              <a:rPr lang="zh-CN" altLang="en-US" sz="2400">
                <a:latin typeface="Times New Roman" panose="02020603050405020304" pitchFamily="18" charset="0"/>
                <a:ea typeface="楷体" panose="02010609060101010101" charset="-122"/>
                <a:cs typeface="Times New Roman" panose="02020603050405020304" pitchFamily="18" charset="0"/>
              </a:rPr>
              <a:t>电子文献 </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楷体" panose="02010609060101010101" charset="-122"/>
                <a:cs typeface="Times New Roman" panose="02020603050405020304" pitchFamily="18" charset="0"/>
              </a:rPr>
              <a:t>        </a:t>
            </a:r>
            <a:r>
              <a:rPr lang="en-US" altLang="zh-CN" sz="2400">
                <a:latin typeface="Times New Roman" panose="02020603050405020304" pitchFamily="18" charset="0"/>
                <a:ea typeface="楷体" panose="02010609060101010101" charset="-122"/>
                <a:cs typeface="Times New Roman" panose="02020603050405020304" pitchFamily="18" charset="0"/>
              </a:rPr>
              <a:t>[9] </a:t>
            </a:r>
            <a:r>
              <a:rPr lang="zh-CN" altLang="en-US" sz="2400">
                <a:latin typeface="Times New Roman" panose="02020603050405020304" pitchFamily="18" charset="0"/>
                <a:ea typeface="楷体" panose="02010609060101010101" charset="-122"/>
                <a:cs typeface="Times New Roman" panose="02020603050405020304" pitchFamily="18" charset="0"/>
              </a:rPr>
              <a:t>萧 钰</a:t>
            </a:r>
            <a:r>
              <a:rPr lang="en-US" altLang="zh-CN" sz="2400">
                <a:latin typeface="Times New Roman" panose="02020603050405020304" pitchFamily="18" charset="0"/>
                <a:ea typeface="楷体" panose="02010609060101010101" charset="-122"/>
                <a:cs typeface="Times New Roman" panose="02020603050405020304" pitchFamily="18" charset="0"/>
              </a:rPr>
              <a:t>.</a:t>
            </a:r>
            <a:r>
              <a:rPr lang="zh-CN" altLang="en-US" sz="2400">
                <a:latin typeface="Times New Roman" panose="02020603050405020304" pitchFamily="18" charset="0"/>
                <a:ea typeface="楷体" panose="02010609060101010101" charset="-122"/>
                <a:cs typeface="Times New Roman" panose="02020603050405020304" pitchFamily="18" charset="0"/>
              </a:rPr>
              <a:t>出版业信息化迈入快车道 </a:t>
            </a:r>
            <a:r>
              <a:rPr lang="en-US" altLang="zh-CN" sz="2400">
                <a:latin typeface="Times New Roman" panose="02020603050405020304" pitchFamily="18" charset="0"/>
                <a:ea typeface="楷体" panose="02010609060101010101" charset="-122"/>
                <a:cs typeface="Times New Roman" panose="02020603050405020304" pitchFamily="18" charset="0"/>
              </a:rPr>
              <a:t>[EB/OL]. （2001-12-19）[2002-04-15]. http://www.creader.com/news/20011219/200112190019.html. </a:t>
            </a:r>
            <a:endParaRPr lang="en-US" altLang="zh-CN" sz="2400">
              <a:latin typeface="Times New Roman" panose="02020603050405020304" pitchFamily="18" charset="0"/>
              <a:ea typeface="楷体" panose="02010609060101010101" charset="-122"/>
              <a:cs typeface="Times New Roman" panose="02020603050405020304" pitchFamily="18" charset="0"/>
            </a:endParaRPr>
          </a:p>
        </p:txBody>
      </p:sp>
      <p:sp>
        <p:nvSpPr>
          <p:cNvPr id="3" name="标题 2"/>
          <p:cNvSpPr>
            <a:spLocks noGrp="1" noRot="1"/>
          </p:cNvSpPr>
          <p:nvPr>
            <p:ph type="title"/>
          </p:nvPr>
        </p:nvSpPr>
        <p:spPr>
          <a:xfrm>
            <a:off x="453390" y="316230"/>
            <a:ext cx="6864985" cy="895350"/>
          </a:xfrm>
          <a:solidFill>
            <a:schemeClr val="bg1"/>
          </a:solidFill>
        </p:spPr>
        <p:txBody>
          <a:bodyPr anchor="ctr"/>
          <a:p>
            <a:pPr>
              <a:lnSpc>
                <a:spcPct val="80000"/>
              </a:lnSpc>
            </a:pPr>
            <a:r>
              <a:rPr lang="zh-CN" altLang="en-US" b="1" u="sng">
                <a:solidFill>
                  <a:schemeClr val="hlink"/>
                </a:solidFill>
                <a:latin typeface="Times New Roman" panose="02020603050405020304" pitchFamily="18" charset="0"/>
                <a:ea typeface="楷体" panose="02010609060101010101" charset="-122"/>
                <a:cs typeface="Times New Roman" panose="02020603050405020304" pitchFamily="18" charset="0"/>
              </a:rPr>
              <a:t>设计总结报告的工整性</a:t>
            </a:r>
            <a:r>
              <a:rPr lang="en-US" altLang="zh-CN" sz="2800" b="1" u="sng">
                <a:solidFill>
                  <a:srgbClr val="FF0000"/>
                </a:solidFill>
                <a:latin typeface="Times New Roman" panose="02020603050405020304" pitchFamily="18" charset="0"/>
                <a:ea typeface="楷体" panose="02010609060101010101" charset="-122"/>
                <a:cs typeface="Times New Roman" panose="02020603050405020304" pitchFamily="18" charset="0"/>
              </a:rPr>
              <a:t>（</a:t>
            </a:r>
            <a:r>
              <a:rPr lang="zh-CN" altLang="en-US" sz="2800" b="1" u="sng">
                <a:solidFill>
                  <a:srgbClr val="FF0000"/>
                </a:solidFill>
                <a:latin typeface="Times New Roman" panose="02020603050405020304" pitchFamily="18" charset="0"/>
                <a:ea typeface="楷体" panose="02010609060101010101" charset="-122"/>
                <a:cs typeface="Times New Roman" panose="02020603050405020304" pitchFamily="18" charset="0"/>
              </a:rPr>
              <a:t>案例</a:t>
            </a:r>
            <a:r>
              <a:rPr lang="en-US" altLang="zh-CN" sz="2800" b="1" u="sng">
                <a:solidFill>
                  <a:srgbClr val="FF0000"/>
                </a:solidFill>
                <a:latin typeface="Times New Roman" panose="02020603050405020304" pitchFamily="18" charset="0"/>
                <a:ea typeface="楷体" panose="02010609060101010101" charset="-122"/>
                <a:cs typeface="Times New Roman" panose="02020603050405020304" pitchFamily="18" charset="0"/>
              </a:rPr>
              <a:t>）</a:t>
            </a:r>
            <a:endParaRPr lang="en-US" altLang="zh-CN" sz="2800" b="1" u="sng">
              <a:solidFill>
                <a:srgbClr val="FF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9" name="文本占位符 45058"/>
          <p:cNvSpPr>
            <a:spLocks noGrp="1" noRot="1"/>
          </p:cNvSpPr>
          <p:nvPr>
            <p:ph type="body" idx="1"/>
          </p:nvPr>
        </p:nvSpPr>
        <p:spPr>
          <a:xfrm>
            <a:off x="516255" y="1211580"/>
            <a:ext cx="11159490" cy="3560445"/>
          </a:xfrm>
          <a:solidFill>
            <a:schemeClr val="bg1"/>
          </a:solidFill>
        </p:spPr>
        <p:txBody>
          <a:bodyPr/>
          <a:p>
            <a:pPr>
              <a:lnSpc>
                <a:spcPct val="90000"/>
              </a:lnSpc>
            </a:pPr>
            <a:r>
              <a:rPr lang="zh-CN" altLang="en-US" sz="2400">
                <a:latin typeface="Times New Roman" panose="02020603050405020304" pitchFamily="18" charset="0"/>
                <a:ea typeface="楷体" panose="02010609060101010101" charset="-122"/>
                <a:cs typeface="Times New Roman" panose="02020603050405020304" pitchFamily="18" charset="0"/>
              </a:rPr>
              <a:t>引用文献格式，GB/T 7714-2015图书馆 知网 可以直接生成</a:t>
            </a:r>
            <a:endParaRPr lang="zh-CN" altLang="en-US" sz="2400">
              <a:latin typeface="Times New Roman" panose="02020603050405020304" pitchFamily="18" charset="0"/>
              <a:ea typeface="楷体" panose="02010609060101010101" charset="-122"/>
              <a:cs typeface="Times New Roman" panose="02020603050405020304" pitchFamily="18" charset="0"/>
            </a:endParaRPr>
          </a:p>
          <a:p>
            <a:pPr>
              <a:lnSpc>
                <a:spcPct val="90000"/>
              </a:lnSpc>
            </a:pPr>
            <a:r>
              <a:rPr lang="zh-CN" altLang="en-US" sz="2400">
                <a:latin typeface="Times New Roman" panose="02020603050405020304" pitchFamily="18" charset="0"/>
                <a:ea typeface="楷体" panose="02010609060101010101" charset="-122"/>
                <a:cs typeface="Times New Roman" panose="02020603050405020304" pitchFamily="18" charset="0"/>
              </a:rPr>
              <a:t>https://kns.cnki.net/kns8/AdvSearch?dbprefix=SCDB&amp;&amp;crossDbcodes=CJFQ%2CCDMD%2CCIPD%2CCCND%2CCISD%2CSNAD%2CBDZK%2CCCJD%2CCCVD%2CCJFN%2CCCJD</a:t>
            </a:r>
            <a:endParaRPr lang="zh-CN" altLang="en-US" sz="2400">
              <a:latin typeface="Times New Roman" panose="02020603050405020304" pitchFamily="18" charset="0"/>
              <a:ea typeface="楷体" panose="02010609060101010101" charset="-122"/>
              <a:cs typeface="Times New Roman" panose="02020603050405020304" pitchFamily="18" charset="0"/>
            </a:endParaRPr>
          </a:p>
        </p:txBody>
      </p:sp>
      <p:sp>
        <p:nvSpPr>
          <p:cNvPr id="3" name="标题 2"/>
          <p:cNvSpPr>
            <a:spLocks noGrp="1" noRot="1"/>
          </p:cNvSpPr>
          <p:nvPr>
            <p:ph type="title"/>
          </p:nvPr>
        </p:nvSpPr>
        <p:spPr>
          <a:xfrm>
            <a:off x="453390" y="316230"/>
            <a:ext cx="6864985" cy="895350"/>
          </a:xfrm>
          <a:solidFill>
            <a:schemeClr val="bg1"/>
          </a:solidFill>
        </p:spPr>
        <p:txBody>
          <a:bodyPr anchor="ctr"/>
          <a:p>
            <a:pPr>
              <a:lnSpc>
                <a:spcPct val="80000"/>
              </a:lnSpc>
            </a:pPr>
            <a:r>
              <a:rPr lang="zh-CN" altLang="en-US" b="1" u="sng">
                <a:solidFill>
                  <a:schemeClr val="hlink"/>
                </a:solidFill>
                <a:latin typeface="Times New Roman" panose="02020603050405020304" pitchFamily="18" charset="0"/>
                <a:ea typeface="楷体" panose="02010609060101010101" charset="-122"/>
                <a:cs typeface="Times New Roman" panose="02020603050405020304" pitchFamily="18" charset="0"/>
              </a:rPr>
              <a:t>设计总结报告的工整性</a:t>
            </a:r>
            <a:r>
              <a:rPr lang="en-US" altLang="zh-CN" sz="2800" b="1" u="sng">
                <a:solidFill>
                  <a:srgbClr val="FF0000"/>
                </a:solidFill>
                <a:latin typeface="Times New Roman" panose="02020603050405020304" pitchFamily="18" charset="0"/>
                <a:ea typeface="楷体" panose="02010609060101010101" charset="-122"/>
                <a:cs typeface="Times New Roman" panose="02020603050405020304" pitchFamily="18" charset="0"/>
              </a:rPr>
              <a:t>（</a:t>
            </a:r>
            <a:r>
              <a:rPr lang="zh-CN" altLang="en-US" sz="2800" b="1" u="sng">
                <a:solidFill>
                  <a:srgbClr val="FF0000"/>
                </a:solidFill>
                <a:latin typeface="Times New Roman" panose="02020603050405020304" pitchFamily="18" charset="0"/>
                <a:ea typeface="楷体" panose="02010609060101010101" charset="-122"/>
                <a:cs typeface="Times New Roman" panose="02020603050405020304" pitchFamily="18" charset="0"/>
              </a:rPr>
              <a:t>案例</a:t>
            </a:r>
            <a:r>
              <a:rPr lang="en-US" altLang="zh-CN" sz="2800" b="1" u="sng">
                <a:solidFill>
                  <a:srgbClr val="FF0000"/>
                </a:solidFill>
                <a:latin typeface="Times New Roman" panose="02020603050405020304" pitchFamily="18" charset="0"/>
                <a:ea typeface="楷体" panose="02010609060101010101" charset="-122"/>
                <a:cs typeface="Times New Roman" panose="02020603050405020304" pitchFamily="18" charset="0"/>
              </a:rPr>
              <a:t>）</a:t>
            </a:r>
            <a:endParaRPr lang="en-US" altLang="zh-CN" sz="2800" b="1" u="sng">
              <a:solidFill>
                <a:srgbClr val="FF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46082"/>
          <p:cNvSpPr>
            <a:spLocks noGrp="1" noRot="1"/>
          </p:cNvSpPr>
          <p:nvPr/>
        </p:nvSpPr>
        <p:spPr>
          <a:xfrm>
            <a:off x="6205855" y="388620"/>
            <a:ext cx="5479415" cy="6080760"/>
          </a:xfrm>
          <a:prstGeom prst="rect">
            <a:avLst/>
          </a:prstGeom>
          <a:solidFill>
            <a:schemeClr val="bg1"/>
          </a:solidFill>
          <a:ln w="47625" cmpd="thickThin">
            <a:solidFill>
              <a:srgbClr val="FF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rPr>
              <a:t>附录包括：</a:t>
            </a:r>
            <a:endParaRPr lang="zh-CN" altLang="en-US" sz="2400">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rPr>
              <a:t>仪器设备清单包含：</a:t>
            </a:r>
            <a:endParaRPr lang="zh-CN" altLang="en-US" sz="2400">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rPr>
              <a:t>序号</a:t>
            </a:r>
            <a:endParaRPr lang="zh-CN" altLang="en-US" sz="2400">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rPr>
              <a:t>名称、型号及规格</a:t>
            </a:r>
            <a:endParaRPr lang="zh-CN" altLang="en-US" sz="2400">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rPr>
              <a:t>主要技术指标</a:t>
            </a:r>
            <a:endParaRPr lang="zh-CN" altLang="en-US" sz="2400">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rPr>
              <a:t>数量</a:t>
            </a:r>
            <a:endParaRPr lang="zh-CN" altLang="en-US" sz="2400">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rPr>
              <a:t>备注</a:t>
            </a:r>
            <a:r>
              <a:rPr lang="en-US" altLang="zh-CN" sz="2400">
                <a:latin typeface="Times New Roman" panose="02020603050405020304" pitchFamily="18" charset="0"/>
                <a:ea typeface="华文楷体" panose="02010600040101010101" charset="-122"/>
                <a:cs typeface="Times New Roman" panose="02020603050405020304" pitchFamily="18" charset="0"/>
              </a:rPr>
              <a:t>（</a:t>
            </a:r>
            <a:r>
              <a:rPr lang="zh-CN" altLang="en-US" sz="2400">
                <a:latin typeface="Times New Roman" panose="02020603050405020304" pitchFamily="18" charset="0"/>
                <a:ea typeface="华文楷体" panose="02010600040101010101" charset="-122"/>
                <a:cs typeface="Times New Roman" panose="02020603050405020304" pitchFamily="18" charset="0"/>
              </a:rPr>
              <a:t>仪器仪表生产厂家</a:t>
            </a:r>
            <a:r>
              <a:rPr lang="en-US" altLang="zh-CN" sz="2400">
                <a:latin typeface="Times New Roman" panose="02020603050405020304" pitchFamily="18" charset="0"/>
                <a:ea typeface="华文楷体" panose="02010600040101010101" charset="-122"/>
                <a:cs typeface="Times New Roman" panose="02020603050405020304" pitchFamily="18" charset="0"/>
              </a:rPr>
              <a:t>）</a:t>
            </a:r>
            <a:endParaRPr lang="en-US" altLang="zh-CN" sz="2400">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endParaRPr lang="en-US" altLang="zh-CN" sz="2400">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rPr>
              <a:t>电路图图纸要注意选择合适的图幅大小、标注栏。</a:t>
            </a:r>
            <a:endParaRPr lang="zh-CN" altLang="en-US" sz="2400">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endParaRPr lang="zh-CN" altLang="en-US" sz="2400">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rPr>
              <a:t>程序清单要有注释、总程序功能和分段程序功能的文字说明等内容。</a:t>
            </a:r>
            <a:endParaRPr lang="zh-CN" altLang="en-US" sz="2400">
              <a:latin typeface="Times New Roman" panose="02020603050405020304" pitchFamily="18" charset="0"/>
              <a:ea typeface="华文楷体" panose="02010600040101010101" charset="-122"/>
              <a:cs typeface="Times New Roman" panose="02020603050405020304" pitchFamily="18" charset="0"/>
            </a:endParaRPr>
          </a:p>
        </p:txBody>
      </p:sp>
      <p:sp>
        <p:nvSpPr>
          <p:cNvPr id="4" name="文本占位符 46082"/>
          <p:cNvSpPr>
            <a:spLocks noGrp="1" noRot="1"/>
          </p:cNvSpPr>
          <p:nvPr/>
        </p:nvSpPr>
        <p:spPr>
          <a:xfrm>
            <a:off x="479425" y="388620"/>
            <a:ext cx="5479415" cy="6080760"/>
          </a:xfrm>
          <a:prstGeom prst="rect">
            <a:avLst/>
          </a:prstGeom>
          <a:solidFill>
            <a:schemeClr val="bg1"/>
          </a:solidFill>
          <a:ln w="47625" cmpd="thickThin">
            <a:solidFill>
              <a:srgbClr val="FF000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sym typeface="+mn-ea"/>
              </a:rPr>
              <a:t>附录包括：</a:t>
            </a:r>
            <a:endParaRPr lang="zh-CN" altLang="en-US" sz="2400" b="1">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sym typeface="+mn-ea"/>
              </a:rPr>
              <a:t>元器件明细表</a:t>
            </a:r>
            <a:endParaRPr lang="zh-CN" altLang="en-US" sz="2400" b="1">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sym typeface="+mn-ea"/>
              </a:rPr>
              <a:t>仪器设备清单</a:t>
            </a:r>
            <a:endParaRPr lang="zh-CN" altLang="en-US" sz="2400" b="1">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sym typeface="+mn-ea"/>
              </a:rPr>
              <a:t>电路图图纸</a:t>
            </a:r>
            <a:endParaRPr lang="zh-CN" altLang="en-US" sz="2400" b="1">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sym typeface="+mn-ea"/>
              </a:rPr>
              <a:t>设计的程序清单</a:t>
            </a:r>
            <a:endParaRPr lang="zh-CN" altLang="en-US" sz="2400" b="1">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sym typeface="+mn-ea"/>
              </a:rPr>
              <a:t>电路使用说明等</a:t>
            </a:r>
            <a:endParaRPr lang="zh-CN" altLang="en-US" sz="2400" b="1">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sym typeface="+mn-ea"/>
              </a:rPr>
              <a:t>    </a:t>
            </a:r>
            <a:endParaRPr lang="zh-CN" altLang="en-US" sz="2400" b="1">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sym typeface="+mn-ea"/>
              </a:rPr>
              <a:t>元器件明细表包含：</a:t>
            </a:r>
            <a:endParaRPr lang="zh-CN" altLang="en-US" sz="2400" b="1">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sym typeface="+mn-ea"/>
              </a:rPr>
              <a:t>序号</a:t>
            </a:r>
            <a:endParaRPr lang="zh-CN" altLang="en-US" sz="2400" b="1">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sym typeface="+mn-ea"/>
              </a:rPr>
              <a:t>名称、型号及规格</a:t>
            </a:r>
            <a:r>
              <a:rPr lang="en-US" altLang="zh-CN" sz="2400">
                <a:latin typeface="Times New Roman" panose="02020603050405020304" pitchFamily="18" charset="0"/>
                <a:ea typeface="华文楷体" panose="02010600040101010101" charset="-122"/>
                <a:cs typeface="Times New Roman" panose="02020603050405020304" pitchFamily="18" charset="0"/>
                <a:sym typeface="+mn-ea"/>
              </a:rPr>
              <a:t>（</a:t>
            </a:r>
            <a:r>
              <a:rPr lang="zh-CN" altLang="en-US" sz="2400">
                <a:latin typeface="Times New Roman" panose="02020603050405020304" pitchFamily="18" charset="0"/>
                <a:ea typeface="华文楷体" panose="02010600040101010101" charset="-122"/>
                <a:cs typeface="Times New Roman" panose="02020603050405020304" pitchFamily="18" charset="0"/>
                <a:sym typeface="+mn-ea"/>
              </a:rPr>
              <a:t>如电阻器</a:t>
            </a:r>
            <a:r>
              <a:rPr lang="en-US" altLang="zh-CN" sz="2400">
                <a:latin typeface="Times New Roman" panose="02020603050405020304" pitchFamily="18" charset="0"/>
                <a:ea typeface="华文楷体" panose="02010600040101010101" charset="-122"/>
                <a:cs typeface="Times New Roman" panose="02020603050405020304" pitchFamily="18" charset="0"/>
                <a:sym typeface="+mn-ea"/>
              </a:rPr>
              <a:t>RJl4-0.25W-510Ω</a:t>
            </a:r>
            <a:r>
              <a:rPr lang="zh-CN" altLang="en-US" sz="2400">
                <a:latin typeface="Times New Roman" panose="02020603050405020304" pitchFamily="18" charset="0"/>
                <a:ea typeface="华文楷体" panose="02010600040101010101" charset="-122"/>
                <a:cs typeface="Times New Roman" panose="02020603050405020304" pitchFamily="18" charset="0"/>
                <a:sym typeface="+mn-ea"/>
              </a:rPr>
              <a:t>士</a:t>
            </a:r>
            <a:r>
              <a:rPr lang="en-US" altLang="zh-CN" sz="2400">
                <a:latin typeface="Times New Roman" panose="02020603050405020304" pitchFamily="18" charset="0"/>
                <a:ea typeface="华文楷体" panose="02010600040101010101" charset="-122"/>
                <a:cs typeface="Times New Roman" panose="02020603050405020304" pitchFamily="18" charset="0"/>
                <a:sym typeface="+mn-ea"/>
              </a:rPr>
              <a:t>5</a:t>
            </a:r>
            <a:r>
              <a:rPr lang="zh-CN" altLang="en-US" sz="2400">
                <a:latin typeface="Times New Roman" panose="02020603050405020304" pitchFamily="18" charset="0"/>
                <a:ea typeface="华文楷体" panose="02010600040101010101" charset="-122"/>
                <a:cs typeface="Times New Roman" panose="02020603050405020304" pitchFamily="18" charset="0"/>
                <a:sym typeface="+mn-ea"/>
              </a:rPr>
              <a:t>％</a:t>
            </a:r>
            <a:r>
              <a:rPr lang="en-US" altLang="zh-CN" sz="2400">
                <a:latin typeface="Times New Roman" panose="02020603050405020304" pitchFamily="18" charset="0"/>
                <a:ea typeface="华文楷体" panose="02010600040101010101" charset="-122"/>
                <a:cs typeface="Times New Roman" panose="02020603050405020304" pitchFamily="18" charset="0"/>
                <a:sym typeface="+mn-ea"/>
              </a:rPr>
              <a:t>）</a:t>
            </a:r>
            <a:endParaRPr lang="en-US" altLang="zh-CN" sz="2400" b="1">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sym typeface="+mn-ea"/>
              </a:rPr>
              <a:t>数量</a:t>
            </a:r>
            <a:endParaRPr lang="zh-CN" altLang="en-US" sz="2400" b="1">
              <a:latin typeface="Times New Roman" panose="02020603050405020304" pitchFamily="18" charset="0"/>
              <a:ea typeface="华文楷体" panose="02010600040101010101" charset="-122"/>
              <a:cs typeface="Times New Roman" panose="02020603050405020304" pitchFamily="18" charset="0"/>
            </a:endParaRPr>
          </a:p>
          <a:p>
            <a:pPr>
              <a:lnSpc>
                <a:spcPct val="90000"/>
              </a:lnSpc>
              <a:buNone/>
            </a:pPr>
            <a:r>
              <a:rPr lang="zh-CN" altLang="en-US" sz="2400">
                <a:latin typeface="Times New Roman" panose="02020603050405020304" pitchFamily="18" charset="0"/>
                <a:ea typeface="华文楷体" panose="02010600040101010101" charset="-122"/>
                <a:cs typeface="Times New Roman" panose="02020603050405020304" pitchFamily="18" charset="0"/>
                <a:sym typeface="+mn-ea"/>
              </a:rPr>
              <a:t>备注</a:t>
            </a:r>
            <a:r>
              <a:rPr lang="en-US" altLang="zh-CN" sz="2400">
                <a:latin typeface="Times New Roman" panose="02020603050405020304" pitchFamily="18" charset="0"/>
                <a:ea typeface="华文楷体" panose="02010600040101010101" charset="-122"/>
                <a:cs typeface="Times New Roman" panose="02020603050405020304" pitchFamily="18" charset="0"/>
                <a:sym typeface="+mn-ea"/>
              </a:rPr>
              <a:t>（</a:t>
            </a:r>
            <a:r>
              <a:rPr lang="zh-CN" altLang="en-US" sz="2400">
                <a:latin typeface="Times New Roman" panose="02020603050405020304" pitchFamily="18" charset="0"/>
                <a:ea typeface="华文楷体" panose="02010600040101010101" charset="-122"/>
                <a:cs typeface="Times New Roman" panose="02020603050405020304" pitchFamily="18" charset="0"/>
                <a:sym typeface="+mn-ea"/>
              </a:rPr>
              <a:t>元器件位号</a:t>
            </a:r>
            <a:r>
              <a:rPr lang="en-US" altLang="zh-CN" sz="2400">
                <a:latin typeface="Times New Roman" panose="02020603050405020304" pitchFamily="18" charset="0"/>
                <a:ea typeface="华文楷体" panose="02010600040101010101" charset="-122"/>
                <a:cs typeface="Times New Roman" panose="02020603050405020304" pitchFamily="18" charset="0"/>
                <a:sym typeface="+mn-ea"/>
              </a:rPr>
              <a:t>）</a:t>
            </a:r>
            <a:endParaRPr lang="en-US" altLang="zh-CN" sz="2400" b="1">
              <a:latin typeface="Times New Roman" panose="02020603050405020304" pitchFamily="18" charset="0"/>
              <a:ea typeface="华文楷体" panose="02010600040101010101" charset="-122"/>
              <a:cs typeface="Times New Roman" panose="02020603050405020304" pitchFamily="18" charset="0"/>
            </a:endParaRPr>
          </a:p>
          <a:p>
            <a:pPr>
              <a:lnSpc>
                <a:spcPct val="80000"/>
              </a:lnSpc>
              <a:buNone/>
            </a:pPr>
            <a:endParaRPr lang="zh-CN" altLang="en-US" sz="2400">
              <a:latin typeface="Times New Roman" panose="02020603050405020304" pitchFamily="18" charset="0"/>
              <a:ea typeface="华文楷体" panose="02010600040101010101" charset="-122"/>
              <a:cs typeface="Times New Roman" panose="02020603050405020304" pitchFamily="18" charset="0"/>
            </a:endParaRPr>
          </a:p>
        </p:txBody>
      </p:sp>
    </p:spTree>
  </p:cSld>
  <p:clrMapOvr>
    <a:masterClrMapping/>
  </p:clrMapOvr>
  <p:transition>
    <p:pull dir="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7" name="文本占位符 47106"/>
          <p:cNvSpPr>
            <a:spLocks noGrp="1" noRot="1"/>
          </p:cNvSpPr>
          <p:nvPr>
            <p:ph type="body" idx="1"/>
          </p:nvPr>
        </p:nvSpPr>
        <p:spPr>
          <a:xfrm>
            <a:off x="850265" y="1651635"/>
            <a:ext cx="10490835" cy="3906520"/>
          </a:xfrm>
        </p:spPr>
        <p:txBody>
          <a:bodyPr/>
          <a:p>
            <a:pPr marL="0" indent="632460">
              <a:lnSpc>
                <a:spcPct val="130000"/>
              </a:lnSpc>
              <a:buNone/>
            </a:pPr>
            <a:r>
              <a:rPr lang="zh-CN" altLang="en-US" sz="2400">
                <a:solidFill>
                  <a:srgbClr val="FF0000"/>
                </a:solidFill>
              </a:rPr>
              <a:t>《设计报告》写作装订</a:t>
            </a:r>
            <a:endParaRPr lang="zh-CN" altLang="en-US" sz="2400">
              <a:solidFill>
                <a:srgbClr val="FF0000"/>
              </a:solidFill>
            </a:endParaRPr>
          </a:p>
          <a:p>
            <a:pPr marL="0" indent="632460">
              <a:lnSpc>
                <a:spcPct val="130000"/>
              </a:lnSpc>
              <a:buNone/>
            </a:pPr>
            <a:r>
              <a:rPr lang="zh-CN" altLang="en-US" sz="2400"/>
              <a:t>参赛学生在撰写《设计报告》时应注意，报告封面及每页纸上均不得出现参赛队的学校、代码、姓名等文字，否则取消评审资格。</a:t>
            </a:r>
            <a:endParaRPr lang="zh-CN" altLang="en-US" sz="2400"/>
          </a:p>
          <a:p>
            <a:pPr marL="0" indent="632460">
              <a:lnSpc>
                <a:spcPct val="130000"/>
              </a:lnSpc>
              <a:buNone/>
            </a:pPr>
            <a:r>
              <a:rPr lang="zh-CN" altLang="en-US" sz="2400"/>
              <a:t>报告正文长度严格限制为</a:t>
            </a:r>
            <a:r>
              <a:rPr lang="zh-CN" altLang="en-US" sz="2400" u="sng">
                <a:solidFill>
                  <a:srgbClr val="FF0000"/>
                </a:solidFill>
              </a:rPr>
              <a:t>A4纸8页以内</a:t>
            </a:r>
            <a:r>
              <a:rPr lang="zh-CN" altLang="en-US" sz="2400"/>
              <a:t>，首页另附300字以内的设计报告中文摘要，正文采用</a:t>
            </a:r>
            <a:r>
              <a:rPr lang="zh-CN" altLang="en-US" sz="2400" u="sng">
                <a:solidFill>
                  <a:srgbClr val="FF0000"/>
                </a:solidFill>
              </a:rPr>
              <a:t>小四号宋</a:t>
            </a:r>
            <a:r>
              <a:rPr lang="zh-CN" altLang="en-US" sz="2400"/>
              <a:t>体字，行距</a:t>
            </a:r>
            <a:r>
              <a:rPr lang="zh-CN" altLang="en-US" sz="2400" u="sng">
                <a:solidFill>
                  <a:srgbClr val="FF0000"/>
                </a:solidFill>
              </a:rPr>
              <a:t>固定值22磅</a:t>
            </a:r>
            <a:r>
              <a:rPr lang="zh-CN" altLang="en-US" sz="2400"/>
              <a:t>，</a:t>
            </a:r>
            <a:r>
              <a:rPr lang="zh-CN" altLang="en-US" sz="2400" u="sng">
                <a:solidFill>
                  <a:srgbClr val="FF0000"/>
                </a:solidFill>
              </a:rPr>
              <a:t>标题字号自定</a:t>
            </a:r>
            <a:r>
              <a:rPr lang="zh-CN" altLang="en-US" sz="2400"/>
              <a:t>，</a:t>
            </a:r>
            <a:r>
              <a:rPr lang="zh-CN" altLang="en-US" sz="2400" u="sng">
                <a:solidFill>
                  <a:srgbClr val="FF0000"/>
                </a:solidFill>
              </a:rPr>
              <a:t>纵向打印</a:t>
            </a:r>
            <a:r>
              <a:rPr lang="zh-CN" altLang="en-US" sz="2400"/>
              <a:t>。《设计报告》每页上方必须留出3cm以上空白，空白区域内不得有任何文字，每页右下端注明页码。</a:t>
            </a:r>
            <a:endParaRPr lang="zh-CN" altLang="en-US" sz="2400"/>
          </a:p>
        </p:txBody>
      </p:sp>
      <p:sp>
        <p:nvSpPr>
          <p:cNvPr id="45058" name="标题 45057"/>
          <p:cNvSpPr>
            <a:spLocks noGrp="1" noRot="1"/>
          </p:cNvSpPr>
          <p:nvPr>
            <p:ph type="title"/>
          </p:nvPr>
        </p:nvSpPr>
        <p:spPr>
          <a:xfrm>
            <a:off x="1181735" y="756285"/>
            <a:ext cx="8169910" cy="895350"/>
          </a:xfrm>
          <a:solidFill>
            <a:schemeClr val="bg1"/>
          </a:solidFill>
        </p:spPr>
        <p:txBody>
          <a:bodyPr anchor="ctr"/>
          <a:p>
            <a:pPr>
              <a:lnSpc>
                <a:spcPct val="80000"/>
              </a:lnSpc>
            </a:pPr>
            <a:r>
              <a:rPr lang="zh-CN" altLang="en-US" b="1" u="sng">
                <a:solidFill>
                  <a:schemeClr val="hlink"/>
                </a:solidFill>
                <a:latin typeface="Times New Roman" panose="02020603050405020304" pitchFamily="18" charset="0"/>
                <a:ea typeface="楷体" panose="02010609060101010101" charset="-122"/>
                <a:cs typeface="Times New Roman" panose="02020603050405020304" pitchFamily="18" charset="0"/>
              </a:rPr>
              <a:t>设计总结报告的工整性</a:t>
            </a:r>
            <a:r>
              <a:rPr lang="en-US" altLang="zh-CN" sz="2800" b="1" u="sng">
                <a:solidFill>
                  <a:srgbClr val="FF0000"/>
                </a:solidFill>
                <a:latin typeface="Times New Roman" panose="02020603050405020304" pitchFamily="18" charset="0"/>
                <a:ea typeface="楷体" panose="02010609060101010101" charset="-122"/>
                <a:cs typeface="Times New Roman" panose="02020603050405020304" pitchFamily="18" charset="0"/>
              </a:rPr>
              <a:t>（</a:t>
            </a:r>
            <a:r>
              <a:rPr lang="zh-CN" altLang="en-US" sz="2800" b="1" u="sng">
                <a:solidFill>
                  <a:srgbClr val="FF0000"/>
                </a:solidFill>
                <a:latin typeface="Times New Roman" panose="02020603050405020304" pitchFamily="18" charset="0"/>
                <a:ea typeface="楷体" panose="02010609060101010101" charset="-122"/>
                <a:cs typeface="Times New Roman" panose="02020603050405020304" pitchFamily="18" charset="0"/>
              </a:rPr>
              <a:t>组委会要求</a:t>
            </a:r>
            <a:r>
              <a:rPr lang="en-US" altLang="zh-CN" sz="2800" b="1" u="sng">
                <a:solidFill>
                  <a:srgbClr val="FF0000"/>
                </a:solidFill>
                <a:latin typeface="Times New Roman" panose="02020603050405020304" pitchFamily="18" charset="0"/>
                <a:ea typeface="楷体" panose="02010609060101010101" charset="-122"/>
                <a:cs typeface="Times New Roman" panose="02020603050405020304" pitchFamily="18" charset="0"/>
              </a:rPr>
              <a:t>）</a:t>
            </a:r>
            <a:endParaRPr lang="en-US" altLang="zh-CN" sz="2800" b="1" u="sng">
              <a:solidFill>
                <a:srgbClr val="FF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8131" name="图片 48130" descr="未标题-2拷贝"/>
          <p:cNvPicPr>
            <a:picLocks noChangeAspect="1"/>
          </p:cNvPicPr>
          <p:nvPr/>
        </p:nvPicPr>
        <p:blipFill>
          <a:blip r:embed="rId1"/>
          <a:stretch>
            <a:fillRect/>
          </a:stretch>
        </p:blipFill>
        <p:spPr>
          <a:xfrm>
            <a:off x="4359275" y="46990"/>
            <a:ext cx="7832725" cy="6764020"/>
          </a:xfrm>
          <a:prstGeom prst="rect">
            <a:avLst/>
          </a:prstGeom>
          <a:noFill/>
          <a:ln w="9525">
            <a:noFill/>
          </a:ln>
        </p:spPr>
      </p:pic>
      <p:sp>
        <p:nvSpPr>
          <p:cNvPr id="2" name="文本框 1"/>
          <p:cNvSpPr txBox="1"/>
          <p:nvPr/>
        </p:nvSpPr>
        <p:spPr>
          <a:xfrm>
            <a:off x="1146810" y="4103370"/>
            <a:ext cx="3042920" cy="521970"/>
          </a:xfrm>
          <a:prstGeom prst="rect">
            <a:avLst/>
          </a:prstGeom>
          <a:noFill/>
        </p:spPr>
        <p:txBody>
          <a:bodyPr wrap="none" rtlCol="0">
            <a:spAutoFit/>
          </a:bodyPr>
          <a:p>
            <a:pPr algn="l"/>
            <a:r>
              <a:rPr lang="zh-CN" altLang="en-US" sz="2800" b="1">
                <a:solidFill>
                  <a:srgbClr val="FF0000"/>
                </a:solidFill>
              </a:rPr>
              <a:t>选题后要做的事：</a:t>
            </a:r>
            <a:endParaRPr lang="zh-CN" altLang="en-US" sz="2800" b="1">
              <a:solidFill>
                <a:srgbClr val="FF0000"/>
              </a:solidFill>
            </a:endParaRPr>
          </a:p>
        </p:txBody>
      </p:sp>
      <p:sp>
        <p:nvSpPr>
          <p:cNvPr id="48130" name="标题 48129"/>
          <p:cNvSpPr>
            <a:spLocks noGrp="1" noRot="1"/>
          </p:cNvSpPr>
          <p:nvPr>
            <p:ph type="title"/>
          </p:nvPr>
        </p:nvSpPr>
        <p:spPr>
          <a:xfrm>
            <a:off x="514985" y="219075"/>
            <a:ext cx="4747895" cy="765175"/>
          </a:xfrm>
          <a:solidFill>
            <a:schemeClr val="bg1"/>
          </a:solidFill>
        </p:spPr>
        <p:txBody>
          <a:bodyPr anchor="ctr"/>
          <a:p>
            <a:r>
              <a:rPr lang="zh-CN" altLang="en-US" b="1" u="sng">
                <a:solidFill>
                  <a:srgbClr val="FF0000"/>
                </a:solidFill>
              </a:rPr>
              <a:t>伍 </a:t>
            </a:r>
            <a:r>
              <a:rPr lang="zh-CN" altLang="en-US" b="1" u="sng">
                <a:solidFill>
                  <a:schemeClr val="hlink"/>
                </a:solidFill>
              </a:rPr>
              <a:t> 竞赛设计制作过程</a:t>
            </a:r>
            <a:endParaRPr lang="zh-CN" altLang="en-US" b="1" u="sng">
              <a:solidFill>
                <a:schemeClr val="hlink"/>
              </a:solidFill>
            </a:endParaRPr>
          </a:p>
        </p:txBody>
      </p:sp>
    </p:spTree>
  </p:cSld>
  <p:clrMapOvr>
    <a:masterClrMapping/>
  </p:clrMapOvr>
  <p:transition>
    <p:pull dir="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标题 49153"/>
          <p:cNvSpPr>
            <a:spLocks noGrp="1" noRot="1"/>
          </p:cNvSpPr>
          <p:nvPr>
            <p:ph type="title"/>
          </p:nvPr>
        </p:nvSpPr>
        <p:spPr>
          <a:xfrm>
            <a:off x="1847850" y="189230"/>
            <a:ext cx="3388995" cy="863600"/>
          </a:xfrm>
          <a:solidFill>
            <a:schemeClr val="bg1"/>
          </a:solidFill>
        </p:spPr>
        <p:txBody>
          <a:bodyPr anchor="ctr"/>
          <a:p>
            <a:r>
              <a:rPr lang="en-US" b="1" u="sng">
                <a:solidFill>
                  <a:srgbClr val="FF0000"/>
                </a:solidFill>
                <a:ea typeface="楷体" panose="02010609060101010101" charset="-122"/>
                <a:cs typeface="+mj-lt"/>
              </a:rPr>
              <a:t>5.1 </a:t>
            </a:r>
            <a:r>
              <a:rPr lang="en-US" b="1" u="sng">
                <a:solidFill>
                  <a:schemeClr val="hlink"/>
                </a:solidFill>
                <a:ea typeface="楷体" panose="02010609060101010101" charset="-122"/>
                <a:cs typeface="+mj-lt"/>
              </a:rPr>
              <a:t> </a:t>
            </a:r>
            <a:r>
              <a:rPr lang="zh-CN" altLang="en-US" u="sng">
                <a:ea typeface="楷体" panose="02010609060101010101" charset="-122"/>
                <a:cs typeface="+mj-lt"/>
                <a:sym typeface="+mn-ea"/>
              </a:rPr>
              <a:t>题目选择</a:t>
            </a:r>
            <a:endParaRPr lang="zh-CN" altLang="en-US" b="1" u="sng">
              <a:solidFill>
                <a:schemeClr val="hlink"/>
              </a:solidFill>
              <a:ea typeface="楷体" panose="02010609060101010101" charset="-122"/>
              <a:cs typeface="+mj-lt"/>
              <a:sym typeface="+mn-ea"/>
            </a:endParaRPr>
          </a:p>
        </p:txBody>
      </p:sp>
      <p:sp>
        <p:nvSpPr>
          <p:cNvPr id="49155" name="文本占位符 49154"/>
          <p:cNvSpPr>
            <a:spLocks noGrp="1" noRot="1"/>
          </p:cNvSpPr>
          <p:nvPr>
            <p:ph type="body" idx="1"/>
          </p:nvPr>
        </p:nvSpPr>
        <p:spPr>
          <a:xfrm>
            <a:off x="512445" y="1052830"/>
            <a:ext cx="11344275" cy="5541010"/>
          </a:xfrm>
          <a:solidFill>
            <a:schemeClr val="bg1"/>
          </a:solidFill>
        </p:spPr>
        <p:txBody>
          <a:bodyPr/>
          <a:p>
            <a:pPr marL="0" indent="699770" eaLnBrk="1">
              <a:lnSpc>
                <a:spcPct val="120000"/>
              </a:lnSpc>
              <a:spcBef>
                <a:spcPts val="0"/>
              </a:spcBef>
              <a:buNone/>
            </a:pPr>
            <a:r>
              <a:rPr lang="zh-CN" altLang="en-US">
                <a:latin typeface="+mj-lt"/>
                <a:ea typeface="楷体" panose="02010609060101010101" charset="-122"/>
                <a:cs typeface="+mj-lt"/>
              </a:rPr>
              <a:t>全国大学生电子设计竞赛作品设计制作时间是</a:t>
            </a:r>
            <a:r>
              <a:rPr lang="en-US" altLang="zh-CN">
                <a:latin typeface="+mj-lt"/>
                <a:ea typeface="楷体" panose="02010609060101010101" charset="-122"/>
                <a:cs typeface="+mj-lt"/>
              </a:rPr>
              <a:t>4</a:t>
            </a:r>
            <a:r>
              <a:rPr lang="zh-CN" altLang="en-US">
                <a:latin typeface="+mj-lt"/>
                <a:ea typeface="楷体" panose="02010609060101010101" charset="-122"/>
                <a:cs typeface="+mj-lt"/>
              </a:rPr>
              <a:t>天</a:t>
            </a:r>
            <a:r>
              <a:rPr lang="en-US" altLang="zh-CN">
                <a:latin typeface="+mj-lt"/>
                <a:ea typeface="楷体" panose="02010609060101010101" charset="-122"/>
                <a:cs typeface="+mj-lt"/>
              </a:rPr>
              <a:t>3</a:t>
            </a:r>
            <a:r>
              <a:rPr lang="zh-CN" altLang="en-US">
                <a:latin typeface="+mj-lt"/>
                <a:ea typeface="楷体" panose="02010609060101010101" charset="-122"/>
                <a:cs typeface="+mj-lt"/>
              </a:rPr>
              <a:t>晚，</a:t>
            </a:r>
            <a:r>
              <a:rPr lang="en-US" altLang="zh-CN">
                <a:latin typeface="+mj-lt"/>
                <a:ea typeface="楷体" panose="02010609060101010101" charset="-122"/>
                <a:cs typeface="+mj-lt"/>
              </a:rPr>
              <a:t>3</a:t>
            </a:r>
            <a:r>
              <a:rPr lang="zh-CN" altLang="en-US">
                <a:latin typeface="+mj-lt"/>
                <a:ea typeface="楷体" panose="02010609060101010101" charset="-122"/>
                <a:cs typeface="+mj-lt"/>
              </a:rPr>
              <a:t>人一组。竞赛题目一般为</a:t>
            </a:r>
            <a:r>
              <a:rPr lang="en-US" altLang="zh-CN">
                <a:latin typeface="+mj-lt"/>
                <a:ea typeface="楷体" panose="02010609060101010101" charset="-122"/>
                <a:cs typeface="+mj-lt"/>
              </a:rPr>
              <a:t>5</a:t>
            </a:r>
            <a:r>
              <a:rPr lang="zh-CN" altLang="en-US">
                <a:latin typeface="+mj-lt"/>
                <a:ea typeface="楷体" panose="02010609060101010101" charset="-122"/>
                <a:cs typeface="+mj-lt"/>
              </a:rPr>
              <a:t>～</a:t>
            </a:r>
            <a:r>
              <a:rPr lang="en-US" altLang="zh-CN">
                <a:latin typeface="+mj-lt"/>
                <a:ea typeface="楷体" panose="02010609060101010101" charset="-122"/>
                <a:cs typeface="+mj-lt"/>
              </a:rPr>
              <a:t>6</a:t>
            </a:r>
            <a:r>
              <a:rPr lang="zh-CN" altLang="en-US">
                <a:latin typeface="+mj-lt"/>
                <a:ea typeface="楷体" panose="02010609060101010101" charset="-122"/>
                <a:cs typeface="+mj-lt"/>
              </a:rPr>
              <a:t>题，题目在竞赛开始时</a:t>
            </a:r>
            <a:r>
              <a:rPr lang="en-US" altLang="zh-CN">
                <a:latin typeface="+mj-lt"/>
                <a:ea typeface="楷体" panose="02010609060101010101" charset="-122"/>
                <a:cs typeface="+mj-lt"/>
              </a:rPr>
              <a:t>（</a:t>
            </a:r>
            <a:r>
              <a:rPr lang="zh-CN" altLang="en-US">
                <a:latin typeface="+mj-lt"/>
                <a:ea typeface="楷体" panose="02010609060101010101" charset="-122"/>
                <a:cs typeface="+mj-lt"/>
              </a:rPr>
              <a:t>第</a:t>
            </a:r>
            <a:r>
              <a:rPr lang="en-US" altLang="zh-CN">
                <a:latin typeface="+mj-lt"/>
                <a:ea typeface="楷体" panose="02010609060101010101" charset="-122"/>
                <a:cs typeface="+mj-lt"/>
              </a:rPr>
              <a:t>1</a:t>
            </a:r>
            <a:r>
              <a:rPr lang="zh-CN" altLang="en-US">
                <a:latin typeface="+mj-lt"/>
                <a:ea typeface="楷体" panose="02010609060101010101" charset="-122"/>
                <a:cs typeface="+mj-lt"/>
              </a:rPr>
              <a:t>天的</a:t>
            </a:r>
            <a:r>
              <a:rPr lang="en-US" altLang="zh-CN">
                <a:latin typeface="+mj-lt"/>
                <a:ea typeface="楷体" panose="02010609060101010101" charset="-122"/>
                <a:cs typeface="+mj-lt"/>
              </a:rPr>
              <a:t>8</a:t>
            </a:r>
            <a:r>
              <a:rPr lang="zh-CN" altLang="en-US">
                <a:latin typeface="+mj-lt"/>
                <a:ea typeface="楷体" panose="02010609060101010101" charset="-122"/>
                <a:cs typeface="+mj-lt"/>
              </a:rPr>
              <a:t>：</a:t>
            </a:r>
            <a:r>
              <a:rPr lang="en-US" altLang="zh-CN">
                <a:latin typeface="+mj-lt"/>
                <a:ea typeface="楷体" panose="02010609060101010101" charset="-122"/>
                <a:cs typeface="+mj-lt"/>
              </a:rPr>
              <a:t>00）</a:t>
            </a:r>
            <a:r>
              <a:rPr lang="zh-CN" altLang="en-US">
                <a:latin typeface="+mj-lt"/>
                <a:ea typeface="楷体" panose="02010609060101010101" charset="-122"/>
                <a:cs typeface="+mj-lt"/>
              </a:rPr>
              <a:t>开启。</a:t>
            </a:r>
            <a:endParaRPr lang="zh-CN" altLang="en-US">
              <a:latin typeface="+mj-lt"/>
              <a:ea typeface="楷体" panose="02010609060101010101" charset="-122"/>
              <a:cs typeface="+mj-lt"/>
            </a:endParaRPr>
          </a:p>
          <a:p>
            <a:pPr marL="0" indent="699770" eaLnBrk="1">
              <a:lnSpc>
                <a:spcPct val="120000"/>
              </a:lnSpc>
              <a:spcBef>
                <a:spcPts val="0"/>
              </a:spcBef>
              <a:buNone/>
            </a:pPr>
            <a:r>
              <a:rPr lang="zh-CN" altLang="en-US">
                <a:solidFill>
                  <a:srgbClr val="FF0000"/>
                </a:solidFill>
                <a:latin typeface="+mj-lt"/>
                <a:ea typeface="楷体" panose="02010609060101010101" charset="-122"/>
                <a:cs typeface="+mj-lt"/>
              </a:rPr>
              <a:t>选择题目按照如下原则</a:t>
            </a:r>
            <a:r>
              <a:rPr lang="zh-CN" altLang="en-US">
                <a:latin typeface="+mj-lt"/>
                <a:ea typeface="楷体" panose="02010609060101010101" charset="-122"/>
                <a:cs typeface="+mj-lt"/>
              </a:rPr>
              <a:t>进行：明确设计任务，</a:t>
            </a:r>
            <a:r>
              <a:rPr lang="zh-CN" altLang="en-US" u="sng">
                <a:solidFill>
                  <a:srgbClr val="FF0000"/>
                </a:solidFill>
                <a:latin typeface="+mj-lt"/>
                <a:ea typeface="楷体" panose="02010609060101010101" charset="-122"/>
                <a:cs typeface="+mj-lt"/>
              </a:rPr>
              <a:t>即做什么？</a:t>
            </a:r>
            <a:endParaRPr lang="zh-CN" altLang="en-US">
              <a:latin typeface="+mj-lt"/>
              <a:ea typeface="楷体" panose="02010609060101010101" charset="-122"/>
              <a:cs typeface="+mj-lt"/>
            </a:endParaRPr>
          </a:p>
          <a:p>
            <a:pPr marL="0" indent="699770" eaLnBrk="1">
              <a:lnSpc>
                <a:spcPct val="120000"/>
              </a:lnSpc>
              <a:spcBef>
                <a:spcPts val="0"/>
              </a:spcBef>
              <a:buNone/>
            </a:pPr>
            <a:r>
              <a:rPr lang="zh-CN" altLang="en-US">
                <a:latin typeface="+mj-lt"/>
                <a:ea typeface="楷体" panose="02010609060101010101" charset="-122"/>
                <a:cs typeface="+mj-lt"/>
              </a:rPr>
              <a:t>选择题目应注意题目中不应该有自己小组的</a:t>
            </a:r>
            <a:r>
              <a:rPr lang="zh-CN" altLang="en-US">
                <a:solidFill>
                  <a:srgbClr val="FF0000"/>
                </a:solidFill>
                <a:latin typeface="+mj-lt"/>
                <a:ea typeface="楷体" panose="02010609060101010101" charset="-122"/>
                <a:cs typeface="+mj-lt"/>
              </a:rPr>
              <a:t>知识和技术</a:t>
            </a:r>
            <a:r>
              <a:rPr lang="zh-CN" altLang="en-US">
                <a:solidFill>
                  <a:srgbClr val="FF0000"/>
                </a:solidFill>
                <a:latin typeface="+mj-lt"/>
                <a:ea typeface="楷体" panose="02010609060101010101" charset="-122"/>
                <a:cs typeface="+mj-lt"/>
                <a:sym typeface="+mn-ea"/>
              </a:rPr>
              <a:t>盲点</a:t>
            </a:r>
            <a:r>
              <a:rPr lang="zh-CN" altLang="en-US">
                <a:latin typeface="+mj-lt"/>
                <a:ea typeface="楷体" panose="02010609060101010101" charset="-122"/>
                <a:cs typeface="+mj-lt"/>
              </a:rPr>
              <a:t>，即要能够看懂题目要求。</a:t>
            </a:r>
            <a:endParaRPr lang="zh-CN" altLang="en-US">
              <a:latin typeface="+mj-lt"/>
              <a:ea typeface="楷体" panose="02010609060101010101" charset="-122"/>
              <a:cs typeface="+mj-lt"/>
            </a:endParaRPr>
          </a:p>
          <a:p>
            <a:pPr marL="0" indent="699770" eaLnBrk="1">
              <a:lnSpc>
                <a:spcPct val="120000"/>
              </a:lnSpc>
              <a:spcBef>
                <a:spcPts val="0"/>
              </a:spcBef>
              <a:buNone/>
            </a:pPr>
            <a:r>
              <a:rPr lang="zh-CN" altLang="en-US">
                <a:latin typeface="+mj-lt"/>
                <a:ea typeface="楷体" panose="02010609060101010101" charset="-122"/>
                <a:cs typeface="+mj-lt"/>
              </a:rPr>
              <a:t>明确系统功能和指标，即明确</a:t>
            </a:r>
            <a:r>
              <a:rPr lang="zh-CN" altLang="en-US" u="sng">
                <a:solidFill>
                  <a:srgbClr val="FF0000"/>
                </a:solidFill>
                <a:latin typeface="+mj-lt"/>
                <a:ea typeface="楷体" panose="02010609060101010101" charset="-122"/>
                <a:cs typeface="+mj-lt"/>
              </a:rPr>
              <a:t>做到什么程度</a:t>
            </a:r>
            <a:r>
              <a:rPr lang="zh-CN" altLang="en-US">
                <a:latin typeface="+mj-lt"/>
                <a:ea typeface="楷体" panose="02010609060101010101" charset="-122"/>
                <a:cs typeface="+mj-lt"/>
              </a:rPr>
              <a:t>。题目中的设计要求一般分基本要求和发挥部分两部分，各占</a:t>
            </a:r>
            <a:r>
              <a:rPr lang="en-US" altLang="zh-CN">
                <a:latin typeface="+mj-lt"/>
                <a:ea typeface="楷体" panose="02010609060101010101" charset="-122"/>
                <a:cs typeface="+mj-lt"/>
              </a:rPr>
              <a:t>50</a:t>
            </a:r>
            <a:r>
              <a:rPr lang="zh-CN" altLang="en-US">
                <a:latin typeface="+mj-lt"/>
                <a:ea typeface="楷体" panose="02010609060101010101" charset="-122"/>
                <a:cs typeface="+mj-lt"/>
              </a:rPr>
              <a:t>分。应注意的是基本部分的各项分值题目中是没有给出的，但在发挥部分往往会给出各小项的分值。选择时要仔细分析各项要求，综合考虑基础和发挥两部分的要求，选择合适的方案，为设计打下良好的基础，以期取得较好的成绩。</a:t>
            </a:r>
            <a:endParaRPr lang="zh-CN" altLang="en-US">
              <a:latin typeface="+mj-lt"/>
              <a:ea typeface="楷体" panose="02010609060101010101" charset="-122"/>
              <a:cs typeface="+mj-lt"/>
            </a:endParaRPr>
          </a:p>
        </p:txBody>
      </p:sp>
    </p:spTree>
  </p:cSld>
  <p:clrMapOvr>
    <a:masterClrMapping/>
  </p:clrMapOvr>
  <p:transition>
    <p:pull dir="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标题 50177"/>
          <p:cNvSpPr>
            <a:spLocks noGrp="1" noRot="1"/>
          </p:cNvSpPr>
          <p:nvPr>
            <p:ph type="title"/>
          </p:nvPr>
        </p:nvSpPr>
        <p:spPr>
          <a:xfrm>
            <a:off x="986790" y="763905"/>
            <a:ext cx="10483215" cy="655320"/>
          </a:xfrm>
        </p:spPr>
        <p:txBody>
          <a:bodyPr anchor="ctr"/>
          <a:p>
            <a:r>
              <a:rPr lang="en-US" altLang="zh-CN" sz="4000" b="1" u="sng">
                <a:solidFill>
                  <a:srgbClr val="FF0000"/>
                </a:solidFill>
                <a:latin typeface="Times New Roman" panose="02020603050405020304" pitchFamily="18" charset="0"/>
                <a:ea typeface="楷体" panose="02010609060101010101" charset="-122"/>
                <a:cs typeface="Times New Roman" panose="02020603050405020304" pitchFamily="18" charset="0"/>
              </a:rPr>
              <a:t>5.2   </a:t>
            </a:r>
            <a:r>
              <a:rPr lang="zh-CN" altLang="en-US" sz="4000" b="1" u="sng">
                <a:solidFill>
                  <a:schemeClr val="hlink"/>
                </a:solidFill>
                <a:latin typeface="Times New Roman" panose="02020603050405020304" pitchFamily="18" charset="0"/>
                <a:ea typeface="楷体" panose="02010609060101010101" charset="-122"/>
                <a:cs typeface="Times New Roman" panose="02020603050405020304" pitchFamily="18" charset="0"/>
              </a:rPr>
              <a:t>竞赛设计制作过程</a:t>
            </a:r>
            <a:r>
              <a:rPr lang="zh-CN" altLang="en-US" sz="2800" b="1" u="sng">
                <a:solidFill>
                  <a:srgbClr val="FF0000"/>
                </a:solidFill>
                <a:latin typeface="Times New Roman" panose="02020603050405020304" pitchFamily="18" charset="0"/>
                <a:ea typeface="楷体" panose="02010609060101010101" charset="-122"/>
                <a:cs typeface="Times New Roman" panose="02020603050405020304" pitchFamily="18" charset="0"/>
              </a:rPr>
              <a:t>（看看自己的资源）</a:t>
            </a:r>
            <a:endParaRPr lang="zh-CN" altLang="en-US" sz="2800" b="1" u="sng">
              <a:solidFill>
                <a:srgbClr val="FF0000"/>
              </a:solidFill>
              <a:latin typeface="Times New Roman" panose="02020603050405020304" pitchFamily="18" charset="0"/>
              <a:ea typeface="楷体" panose="02010609060101010101" charset="-122"/>
              <a:cs typeface="Times New Roman" panose="02020603050405020304" pitchFamily="18" charset="0"/>
            </a:endParaRPr>
          </a:p>
        </p:txBody>
      </p:sp>
      <p:sp>
        <p:nvSpPr>
          <p:cNvPr id="50179" name="文本占位符 50178"/>
          <p:cNvSpPr>
            <a:spLocks noGrp="1" noRot="1"/>
          </p:cNvSpPr>
          <p:nvPr>
            <p:ph type="body" idx="1"/>
          </p:nvPr>
        </p:nvSpPr>
        <p:spPr>
          <a:xfrm>
            <a:off x="770255" y="1840865"/>
            <a:ext cx="10380980" cy="3554730"/>
          </a:xfrm>
        </p:spPr>
        <p:txBody>
          <a:bodyPr/>
          <a:p>
            <a:pPr marL="0" indent="867410" eaLnBrk="1">
              <a:lnSpc>
                <a:spcPct val="130000"/>
              </a:lnSpc>
              <a:spcBef>
                <a:spcPts val="0"/>
              </a:spcBef>
              <a:buNone/>
            </a:pPr>
            <a:r>
              <a:rPr lang="zh-CN" altLang="en-US" sz="3200">
                <a:latin typeface="Times New Roman" panose="02020603050405020304" pitchFamily="18" charset="0"/>
                <a:ea typeface="楷体" panose="02010609060101010101" charset="-122"/>
              </a:rPr>
              <a:t>确定是否具有完成该设计的</a:t>
            </a:r>
            <a:r>
              <a:rPr lang="zh-CN" altLang="en-US" sz="3200" u="sng">
                <a:solidFill>
                  <a:srgbClr val="FF0000"/>
                </a:solidFill>
                <a:latin typeface="Times New Roman" panose="02020603050405020304" pitchFamily="18" charset="0"/>
                <a:ea typeface="楷体" panose="02010609060101010101" charset="-122"/>
              </a:rPr>
              <a:t>元器件、最小系统、开发工具、测量仪器仪表</a:t>
            </a:r>
            <a:r>
              <a:rPr lang="zh-CN" altLang="en-US" sz="3200">
                <a:latin typeface="Times New Roman" panose="02020603050405020304" pitchFamily="18" charset="0"/>
                <a:ea typeface="楷体" panose="02010609060101010101" charset="-122"/>
              </a:rPr>
              <a:t>等条件。</a:t>
            </a:r>
            <a:endParaRPr lang="zh-CN" altLang="en-US" sz="3200">
              <a:latin typeface="Times New Roman" panose="02020603050405020304" pitchFamily="18" charset="0"/>
              <a:ea typeface="楷体" panose="02010609060101010101" charset="-122"/>
            </a:endParaRPr>
          </a:p>
          <a:p>
            <a:pPr marL="0" indent="867410" eaLnBrk="1">
              <a:lnSpc>
                <a:spcPct val="130000"/>
              </a:lnSpc>
              <a:spcBef>
                <a:spcPts val="0"/>
              </a:spcBef>
              <a:buNone/>
            </a:pPr>
            <a:r>
              <a:rPr lang="zh-CN" altLang="en-US" sz="3200">
                <a:latin typeface="Times New Roman" panose="02020603050405020304" pitchFamily="18" charset="0"/>
                <a:ea typeface="楷体" panose="02010609060101010101" charset="-122"/>
              </a:rPr>
              <a:t>在没有对竞赛题目进行充分分析之前，一定不能够进行设计。</a:t>
            </a:r>
            <a:endParaRPr lang="zh-CN" altLang="en-US" sz="3200">
              <a:latin typeface="Times New Roman" panose="02020603050405020304" pitchFamily="18" charset="0"/>
              <a:ea typeface="楷体" panose="02010609060101010101" charset="-122"/>
            </a:endParaRPr>
          </a:p>
          <a:p>
            <a:pPr marL="0" indent="867410" eaLnBrk="1">
              <a:lnSpc>
                <a:spcPct val="130000"/>
              </a:lnSpc>
              <a:spcBef>
                <a:spcPts val="0"/>
              </a:spcBef>
              <a:buNone/>
            </a:pPr>
            <a:r>
              <a:rPr lang="zh-CN" altLang="en-US" sz="3200" u="sng">
                <a:solidFill>
                  <a:srgbClr val="FF0000"/>
                </a:solidFill>
                <a:latin typeface="Times New Roman" panose="02020603050405020304" pitchFamily="18" charset="0"/>
                <a:ea typeface="楷体" panose="02010609060101010101" charset="-122"/>
              </a:rPr>
              <a:t>题目一旦选定，原则上是应保证不要中途更改</a:t>
            </a:r>
            <a:r>
              <a:rPr lang="zh-CN" altLang="en-US" sz="3200">
                <a:latin typeface="Times New Roman" panose="02020603050405020304" pitchFamily="18" charset="0"/>
                <a:ea typeface="楷体" panose="02010609060101010101" charset="-122"/>
              </a:rPr>
              <a:t>。</a:t>
            </a:r>
            <a:endParaRPr lang="zh-CN" altLang="en-US" sz="3200">
              <a:latin typeface="Times New Roman" panose="02020603050405020304" pitchFamily="18" charset="0"/>
              <a:ea typeface="楷体" panose="02010609060101010101" charset="-122"/>
            </a:endParaRPr>
          </a:p>
        </p:txBody>
      </p:sp>
    </p:spTree>
  </p:cSld>
  <p:clrMapOvr>
    <a:masterClrMapping/>
  </p:clrMapOvr>
  <p:transition>
    <p:pull dir="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3" name="文本占位符 51202"/>
          <p:cNvSpPr>
            <a:spLocks noGrp="1" noRot="1"/>
          </p:cNvSpPr>
          <p:nvPr>
            <p:ph type="body" idx="1"/>
          </p:nvPr>
        </p:nvSpPr>
        <p:spPr>
          <a:xfrm>
            <a:off x="1320800" y="1762125"/>
            <a:ext cx="8943340" cy="3430270"/>
          </a:xfrm>
        </p:spPr>
        <p:txBody>
          <a:bodyPr/>
          <a:p>
            <a:pPr>
              <a:lnSpc>
                <a:spcPct val="120000"/>
              </a:lnSpc>
              <a:buNone/>
            </a:pPr>
            <a:r>
              <a:rPr lang="zh-CN" altLang="en-US" sz="3600" dirty="0">
                <a:solidFill>
                  <a:srgbClr val="FF0000"/>
                </a:solidFill>
                <a:latin typeface="Times New Roman" panose="02020603050405020304" pitchFamily="18" charset="0"/>
                <a:ea typeface="楷体" panose="02010609060101010101" charset="-122"/>
                <a:cs typeface="Times New Roman" panose="02020603050405020304" pitchFamily="18" charset="0"/>
              </a:rPr>
              <a:t>系统方案论证：</a:t>
            </a:r>
            <a:endParaRPr lang="zh-CN" altLang="en-US" sz="3600" dirty="0">
              <a:latin typeface="Times New Roman" panose="02020603050405020304" pitchFamily="18" charset="0"/>
              <a:ea typeface="楷体" panose="02010609060101010101" charset="-122"/>
              <a:cs typeface="Times New Roman" panose="02020603050405020304" pitchFamily="18" charset="0"/>
            </a:endParaRPr>
          </a:p>
          <a:p>
            <a:pPr>
              <a:lnSpc>
                <a:spcPct val="120000"/>
              </a:lnSpc>
              <a:buNone/>
            </a:pPr>
            <a:r>
              <a:rPr lang="zh-CN" altLang="en-US" sz="3600" dirty="0">
                <a:latin typeface="Times New Roman" panose="02020603050405020304" pitchFamily="18" charset="0"/>
                <a:ea typeface="楷体" panose="02010609060101010101" charset="-122"/>
                <a:cs typeface="Times New Roman" panose="02020603050405020304" pitchFamily="18" charset="0"/>
              </a:rPr>
              <a:t>   方案论证可以分为总体实现方案论证、子系统实现方案论证、部件实现方案论证几个层次进行。</a:t>
            </a:r>
            <a:endParaRPr lang="zh-CN" altLang="en-US" sz="3600" dirty="0">
              <a:latin typeface="Times New Roman" panose="02020603050405020304" pitchFamily="18" charset="0"/>
              <a:ea typeface="楷体" panose="02010609060101010101" charset="-122"/>
              <a:cs typeface="Times New Roman" panose="02020603050405020304" pitchFamily="18" charset="0"/>
            </a:endParaRPr>
          </a:p>
          <a:p>
            <a:pPr>
              <a:lnSpc>
                <a:spcPct val="120000"/>
              </a:lnSpc>
              <a:buNone/>
            </a:pPr>
            <a:endParaRPr lang="en-US" altLang="zh-CN" sz="3600" dirty="0">
              <a:latin typeface="Times New Roman" panose="02020603050405020304" pitchFamily="18" charset="0"/>
              <a:ea typeface="楷体" panose="02010609060101010101" charset="-122"/>
              <a:cs typeface="Times New Roman" panose="02020603050405020304" pitchFamily="18" charset="0"/>
            </a:endParaRPr>
          </a:p>
        </p:txBody>
      </p:sp>
      <p:sp>
        <p:nvSpPr>
          <p:cNvPr id="50178" name="标题 50177"/>
          <p:cNvSpPr>
            <a:spLocks noGrp="1" noRot="1"/>
          </p:cNvSpPr>
          <p:nvPr>
            <p:ph type="title"/>
          </p:nvPr>
        </p:nvSpPr>
        <p:spPr>
          <a:xfrm>
            <a:off x="1847850" y="763588"/>
            <a:ext cx="8540750" cy="655637"/>
          </a:xfrm>
        </p:spPr>
        <p:txBody>
          <a:bodyPr anchor="ctr"/>
          <a:p>
            <a:r>
              <a:rPr lang="en-US" altLang="zh-CN" sz="4000" b="1" u="sng">
                <a:solidFill>
                  <a:srgbClr val="FF0000"/>
                </a:solidFill>
                <a:latin typeface="Times New Roman" panose="02020603050405020304" pitchFamily="18" charset="0"/>
                <a:ea typeface="楷体" panose="02010609060101010101" charset="-122"/>
                <a:cs typeface="Times New Roman" panose="02020603050405020304" pitchFamily="18" charset="0"/>
              </a:rPr>
              <a:t>5.2   </a:t>
            </a:r>
            <a:r>
              <a:rPr lang="zh-CN" altLang="en-US" sz="4000" b="1" u="sng">
                <a:solidFill>
                  <a:schemeClr val="hlink"/>
                </a:solidFill>
                <a:latin typeface="Times New Roman" panose="02020603050405020304" pitchFamily="18" charset="0"/>
                <a:ea typeface="楷体" panose="02010609060101010101" charset="-122"/>
                <a:cs typeface="Times New Roman" panose="02020603050405020304" pitchFamily="18" charset="0"/>
              </a:rPr>
              <a:t>竞赛设计制作过程</a:t>
            </a:r>
            <a:endParaRPr lang="zh-CN" altLang="en-US" sz="4000" b="1" u="sng">
              <a:solidFill>
                <a:schemeClr val="hlink"/>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3" name="文本占位符 51202"/>
          <p:cNvSpPr>
            <a:spLocks noGrp="1" noRot="1"/>
          </p:cNvSpPr>
          <p:nvPr>
            <p:ph type="body" idx="1"/>
          </p:nvPr>
        </p:nvSpPr>
        <p:spPr>
          <a:xfrm>
            <a:off x="1199515" y="942975"/>
            <a:ext cx="10668635" cy="4875530"/>
          </a:xfrm>
          <a:solidFill>
            <a:schemeClr val="bg1"/>
          </a:solidFill>
        </p:spPr>
        <p:txBody>
          <a:bodyPr/>
          <a:p>
            <a:pPr marL="0" indent="0">
              <a:lnSpc>
                <a:spcPct val="120000"/>
              </a:lnSpc>
              <a:buNone/>
            </a:pPr>
            <a:r>
              <a:rPr lang="zh-CN" altLang="en-US" dirty="0">
                <a:solidFill>
                  <a:srgbClr val="FF5050"/>
                </a:solidFill>
                <a:latin typeface="楷体" panose="02010609060101010101" charset="-122"/>
                <a:ea typeface="楷体" panose="02010609060101010101" charset="-122"/>
                <a:cs typeface="楷体" panose="02010609060101010101" charset="-122"/>
              </a:rPr>
              <a:t>（1）确定设计的可行性</a:t>
            </a:r>
            <a:endParaRPr lang="zh-CN" altLang="en-US" dirty="0">
              <a:solidFill>
                <a:srgbClr val="FF5050"/>
              </a:solidFill>
              <a:latin typeface="楷体" panose="02010609060101010101" charset="-122"/>
              <a:ea typeface="楷体" panose="02010609060101010101" charset="-122"/>
              <a:cs typeface="楷体" panose="02010609060101010101" charset="-122"/>
            </a:endParaRPr>
          </a:p>
          <a:p>
            <a:pPr marL="0" indent="613410">
              <a:lnSpc>
                <a:spcPct val="120000"/>
              </a:lnSpc>
              <a:buNone/>
            </a:pPr>
            <a:r>
              <a:rPr lang="zh-CN" altLang="en-US" dirty="0">
                <a:solidFill>
                  <a:srgbClr val="FF0000"/>
                </a:solidFill>
                <a:latin typeface="楷体" panose="02010609060101010101" charset="-122"/>
                <a:ea typeface="楷体" panose="02010609060101010101" charset="-122"/>
                <a:cs typeface="楷体" panose="02010609060101010101" charset="-122"/>
              </a:rPr>
              <a:t>原理的可行性。</a:t>
            </a:r>
            <a:r>
              <a:rPr lang="zh-CN" altLang="en-US" dirty="0">
                <a:latin typeface="楷体" panose="02010609060101010101" charset="-122"/>
                <a:ea typeface="楷体" panose="02010609060101010101" charset="-122"/>
                <a:cs typeface="楷体" panose="02010609060101010101" charset="-122"/>
              </a:rPr>
              <a:t>解决同一个问题，可以有许多种方法，但有的方法是不能够达到设计要求的。</a:t>
            </a:r>
            <a:endParaRPr lang="zh-CN" altLang="en-US" dirty="0">
              <a:latin typeface="楷体" panose="02010609060101010101" charset="-122"/>
              <a:ea typeface="楷体" panose="02010609060101010101" charset="-122"/>
              <a:cs typeface="楷体" panose="02010609060101010101" charset="-122"/>
            </a:endParaRPr>
          </a:p>
          <a:p>
            <a:pPr marL="0" indent="613410">
              <a:lnSpc>
                <a:spcPct val="120000"/>
              </a:lnSpc>
              <a:buNone/>
            </a:pPr>
            <a:r>
              <a:rPr lang="zh-CN" altLang="en-US" dirty="0">
                <a:solidFill>
                  <a:srgbClr val="FF0000"/>
                </a:solidFill>
                <a:latin typeface="楷体" panose="02010609060101010101" charset="-122"/>
                <a:ea typeface="楷体" panose="02010609060101010101" charset="-122"/>
                <a:cs typeface="楷体" panose="02010609060101010101" charset="-122"/>
              </a:rPr>
              <a:t>元器件的可行性。</a:t>
            </a:r>
            <a:r>
              <a:rPr lang="zh-CN" altLang="en-US" dirty="0">
                <a:latin typeface="楷体" panose="02010609060101010101" charset="-122"/>
                <a:ea typeface="楷体" panose="02010609060101010101" charset="-122"/>
                <a:cs typeface="楷体" panose="02010609060101010101" charset="-122"/>
              </a:rPr>
              <a:t> 如采用的器件是微控制器还是可编程逻辑器件，是否采购得到。</a:t>
            </a:r>
            <a:endParaRPr lang="zh-CN" altLang="en-US" dirty="0">
              <a:latin typeface="楷体" panose="02010609060101010101" charset="-122"/>
              <a:ea typeface="楷体" panose="02010609060101010101" charset="-122"/>
              <a:cs typeface="楷体" panose="02010609060101010101" charset="-122"/>
            </a:endParaRPr>
          </a:p>
          <a:p>
            <a:pPr marL="0" indent="613410">
              <a:lnSpc>
                <a:spcPct val="120000"/>
              </a:lnSpc>
              <a:buNone/>
            </a:pPr>
            <a:r>
              <a:rPr lang="zh-CN" altLang="en-US" dirty="0">
                <a:solidFill>
                  <a:srgbClr val="FF0000"/>
                </a:solidFill>
                <a:latin typeface="楷体" panose="02010609060101010101" charset="-122"/>
                <a:ea typeface="楷体" panose="02010609060101010101" charset="-122"/>
                <a:cs typeface="楷体" panose="02010609060101010101" charset="-122"/>
              </a:rPr>
              <a:t>测试的可行性。</a:t>
            </a:r>
            <a:r>
              <a:rPr lang="zh-CN" altLang="en-US" dirty="0">
                <a:latin typeface="楷体" panose="02010609060101010101" charset="-122"/>
                <a:ea typeface="楷体" panose="02010609060101010101" charset="-122"/>
                <a:cs typeface="楷体" panose="02010609060101010101" charset="-122"/>
              </a:rPr>
              <a:t>有无所需要的测量仪器仪表。</a:t>
            </a:r>
            <a:endParaRPr lang="zh-CN" altLang="en-US" dirty="0">
              <a:latin typeface="楷体" panose="02010609060101010101" charset="-122"/>
              <a:ea typeface="楷体" panose="02010609060101010101" charset="-122"/>
              <a:cs typeface="楷体" panose="02010609060101010101" charset="-122"/>
            </a:endParaRPr>
          </a:p>
          <a:p>
            <a:pPr marL="0" indent="613410">
              <a:lnSpc>
                <a:spcPct val="120000"/>
              </a:lnSpc>
              <a:buNone/>
            </a:pPr>
            <a:r>
              <a:rPr lang="zh-CN" altLang="en-US" dirty="0">
                <a:solidFill>
                  <a:srgbClr val="FF0000"/>
                </a:solidFill>
                <a:latin typeface="楷体" panose="02010609060101010101" charset="-122"/>
                <a:ea typeface="楷体" panose="02010609060101010101" charset="-122"/>
                <a:cs typeface="楷体" panose="02010609060101010101" charset="-122"/>
              </a:rPr>
              <a:t>设计、制作的可行性。</a:t>
            </a:r>
            <a:r>
              <a:rPr lang="zh-CN" altLang="en-US" dirty="0">
                <a:latin typeface="楷体" panose="02010609060101010101" charset="-122"/>
                <a:ea typeface="楷体" panose="02010609060101010101" charset="-122"/>
                <a:cs typeface="楷体" panose="02010609060101010101" charset="-122"/>
              </a:rPr>
              <a:t>如难度如何，本组队员是否可以完成。</a:t>
            </a:r>
            <a:endParaRPr lang="zh-CN" altLang="en-US" dirty="0">
              <a:latin typeface="楷体" panose="02010609060101010101" charset="-122"/>
              <a:ea typeface="楷体" panose="02010609060101010101" charset="-122"/>
              <a:cs typeface="楷体" panose="02010609060101010101" charset="-122"/>
            </a:endParaRPr>
          </a:p>
          <a:p>
            <a:pPr marL="0" indent="613410">
              <a:lnSpc>
                <a:spcPct val="120000"/>
              </a:lnSpc>
              <a:buNone/>
            </a:pPr>
            <a:r>
              <a:rPr lang="zh-CN" altLang="en-US" dirty="0">
                <a:solidFill>
                  <a:srgbClr val="FF0000"/>
                </a:solidFill>
                <a:latin typeface="楷体" panose="02010609060101010101" charset="-122"/>
                <a:ea typeface="楷体" panose="02010609060101010101" charset="-122"/>
                <a:cs typeface="楷体" panose="02010609060101010101" charset="-122"/>
              </a:rPr>
              <a:t>时间的可行性。</a:t>
            </a:r>
            <a:r>
              <a:rPr lang="zh-CN" altLang="en-US" dirty="0">
                <a:latin typeface="楷体" panose="02010609060101010101" charset="-122"/>
                <a:ea typeface="楷体" panose="02010609060101010101" charset="-122"/>
                <a:cs typeface="楷体" panose="02010609060101010101" charset="-122"/>
              </a:rPr>
              <a:t>如4天3晚能否完成。</a:t>
            </a:r>
            <a:endParaRPr lang="en-US" altLang="zh-CN" dirty="0">
              <a:latin typeface="楷体" panose="02010609060101010101" charset="-122"/>
              <a:ea typeface="楷体" panose="02010609060101010101" charset="-122"/>
              <a:cs typeface="楷体" panose="02010609060101010101" charset="-122"/>
            </a:endParaRPr>
          </a:p>
        </p:txBody>
      </p:sp>
    </p:spTree>
  </p:cSld>
  <p:clrMapOvr>
    <a:masterClrMapping/>
  </p:clrMapOvr>
  <p:transition>
    <p:pull dir="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7" name="文本占位符 52226"/>
          <p:cNvSpPr>
            <a:spLocks noGrp="1" noRot="1"/>
          </p:cNvSpPr>
          <p:nvPr>
            <p:ph type="body" idx="1"/>
          </p:nvPr>
        </p:nvSpPr>
        <p:spPr>
          <a:xfrm>
            <a:off x="652145" y="621030"/>
            <a:ext cx="10662285" cy="5579110"/>
          </a:xfrm>
          <a:solidFill>
            <a:schemeClr val="bg1"/>
          </a:solidFill>
        </p:spPr>
        <p:txBody>
          <a:bodyPr/>
          <a:p>
            <a:pPr marL="0" indent="18415" eaLnBrk="1">
              <a:lnSpc>
                <a:spcPct val="120000"/>
              </a:lnSpc>
              <a:spcBef>
                <a:spcPts val="0"/>
              </a:spcBef>
              <a:buNone/>
            </a:pPr>
            <a:r>
              <a:rPr lang="zh-CN" altLang="en-US" sz="3200" b="1" u="sng">
                <a:solidFill>
                  <a:srgbClr val="FF0000"/>
                </a:solidFill>
                <a:latin typeface="Times New Roman" panose="02020603050405020304" pitchFamily="18" charset="0"/>
                <a:ea typeface="楷体" panose="02010609060101010101" charset="-122"/>
                <a:cs typeface="Times New Roman" panose="02020603050405020304" pitchFamily="18" charset="0"/>
              </a:rPr>
              <a:t>（2）明确方案的内容</a:t>
            </a:r>
            <a:r>
              <a:rPr lang="zh-CN" altLang="en-US" b="1">
                <a:solidFill>
                  <a:srgbClr val="FF5050"/>
                </a:solidFill>
                <a:latin typeface="楷体" panose="02010609060101010101" charset="-122"/>
                <a:ea typeface="楷体" panose="02010609060101010101" charset="-122"/>
                <a:cs typeface="楷体" panose="02010609060101010101" charset="-122"/>
              </a:rPr>
              <a:t>（</a:t>
            </a:r>
            <a:r>
              <a:rPr lang="zh-CN" altLang="en-US" u="sng">
                <a:solidFill>
                  <a:srgbClr val="FF0000"/>
                </a:solidFill>
                <a:latin typeface="楷体" panose="02010609060101010101" charset="-122"/>
                <a:ea typeface="楷体" panose="02010609060101010101" charset="-122"/>
                <a:cs typeface="楷体" panose="02010609060101010101" charset="-122"/>
                <a:sym typeface="+mn-ea"/>
              </a:rPr>
              <a:t>系统的外部特性、</a:t>
            </a:r>
            <a:r>
              <a:rPr lang="zh-CN" altLang="en-US" u="sng">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系统的内部特性和</a:t>
            </a:r>
            <a:endParaRPr lang="zh-CN" altLang="en-US" u="sng">
              <a:solidFill>
                <a:srgbClr val="FF0000"/>
              </a:solidFill>
              <a:latin typeface="Times New Roman" panose="02020603050405020304" pitchFamily="18" charset="0"/>
              <a:ea typeface="楷体" panose="02010609060101010101" charset="-122"/>
              <a:cs typeface="Times New Roman" panose="02020603050405020304" pitchFamily="18" charset="0"/>
            </a:endParaRPr>
          </a:p>
          <a:p>
            <a:pPr marL="0" indent="18415" eaLnBrk="1">
              <a:lnSpc>
                <a:spcPct val="120000"/>
              </a:lnSpc>
              <a:spcBef>
                <a:spcPts val="0"/>
              </a:spcBef>
              <a:buNone/>
            </a:pPr>
            <a:r>
              <a:rPr lang="zh-CN" altLang="en-US" u="sng">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系统的测量方法和仪器仪表）</a:t>
            </a:r>
            <a:endParaRPr lang="zh-CN" altLang="en-US" sz="3200" u="sng">
              <a:solidFill>
                <a:srgbClr val="FF0000"/>
              </a:solidFill>
              <a:latin typeface="Times New Roman" panose="02020603050405020304" pitchFamily="18" charset="0"/>
              <a:ea typeface="楷体" panose="02010609060101010101" charset="-122"/>
              <a:cs typeface="Times New Roman" panose="02020603050405020304" pitchFamily="18" charset="0"/>
            </a:endParaRPr>
          </a:p>
          <a:p>
            <a:pPr marL="0" indent="18415" eaLnBrk="1">
              <a:lnSpc>
                <a:spcPct val="120000"/>
              </a:lnSpc>
              <a:spcBef>
                <a:spcPts val="0"/>
              </a:spcBef>
              <a:buNone/>
            </a:pPr>
            <a:r>
              <a:rPr lang="zh-CN" altLang="en-US" sz="3200" u="sng">
                <a:solidFill>
                  <a:srgbClr val="FF0000"/>
                </a:solidFill>
                <a:latin typeface="楷体" panose="02010609060101010101" charset="-122"/>
                <a:ea typeface="楷体" panose="02010609060101010101" charset="-122"/>
                <a:cs typeface="楷体" panose="02010609060101010101" charset="-122"/>
                <a:sym typeface="+mn-ea"/>
              </a:rPr>
              <a:t>系统的外部特性：</a:t>
            </a:r>
            <a:endParaRPr lang="zh-CN" altLang="en-US" sz="3200" u="sng">
              <a:solidFill>
                <a:srgbClr val="FF0000"/>
              </a:solidFill>
              <a:latin typeface="Times New Roman" panose="02020603050405020304" pitchFamily="18" charset="0"/>
              <a:ea typeface="楷体" panose="02010609060101010101" charset="-122"/>
              <a:cs typeface="Times New Roman" panose="02020603050405020304" pitchFamily="18" charset="0"/>
            </a:endParaRPr>
          </a:p>
          <a:p>
            <a:pPr marL="0" indent="0" eaLnBrk="1">
              <a:lnSpc>
                <a:spcPct val="120000"/>
              </a:lnSpc>
              <a:spcBef>
                <a:spcPts val="0"/>
              </a:spcBef>
              <a:buNone/>
            </a:pPr>
            <a:r>
              <a:rPr lang="en-US" altLang="zh-CN">
                <a:latin typeface="楷体" panose="02010609060101010101" charset="-122"/>
                <a:ea typeface="楷体" panose="02010609060101010101" charset="-122"/>
                <a:cs typeface="楷体" panose="02010609060101010101" charset="-122"/>
              </a:rPr>
              <a:t>（a）</a:t>
            </a:r>
            <a:r>
              <a:rPr lang="zh-CN" altLang="en-US">
                <a:latin typeface="楷体" panose="02010609060101010101" charset="-122"/>
                <a:ea typeface="楷体" panose="02010609060101010101" charset="-122"/>
                <a:cs typeface="楷体" panose="02010609060101010101" charset="-122"/>
              </a:rPr>
              <a:t>系统具有的主要功能。</a:t>
            </a:r>
            <a:endParaRPr lang="zh-CN" altLang="en-US">
              <a:latin typeface="楷体" panose="02010609060101010101" charset="-122"/>
              <a:ea typeface="楷体" panose="02010609060101010101" charset="-122"/>
              <a:cs typeface="楷体" panose="02010609060101010101" charset="-122"/>
            </a:endParaRPr>
          </a:p>
          <a:p>
            <a:pPr marL="0" indent="0" eaLnBrk="1">
              <a:lnSpc>
                <a:spcPct val="120000"/>
              </a:lnSpc>
              <a:spcBef>
                <a:spcPts val="0"/>
              </a:spcBef>
              <a:buNone/>
            </a:pPr>
            <a:r>
              <a:rPr lang="en-US" altLang="zh-CN">
                <a:latin typeface="楷体" panose="02010609060101010101" charset="-122"/>
                <a:ea typeface="楷体" panose="02010609060101010101" charset="-122"/>
                <a:cs typeface="楷体" panose="02010609060101010101" charset="-122"/>
              </a:rPr>
              <a:t>（b）</a:t>
            </a:r>
            <a:r>
              <a:rPr lang="zh-CN" altLang="en-US">
                <a:latin typeface="楷体" panose="02010609060101010101" charset="-122"/>
                <a:ea typeface="楷体" panose="02010609060101010101" charset="-122"/>
                <a:cs typeface="楷体" panose="02010609060101010101" charset="-122"/>
              </a:rPr>
              <a:t>引脚数量及功能。</a:t>
            </a:r>
            <a:endParaRPr lang="zh-CN" altLang="en-US">
              <a:latin typeface="楷体" panose="02010609060101010101" charset="-122"/>
              <a:ea typeface="楷体" panose="02010609060101010101" charset="-122"/>
              <a:cs typeface="楷体" panose="02010609060101010101" charset="-122"/>
            </a:endParaRPr>
          </a:p>
          <a:p>
            <a:pPr marL="0" indent="0" eaLnBrk="1">
              <a:lnSpc>
                <a:spcPct val="120000"/>
              </a:lnSpc>
              <a:spcBef>
                <a:spcPts val="0"/>
              </a:spcBef>
              <a:buNone/>
            </a:pPr>
            <a:r>
              <a:rPr lang="en-US" altLang="zh-CN">
                <a:latin typeface="楷体" panose="02010609060101010101" charset="-122"/>
                <a:ea typeface="楷体" panose="02010609060101010101" charset="-122"/>
                <a:cs typeface="楷体" panose="02010609060101010101" charset="-122"/>
              </a:rPr>
              <a:t>（c）</a:t>
            </a:r>
            <a:r>
              <a:rPr lang="zh-CN" altLang="en-US">
                <a:latin typeface="楷体" panose="02010609060101010101" charset="-122"/>
                <a:ea typeface="楷体" panose="02010609060101010101" charset="-122"/>
                <a:cs typeface="楷体" panose="02010609060101010101" charset="-122"/>
              </a:rPr>
              <a:t>输入信号和输出信号形式</a:t>
            </a:r>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电压、电流、脉冲等</a:t>
            </a:r>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、大小</a:t>
            </a:r>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量级</a:t>
            </a:r>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，相互之间的关系。</a:t>
            </a:r>
            <a:endParaRPr lang="zh-CN" altLang="en-US">
              <a:latin typeface="楷体" panose="02010609060101010101" charset="-122"/>
              <a:ea typeface="楷体" panose="02010609060101010101" charset="-122"/>
              <a:cs typeface="楷体" panose="02010609060101010101" charset="-122"/>
            </a:endParaRPr>
          </a:p>
          <a:p>
            <a:pPr marL="0" indent="0" eaLnBrk="1">
              <a:lnSpc>
                <a:spcPct val="120000"/>
              </a:lnSpc>
              <a:spcBef>
                <a:spcPts val="0"/>
              </a:spcBef>
              <a:buNone/>
            </a:pPr>
            <a:r>
              <a:rPr lang="en-US" altLang="zh-CN">
                <a:latin typeface="楷体" panose="02010609060101010101" charset="-122"/>
                <a:ea typeface="楷体" panose="02010609060101010101" charset="-122"/>
                <a:cs typeface="楷体" panose="02010609060101010101" charset="-122"/>
              </a:rPr>
              <a:t>（d）</a:t>
            </a:r>
            <a:r>
              <a:rPr lang="zh-CN" altLang="en-US">
                <a:latin typeface="楷体" panose="02010609060101010101" charset="-122"/>
                <a:ea typeface="楷体" panose="02010609060101010101" charset="-122"/>
                <a:cs typeface="楷体" panose="02010609060101010101" charset="-122"/>
              </a:rPr>
              <a:t>输入信号和输出信号相互之间的关系，写出函数表达式，关系为线性还是非线性。</a:t>
            </a:r>
            <a:endParaRPr lang="zh-CN" altLang="en-US">
              <a:latin typeface="楷体" panose="02010609060101010101" charset="-122"/>
              <a:ea typeface="楷体" panose="02010609060101010101" charset="-122"/>
              <a:cs typeface="楷体" panose="02010609060101010101" charset="-122"/>
            </a:endParaRPr>
          </a:p>
          <a:p>
            <a:pPr marL="0" indent="0" eaLnBrk="1">
              <a:lnSpc>
                <a:spcPct val="120000"/>
              </a:lnSpc>
              <a:spcBef>
                <a:spcPts val="0"/>
              </a:spcBef>
              <a:buNone/>
            </a:pPr>
            <a:r>
              <a:rPr lang="en-US" altLang="zh-CN">
                <a:latin typeface="楷体" panose="02010609060101010101" charset="-122"/>
                <a:ea typeface="楷体" panose="02010609060101010101" charset="-122"/>
                <a:cs typeface="楷体" panose="02010609060101010101" charset="-122"/>
              </a:rPr>
              <a:t>（e）</a:t>
            </a:r>
            <a:r>
              <a:rPr lang="zh-CN" altLang="en-US">
                <a:latin typeface="楷体" panose="02010609060101010101" charset="-122"/>
                <a:ea typeface="楷体" panose="02010609060101010101" charset="-122"/>
                <a:cs typeface="楷体" panose="02010609060101010101" charset="-122"/>
              </a:rPr>
              <a:t>测量仪器仪表与方法。</a:t>
            </a:r>
            <a:endParaRPr lang="zh-CN" altLang="en-US">
              <a:latin typeface="楷体" panose="02010609060101010101" charset="-122"/>
              <a:ea typeface="楷体" panose="02010609060101010101" charset="-122"/>
              <a:cs typeface="楷体" panose="02010609060101010101" charset="-122"/>
            </a:endParaRPr>
          </a:p>
          <a:p>
            <a:pPr marL="0" indent="18415" eaLnBrk="1">
              <a:lnSpc>
                <a:spcPct val="120000"/>
              </a:lnSpc>
              <a:spcBef>
                <a:spcPts val="0"/>
              </a:spcBef>
              <a:buNone/>
            </a:pPr>
            <a:endParaRPr lang="zh-CN" altLang="en-US" sz="2400">
              <a:latin typeface="楷体" panose="02010609060101010101" charset="-122"/>
              <a:ea typeface="楷体" panose="02010609060101010101" charset="-122"/>
              <a:cs typeface="楷体" panose="02010609060101010101" charset="-122"/>
            </a:endParaRPr>
          </a:p>
          <a:p>
            <a:pPr marL="0" indent="18415" eaLnBrk="1">
              <a:lnSpc>
                <a:spcPct val="120000"/>
              </a:lnSpc>
              <a:spcBef>
                <a:spcPts val="0"/>
              </a:spcBef>
              <a:buNone/>
            </a:pPr>
            <a:r>
              <a:rPr lang="zh-CN" altLang="en-US" sz="1800">
                <a:latin typeface="楷体" panose="02010609060101010101" charset="-122"/>
                <a:ea typeface="楷体" panose="02010609060101010101" charset="-122"/>
                <a:cs typeface="楷体" panose="02010609060101010101" charset="-122"/>
              </a:rPr>
              <a:t>    </a:t>
            </a:r>
            <a:endParaRPr lang="zh-CN" altLang="en-US" sz="1800">
              <a:latin typeface="楷体" panose="02010609060101010101" charset="-122"/>
              <a:ea typeface="楷体" panose="02010609060101010101" charset="-122"/>
              <a:cs typeface="楷体" panose="02010609060101010101" charset="-122"/>
            </a:endParaRPr>
          </a:p>
        </p:txBody>
      </p:sp>
    </p:spTree>
  </p:cSld>
  <p:clrMapOvr>
    <a:masterClrMapping/>
  </p:clrMapOvr>
  <p:transition>
    <p:pull dir="ru"/>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1" name="文本占位符 53250"/>
          <p:cNvSpPr>
            <a:spLocks noGrp="1" noRot="1"/>
          </p:cNvSpPr>
          <p:nvPr>
            <p:ph type="body" idx="1"/>
          </p:nvPr>
        </p:nvSpPr>
        <p:spPr>
          <a:xfrm>
            <a:off x="706755" y="717550"/>
            <a:ext cx="11229340" cy="5443855"/>
          </a:xfrm>
          <a:solidFill>
            <a:schemeClr val="bg1"/>
          </a:solidFill>
        </p:spPr>
        <p:txBody>
          <a:bodyPr/>
          <a:p>
            <a:pPr marL="0" indent="18415" eaLnBrk="1">
              <a:lnSpc>
                <a:spcPct val="150000"/>
              </a:lnSpc>
              <a:spcBef>
                <a:spcPts val="0"/>
              </a:spcBef>
              <a:buNone/>
            </a:pPr>
            <a:r>
              <a:rPr lang="en-US" altLang="zh-CN" sz="3200">
                <a:latin typeface="Times New Roman" panose="02020603050405020304" pitchFamily="18" charset="0"/>
                <a:ea typeface="楷体" panose="02010609060101010101" charset="-122"/>
                <a:cs typeface="Times New Roman" panose="02020603050405020304" pitchFamily="18" charset="0"/>
              </a:rPr>
              <a:t> </a:t>
            </a:r>
            <a:r>
              <a:rPr lang="zh-CN" altLang="en-US" sz="3200" u="sng">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系统的内部特性：</a:t>
            </a:r>
            <a:endParaRPr lang="zh-CN" altLang="en-US" sz="3200" u="sng">
              <a:solidFill>
                <a:srgbClr val="FF0000"/>
              </a:solidFill>
              <a:latin typeface="Times New Roman" panose="02020603050405020304" pitchFamily="18" charset="0"/>
              <a:ea typeface="楷体" panose="02010609060101010101" charset="-122"/>
              <a:cs typeface="Times New Roman" panose="02020603050405020304" pitchFamily="18" charset="0"/>
            </a:endParaRPr>
          </a:p>
          <a:p>
            <a:pPr marL="15875" indent="-15875" eaLnBrk="1">
              <a:lnSpc>
                <a:spcPct val="120000"/>
              </a:lnSpc>
              <a:spcBef>
                <a:spcPts val="0"/>
              </a:spcBef>
              <a:buNone/>
            </a:pPr>
            <a:r>
              <a:rPr lang="zh-CN" altLang="en-US">
                <a:latin typeface="Times New Roman" panose="02020603050405020304" pitchFamily="18" charset="0"/>
                <a:ea typeface="楷体" panose="02010609060101010101" charset="-122"/>
                <a:cs typeface="Times New Roman" panose="02020603050405020304" pitchFamily="18" charset="0"/>
                <a:sym typeface="+mn-ea"/>
              </a:rPr>
              <a:t> </a:t>
            </a:r>
            <a:r>
              <a:rPr lang="en-US" altLang="zh-CN">
                <a:latin typeface="Times New Roman" panose="02020603050405020304" pitchFamily="18" charset="0"/>
                <a:ea typeface="楷体" panose="02010609060101010101" charset="-122"/>
                <a:cs typeface="Times New Roman" panose="02020603050405020304" pitchFamily="18" charset="0"/>
                <a:sym typeface="+mn-ea"/>
              </a:rPr>
              <a:t>（a）</a:t>
            </a:r>
            <a:r>
              <a:rPr lang="zh-CN" altLang="en-US">
                <a:latin typeface="Times New Roman" panose="02020603050405020304" pitchFamily="18" charset="0"/>
                <a:ea typeface="楷体" panose="02010609060101010101" charset="-122"/>
                <a:cs typeface="Times New Roman" panose="02020603050405020304" pitchFamily="18" charset="0"/>
                <a:sym typeface="+mn-ea"/>
              </a:rPr>
              <a:t>系统的基本工作原理。</a:t>
            </a:r>
            <a:endParaRPr lang="zh-CN" altLang="en-US">
              <a:latin typeface="Times New Roman" panose="02020603050405020304" pitchFamily="18" charset="0"/>
              <a:ea typeface="楷体" panose="02010609060101010101" charset="-122"/>
              <a:cs typeface="Times New Roman" panose="02020603050405020304" pitchFamily="18" charset="0"/>
            </a:endParaRPr>
          </a:p>
          <a:p>
            <a:pPr marL="15875" indent="-15875" eaLnBrk="1">
              <a:lnSpc>
                <a:spcPct val="120000"/>
              </a:lnSpc>
              <a:spcBef>
                <a:spcPts val="0"/>
              </a:spcBef>
              <a:buNone/>
            </a:pPr>
            <a:r>
              <a:rPr lang="zh-CN" altLang="en-US">
                <a:latin typeface="Times New Roman" panose="02020603050405020304" pitchFamily="18" charset="0"/>
                <a:ea typeface="楷体" panose="02010609060101010101" charset="-122"/>
                <a:cs typeface="Times New Roman" panose="02020603050405020304" pitchFamily="18" charset="0"/>
                <a:sym typeface="+mn-ea"/>
              </a:rPr>
              <a:t> </a:t>
            </a:r>
            <a:r>
              <a:rPr lang="en-US" altLang="zh-CN">
                <a:latin typeface="Times New Roman" panose="02020603050405020304" pitchFamily="18" charset="0"/>
                <a:ea typeface="楷体" panose="02010609060101010101" charset="-122"/>
                <a:cs typeface="Times New Roman" panose="02020603050405020304" pitchFamily="18" charset="0"/>
                <a:sym typeface="+mn-ea"/>
              </a:rPr>
              <a:t>（b）</a:t>
            </a:r>
            <a:r>
              <a:rPr lang="zh-CN" altLang="en-US">
                <a:latin typeface="Times New Roman" panose="02020603050405020304" pitchFamily="18" charset="0"/>
                <a:ea typeface="楷体" panose="02010609060101010101" charset="-122"/>
                <a:cs typeface="Times New Roman" panose="02020603050405020304" pitchFamily="18" charset="0"/>
                <a:sym typeface="+mn-ea"/>
              </a:rPr>
              <a:t>系统的实现方法是数字方式、模拟方式还是数字模拟混合方式。</a:t>
            </a:r>
            <a:endParaRPr lang="zh-CN" altLang="en-US">
              <a:latin typeface="Times New Roman" panose="02020603050405020304" pitchFamily="18" charset="0"/>
              <a:ea typeface="楷体" panose="02010609060101010101" charset="-122"/>
              <a:cs typeface="Times New Roman" panose="02020603050405020304" pitchFamily="18" charset="0"/>
            </a:endParaRPr>
          </a:p>
          <a:p>
            <a:pPr marL="15875" indent="-15875" eaLnBrk="1">
              <a:lnSpc>
                <a:spcPct val="120000"/>
              </a:lnSpc>
              <a:spcBef>
                <a:spcPts val="0"/>
              </a:spcBef>
              <a:buNone/>
            </a:pPr>
            <a:r>
              <a:rPr lang="zh-CN" altLang="en-US">
                <a:latin typeface="Times New Roman" panose="02020603050405020304" pitchFamily="18" charset="0"/>
                <a:ea typeface="楷体" panose="02010609060101010101" charset="-122"/>
                <a:cs typeface="Times New Roman" panose="02020603050405020304" pitchFamily="18" charset="0"/>
                <a:sym typeface="+mn-ea"/>
              </a:rPr>
              <a:t> </a:t>
            </a:r>
            <a:r>
              <a:rPr lang="en-US" altLang="zh-CN">
                <a:latin typeface="Times New Roman" panose="02020603050405020304" pitchFamily="18" charset="0"/>
                <a:ea typeface="楷体" panose="02010609060101010101" charset="-122"/>
                <a:cs typeface="Times New Roman" panose="02020603050405020304" pitchFamily="18" charset="0"/>
                <a:sym typeface="+mn-ea"/>
              </a:rPr>
              <a:t>（c）</a:t>
            </a:r>
            <a:r>
              <a:rPr lang="zh-CN" altLang="en-US">
                <a:latin typeface="Times New Roman" panose="02020603050405020304" pitchFamily="18" charset="0"/>
                <a:ea typeface="楷体" panose="02010609060101010101" charset="-122"/>
                <a:cs typeface="Times New Roman" panose="02020603050405020304" pitchFamily="18" charset="0"/>
                <a:sym typeface="+mn-ea"/>
              </a:rPr>
              <a:t>系统的方框图。</a:t>
            </a:r>
            <a:endParaRPr lang="zh-CN" altLang="en-US">
              <a:latin typeface="Times New Roman" panose="02020603050405020304" pitchFamily="18" charset="0"/>
              <a:ea typeface="楷体" panose="02010609060101010101" charset="-122"/>
              <a:cs typeface="Times New Roman" panose="02020603050405020304" pitchFamily="18" charset="0"/>
              <a:sym typeface="+mn-ea"/>
            </a:endParaRPr>
          </a:p>
          <a:p>
            <a:pPr marL="15875" indent="-15875" eaLnBrk="1">
              <a:lnSpc>
                <a:spcPct val="120000"/>
              </a:lnSpc>
              <a:spcBef>
                <a:spcPts val="0"/>
              </a:spcBef>
              <a:buNone/>
            </a:pPr>
            <a:r>
              <a:rPr lang="en-US" altLang="zh-CN">
                <a:latin typeface="Times New Roman" panose="02020603050405020304" pitchFamily="18" charset="0"/>
                <a:ea typeface="楷体" panose="02010609060101010101" charset="-122"/>
                <a:cs typeface="Times New Roman" panose="02020603050405020304" pitchFamily="18" charset="0"/>
              </a:rPr>
              <a:t>（d）</a:t>
            </a:r>
            <a:r>
              <a:rPr lang="zh-CN" altLang="en-US">
                <a:latin typeface="Times New Roman" panose="02020603050405020304" pitchFamily="18" charset="0"/>
                <a:ea typeface="楷体" panose="02010609060101010101" charset="-122"/>
                <a:cs typeface="Times New Roman" panose="02020603050405020304" pitchFamily="18" charset="0"/>
              </a:rPr>
              <a:t>系统的控制流程。</a:t>
            </a:r>
            <a:endParaRPr lang="en-US" altLang="zh-CN">
              <a:latin typeface="Times New Roman" panose="02020603050405020304" pitchFamily="18" charset="0"/>
              <a:ea typeface="楷体" panose="02010609060101010101" charset="-122"/>
              <a:cs typeface="Times New Roman" panose="02020603050405020304" pitchFamily="18" charset="0"/>
            </a:endParaRPr>
          </a:p>
          <a:p>
            <a:pPr marL="15875" indent="-15875">
              <a:lnSpc>
                <a:spcPct val="120000"/>
              </a:lnSpc>
              <a:buNone/>
            </a:pPr>
            <a:r>
              <a:rPr lang="zh-CN" altLang="en-US">
                <a:latin typeface="Times New Roman" panose="02020603050405020304" pitchFamily="18" charset="0"/>
                <a:ea typeface="楷体" panose="02010609060101010101" charset="-122"/>
                <a:cs typeface="Times New Roman" panose="02020603050405020304" pitchFamily="18" charset="0"/>
              </a:rPr>
              <a:t> </a:t>
            </a:r>
            <a:r>
              <a:rPr lang="en-US" altLang="zh-CN">
                <a:latin typeface="Times New Roman" panose="02020603050405020304" pitchFamily="18" charset="0"/>
                <a:ea typeface="楷体" panose="02010609060101010101" charset="-122"/>
                <a:cs typeface="Times New Roman" panose="02020603050405020304" pitchFamily="18" charset="0"/>
              </a:rPr>
              <a:t>（e）</a:t>
            </a:r>
            <a:r>
              <a:rPr lang="zh-CN" altLang="en-US">
                <a:latin typeface="Times New Roman" panose="02020603050405020304" pitchFamily="18" charset="0"/>
                <a:ea typeface="楷体" panose="02010609060101010101" charset="-122"/>
                <a:cs typeface="Times New Roman" panose="02020603050405020304" pitchFamily="18" charset="0"/>
              </a:rPr>
              <a:t>系统的硬件结构。</a:t>
            </a:r>
            <a:endParaRPr lang="en-US" altLang="zh-CN">
              <a:latin typeface="Times New Roman" panose="02020603050405020304" pitchFamily="18" charset="0"/>
              <a:ea typeface="楷体" panose="02010609060101010101" charset="-122"/>
              <a:cs typeface="Times New Roman" panose="02020603050405020304" pitchFamily="18" charset="0"/>
            </a:endParaRPr>
          </a:p>
          <a:p>
            <a:pPr marL="15875" indent="-15875">
              <a:lnSpc>
                <a:spcPct val="120000"/>
              </a:lnSpc>
              <a:buNone/>
            </a:pPr>
            <a:r>
              <a:rPr lang="en-US" altLang="zh-CN">
                <a:latin typeface="Times New Roman" panose="02020603050405020304" pitchFamily="18" charset="0"/>
                <a:ea typeface="楷体" panose="02010609060101010101" charset="-122"/>
                <a:cs typeface="Times New Roman" panose="02020603050405020304" pitchFamily="18" charset="0"/>
              </a:rPr>
              <a:t>（f）</a:t>
            </a:r>
            <a:r>
              <a:rPr lang="zh-CN" altLang="en-US">
                <a:latin typeface="Times New Roman" panose="02020603050405020304" pitchFamily="18" charset="0"/>
                <a:ea typeface="楷体" panose="02010609060101010101" charset="-122"/>
                <a:cs typeface="Times New Roman" panose="02020603050405020304" pitchFamily="18" charset="0"/>
              </a:rPr>
              <a:t>系统的软件结构。</a:t>
            </a:r>
            <a:endParaRPr lang="en-US" altLang="zh-CN">
              <a:latin typeface="Times New Roman" panose="02020603050405020304" pitchFamily="18" charset="0"/>
              <a:ea typeface="楷体" panose="02010609060101010101" charset="-122"/>
              <a:cs typeface="Times New Roman" panose="02020603050405020304" pitchFamily="18" charset="0"/>
            </a:endParaRPr>
          </a:p>
          <a:p>
            <a:pPr marL="15875" indent="-15875">
              <a:lnSpc>
                <a:spcPct val="120000"/>
              </a:lnSpc>
              <a:buNone/>
            </a:pPr>
            <a:r>
              <a:rPr lang="en-US" altLang="zh-CN">
                <a:latin typeface="Times New Roman" panose="02020603050405020304" pitchFamily="18" charset="0"/>
                <a:ea typeface="楷体" panose="02010609060101010101" charset="-122"/>
                <a:cs typeface="Times New Roman" panose="02020603050405020304" pitchFamily="18" charset="0"/>
              </a:rPr>
              <a:t>（g）</a:t>
            </a:r>
            <a:r>
              <a:rPr lang="zh-CN" altLang="en-US">
                <a:latin typeface="Times New Roman" panose="02020603050405020304" pitchFamily="18" charset="0"/>
                <a:ea typeface="楷体" panose="02010609060101010101" charset="-122"/>
                <a:cs typeface="Times New Roman" panose="02020603050405020304" pitchFamily="18" charset="0"/>
              </a:rPr>
              <a:t>系统中各子系统、部件之间的关系，接口，尺寸及安装方法。</a:t>
            </a:r>
            <a:endParaRPr lang="zh-CN" altLang="en-US">
              <a:latin typeface="Times New Roman" panose="02020603050405020304" pitchFamily="18" charset="0"/>
              <a:ea typeface="楷体" panose="02010609060101010101" charset="-122"/>
              <a:cs typeface="Times New Roman" panose="02020603050405020304" pitchFamily="18" charset="0"/>
            </a:endParaRPr>
          </a:p>
          <a:p>
            <a:pPr marL="0" indent="0">
              <a:lnSpc>
                <a:spcPct val="80000"/>
              </a:lnSpc>
              <a:buNone/>
            </a:pPr>
            <a:endParaRPr lang="zh-CN" altLang="en-US">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1" name="文本占位符 53250"/>
          <p:cNvSpPr>
            <a:spLocks noGrp="1" noRot="1"/>
          </p:cNvSpPr>
          <p:nvPr>
            <p:ph type="body" idx="1"/>
          </p:nvPr>
        </p:nvSpPr>
        <p:spPr>
          <a:xfrm>
            <a:off x="706755" y="717550"/>
            <a:ext cx="10708640" cy="6021070"/>
          </a:xfrm>
          <a:solidFill>
            <a:schemeClr val="bg1"/>
          </a:solidFill>
        </p:spPr>
        <p:txBody>
          <a:bodyPr/>
          <a:p>
            <a:pPr marL="0" indent="0">
              <a:lnSpc>
                <a:spcPct val="130000"/>
              </a:lnSpc>
              <a:buNone/>
            </a:pPr>
            <a:r>
              <a:rPr lang="zh-CN" altLang="en-US" sz="3200" u="sng">
                <a:solidFill>
                  <a:srgbClr val="FF0000"/>
                </a:solidFill>
                <a:latin typeface="Times New Roman" panose="02020603050405020304" pitchFamily="18" charset="0"/>
                <a:ea typeface="楷体" panose="02010609060101010101" charset="-122"/>
                <a:cs typeface="Times New Roman" panose="02020603050405020304" pitchFamily="18" charset="0"/>
              </a:rPr>
              <a:t>系统的测量方法和仪器仪表：</a:t>
            </a:r>
            <a:endParaRPr lang="zh-CN" altLang="en-US" sz="3200" u="sng">
              <a:solidFill>
                <a:srgbClr val="FF0000"/>
              </a:solidFill>
              <a:latin typeface="Times New Roman" panose="02020603050405020304" pitchFamily="18" charset="0"/>
              <a:ea typeface="楷体" panose="02010609060101010101" charset="-122"/>
              <a:cs typeface="Times New Roman" panose="02020603050405020304" pitchFamily="18" charset="0"/>
            </a:endParaRPr>
          </a:p>
          <a:p>
            <a:pPr marL="0" indent="0">
              <a:lnSpc>
                <a:spcPct val="120000"/>
              </a:lnSpc>
              <a:buNone/>
            </a:pPr>
            <a:r>
              <a:rPr lang="en-US" altLang="zh-CN">
                <a:latin typeface="Times New Roman" panose="02020603050405020304" pitchFamily="18" charset="0"/>
                <a:ea typeface="楷体" panose="02010609060101010101" charset="-122"/>
                <a:cs typeface="Times New Roman" panose="02020603050405020304" pitchFamily="18" charset="0"/>
              </a:rPr>
              <a:t>（a）</a:t>
            </a:r>
            <a:r>
              <a:rPr lang="zh-CN" altLang="en-US">
                <a:latin typeface="Times New Roman" panose="02020603050405020304" pitchFamily="18" charset="0"/>
                <a:ea typeface="楷体" panose="02010609060101010101" charset="-122"/>
                <a:cs typeface="Times New Roman" panose="02020603050405020304" pitchFamily="18" charset="0"/>
              </a:rPr>
              <a:t>仪器仪表的种类。</a:t>
            </a:r>
            <a:endParaRPr lang="zh-CN" altLang="en-US">
              <a:latin typeface="Times New Roman" panose="02020603050405020304" pitchFamily="18" charset="0"/>
              <a:ea typeface="楷体" panose="02010609060101010101" charset="-122"/>
              <a:cs typeface="Times New Roman" panose="02020603050405020304" pitchFamily="18" charset="0"/>
            </a:endParaRPr>
          </a:p>
          <a:p>
            <a:pPr marL="0" indent="0">
              <a:lnSpc>
                <a:spcPct val="120000"/>
              </a:lnSpc>
              <a:buNone/>
            </a:pPr>
            <a:r>
              <a:rPr lang="zh-CN" altLang="en-US">
                <a:latin typeface="Times New Roman" panose="02020603050405020304" pitchFamily="18" charset="0"/>
                <a:ea typeface="楷体" panose="02010609060101010101" charset="-122"/>
                <a:cs typeface="Times New Roman" panose="02020603050405020304" pitchFamily="18" charset="0"/>
              </a:rPr>
              <a:t> </a:t>
            </a:r>
            <a:r>
              <a:rPr lang="en-US" altLang="zh-CN">
                <a:latin typeface="Times New Roman" panose="02020603050405020304" pitchFamily="18" charset="0"/>
                <a:ea typeface="楷体" panose="02010609060101010101" charset="-122"/>
                <a:cs typeface="Times New Roman" panose="02020603050405020304" pitchFamily="18" charset="0"/>
              </a:rPr>
              <a:t>（b）</a:t>
            </a:r>
            <a:r>
              <a:rPr lang="zh-CN" altLang="en-US">
                <a:latin typeface="Times New Roman" panose="02020603050405020304" pitchFamily="18" charset="0"/>
                <a:ea typeface="楷体" panose="02010609060101010101" charset="-122"/>
                <a:cs typeface="Times New Roman" panose="02020603050405020304" pitchFamily="18" charset="0"/>
              </a:rPr>
              <a:t>仪器仪表的精度。</a:t>
            </a:r>
            <a:endParaRPr lang="zh-CN" altLang="en-US">
              <a:latin typeface="Times New Roman" panose="02020603050405020304" pitchFamily="18" charset="0"/>
              <a:ea typeface="楷体" panose="02010609060101010101" charset="-122"/>
              <a:cs typeface="Times New Roman" panose="02020603050405020304" pitchFamily="18" charset="0"/>
            </a:endParaRPr>
          </a:p>
          <a:p>
            <a:pPr marL="0" indent="0">
              <a:lnSpc>
                <a:spcPct val="120000"/>
              </a:lnSpc>
              <a:buNone/>
            </a:pPr>
            <a:r>
              <a:rPr lang="zh-CN" altLang="en-US">
                <a:latin typeface="Times New Roman" panose="02020603050405020304" pitchFamily="18" charset="0"/>
                <a:ea typeface="楷体" panose="02010609060101010101" charset="-122"/>
                <a:cs typeface="Times New Roman" panose="02020603050405020304" pitchFamily="18" charset="0"/>
              </a:rPr>
              <a:t> </a:t>
            </a:r>
            <a:r>
              <a:rPr lang="en-US" altLang="zh-CN">
                <a:latin typeface="Times New Roman" panose="02020603050405020304" pitchFamily="18" charset="0"/>
                <a:ea typeface="楷体" panose="02010609060101010101" charset="-122"/>
                <a:cs typeface="Times New Roman" panose="02020603050405020304" pitchFamily="18" charset="0"/>
              </a:rPr>
              <a:t>（c）</a:t>
            </a:r>
            <a:r>
              <a:rPr lang="zh-CN" altLang="en-US">
                <a:latin typeface="Times New Roman" panose="02020603050405020304" pitchFamily="18" charset="0"/>
                <a:ea typeface="楷体" panose="02010609060101010101" charset="-122"/>
                <a:cs typeface="Times New Roman" panose="02020603050405020304" pitchFamily="18" charset="0"/>
              </a:rPr>
              <a:t>测量参数形式。</a:t>
            </a:r>
            <a:endParaRPr lang="zh-CN" altLang="en-US">
              <a:latin typeface="Times New Roman" panose="02020603050405020304" pitchFamily="18" charset="0"/>
              <a:ea typeface="楷体" panose="02010609060101010101" charset="-122"/>
              <a:cs typeface="Times New Roman" panose="02020603050405020304" pitchFamily="18" charset="0"/>
            </a:endParaRPr>
          </a:p>
          <a:p>
            <a:pPr marL="0" indent="0">
              <a:lnSpc>
                <a:spcPct val="120000"/>
              </a:lnSpc>
              <a:buNone/>
            </a:pPr>
            <a:r>
              <a:rPr lang="zh-CN" altLang="en-US">
                <a:latin typeface="Times New Roman" panose="02020603050405020304" pitchFamily="18" charset="0"/>
                <a:ea typeface="楷体" panose="02010609060101010101" charset="-122"/>
                <a:cs typeface="Times New Roman" panose="02020603050405020304" pitchFamily="18" charset="0"/>
              </a:rPr>
              <a:t> </a:t>
            </a:r>
            <a:r>
              <a:rPr lang="en-US" altLang="zh-CN">
                <a:latin typeface="Times New Roman" panose="02020603050405020304" pitchFamily="18" charset="0"/>
                <a:ea typeface="楷体" panose="02010609060101010101" charset="-122"/>
                <a:cs typeface="Times New Roman" panose="02020603050405020304" pitchFamily="18" charset="0"/>
              </a:rPr>
              <a:t>（d）</a:t>
            </a:r>
            <a:r>
              <a:rPr lang="zh-CN" altLang="en-US">
                <a:latin typeface="Times New Roman" panose="02020603050405020304" pitchFamily="18" charset="0"/>
                <a:ea typeface="楷体" panose="02010609060101010101" charset="-122"/>
                <a:cs typeface="Times New Roman" panose="02020603050405020304" pitchFamily="18" charset="0"/>
              </a:rPr>
              <a:t>测量方法。</a:t>
            </a:r>
            <a:endParaRPr lang="zh-CN" altLang="en-US">
              <a:latin typeface="Times New Roman" panose="02020603050405020304" pitchFamily="18" charset="0"/>
              <a:ea typeface="楷体" panose="02010609060101010101" charset="-122"/>
              <a:cs typeface="Times New Roman" panose="02020603050405020304" pitchFamily="18" charset="0"/>
            </a:endParaRPr>
          </a:p>
          <a:p>
            <a:pPr marL="0" indent="0">
              <a:lnSpc>
                <a:spcPct val="120000"/>
              </a:lnSpc>
              <a:buNone/>
            </a:pPr>
            <a:r>
              <a:rPr lang="en-US" altLang="zh-CN">
                <a:latin typeface="Times New Roman" panose="02020603050405020304" pitchFamily="18" charset="0"/>
                <a:ea typeface="楷体" panose="02010609060101010101" charset="-122"/>
                <a:cs typeface="Times New Roman" panose="02020603050405020304" pitchFamily="18" charset="0"/>
              </a:rPr>
              <a:t>（e）</a:t>
            </a:r>
            <a:r>
              <a:rPr lang="zh-CN" altLang="en-US">
                <a:latin typeface="Times New Roman" panose="02020603050405020304" pitchFamily="18" charset="0"/>
                <a:ea typeface="楷体" panose="02010609060101010101" charset="-122"/>
                <a:cs typeface="Times New Roman" panose="02020603050405020304" pitchFamily="18" charset="0"/>
              </a:rPr>
              <a:t>测试点。</a:t>
            </a:r>
            <a:endParaRPr lang="zh-CN" altLang="en-US">
              <a:latin typeface="Times New Roman" panose="02020603050405020304" pitchFamily="18" charset="0"/>
              <a:ea typeface="楷体" panose="02010609060101010101" charset="-122"/>
              <a:cs typeface="Times New Roman" panose="02020603050405020304" pitchFamily="18" charset="0"/>
            </a:endParaRPr>
          </a:p>
          <a:p>
            <a:pPr marL="0" indent="0">
              <a:lnSpc>
                <a:spcPct val="120000"/>
              </a:lnSpc>
              <a:buNone/>
            </a:pPr>
            <a:r>
              <a:rPr lang="en-US" altLang="zh-CN">
                <a:latin typeface="Times New Roman" panose="02020603050405020304" pitchFamily="18" charset="0"/>
                <a:ea typeface="楷体" panose="02010609060101010101" charset="-122"/>
                <a:cs typeface="Times New Roman" panose="02020603050405020304" pitchFamily="18" charset="0"/>
              </a:rPr>
              <a:t>（f）</a:t>
            </a:r>
            <a:r>
              <a:rPr lang="zh-CN" altLang="en-US">
                <a:latin typeface="Times New Roman" panose="02020603050405020304" pitchFamily="18" charset="0"/>
                <a:ea typeface="楷体" panose="02010609060101010101" charset="-122"/>
                <a:cs typeface="Times New Roman" panose="02020603050405020304" pitchFamily="18" charset="0"/>
              </a:rPr>
              <a:t>测量数据的记录与处理，如表格形式；数据处理工具，如</a:t>
            </a:r>
            <a:r>
              <a:rPr lang="en-US" altLang="zh-CN">
                <a:latin typeface="Times New Roman" panose="02020603050405020304" pitchFamily="18" charset="0"/>
                <a:ea typeface="楷体" panose="02010609060101010101" charset="-122"/>
                <a:cs typeface="Times New Roman" panose="02020603050405020304" pitchFamily="18" charset="0"/>
              </a:rPr>
              <a:t>Matlab</a:t>
            </a:r>
            <a:r>
              <a:rPr lang="zh-CN" altLang="en-US">
                <a:latin typeface="Times New Roman" panose="02020603050405020304" pitchFamily="18" charset="0"/>
                <a:ea typeface="楷体" panose="02010609060101010101" charset="-122"/>
                <a:cs typeface="Times New Roman" panose="02020603050405020304" pitchFamily="18" charset="0"/>
              </a:rPr>
              <a:t>。</a:t>
            </a:r>
            <a:endParaRPr lang="zh-CN" altLang="en-US">
              <a:latin typeface="Times New Roman" panose="02020603050405020304" pitchFamily="18" charset="0"/>
              <a:ea typeface="楷体" panose="02010609060101010101" charset="-122"/>
              <a:cs typeface="Times New Roman" panose="02020603050405020304" pitchFamily="18" charset="0"/>
            </a:endParaRPr>
          </a:p>
          <a:p>
            <a:pPr marL="0" indent="0">
              <a:lnSpc>
                <a:spcPct val="80000"/>
              </a:lnSpc>
              <a:buNone/>
            </a:pPr>
            <a:endParaRPr lang="zh-CN" altLang="en-US">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5" name="文本占位符 54274"/>
          <p:cNvSpPr>
            <a:spLocks noGrp="1" noRot="1"/>
          </p:cNvSpPr>
          <p:nvPr>
            <p:ph type="body" idx="1"/>
          </p:nvPr>
        </p:nvSpPr>
        <p:spPr>
          <a:xfrm>
            <a:off x="1098550" y="621030"/>
            <a:ext cx="10272395" cy="5259705"/>
          </a:xfrm>
          <a:solidFill>
            <a:schemeClr val="bg1"/>
          </a:solidFill>
        </p:spPr>
        <p:txBody>
          <a:bodyPr/>
          <a:p>
            <a:pPr>
              <a:lnSpc>
                <a:spcPct val="110000"/>
              </a:lnSpc>
              <a:buNone/>
            </a:pPr>
            <a:r>
              <a:rPr lang="zh-CN" altLang="en-US" sz="3200" b="1">
                <a:solidFill>
                  <a:srgbClr val="FF5050"/>
                </a:solidFill>
              </a:rPr>
              <a:t>（</a:t>
            </a:r>
            <a:r>
              <a:rPr lang="en-US" altLang="zh-CN" sz="3200" b="1">
                <a:solidFill>
                  <a:srgbClr val="FF5050"/>
                </a:solidFill>
              </a:rPr>
              <a:t>3</a:t>
            </a:r>
            <a:r>
              <a:rPr lang="zh-CN" altLang="en-US" sz="3200" b="1">
                <a:solidFill>
                  <a:srgbClr val="FF5050"/>
                </a:solidFill>
              </a:rPr>
              <a:t>）安装制作与调试</a:t>
            </a:r>
            <a:endParaRPr lang="zh-CN" altLang="en-US" sz="3200" b="1">
              <a:solidFill>
                <a:srgbClr val="FF5050"/>
              </a:solidFill>
            </a:endParaRPr>
          </a:p>
          <a:p>
            <a:pPr>
              <a:lnSpc>
                <a:spcPct val="130000"/>
              </a:lnSpc>
            </a:pPr>
            <a:r>
              <a:rPr lang="zh-CN" altLang="en-US"/>
              <a:t> </a:t>
            </a:r>
            <a:r>
              <a:rPr lang="zh-CN" altLang="en-US" u="sng">
                <a:solidFill>
                  <a:srgbClr val="FF0000"/>
                </a:solidFill>
              </a:rPr>
              <a:t>安装、制作需要考虑的问题：</a:t>
            </a:r>
            <a:endParaRPr lang="zh-CN" altLang="en-US"/>
          </a:p>
          <a:p>
            <a:pPr marL="12700" indent="-12700">
              <a:lnSpc>
                <a:spcPct val="130000"/>
              </a:lnSpc>
              <a:buNone/>
            </a:pPr>
            <a:r>
              <a:rPr lang="en-US" altLang="zh-CN"/>
              <a:t>（a）</a:t>
            </a:r>
            <a:r>
              <a:rPr lang="zh-CN" altLang="en-US"/>
              <a:t>安装工具。</a:t>
            </a:r>
            <a:endParaRPr lang="zh-CN" altLang="en-US"/>
          </a:p>
          <a:p>
            <a:pPr marL="12700" indent="-12700">
              <a:lnSpc>
                <a:spcPct val="130000"/>
              </a:lnSpc>
              <a:buNone/>
            </a:pPr>
            <a:r>
              <a:rPr lang="en-US" altLang="zh-CN"/>
              <a:t>（b）</a:t>
            </a:r>
            <a:r>
              <a:rPr lang="zh-CN" altLang="en-US"/>
              <a:t>元器件选择与采购。</a:t>
            </a:r>
            <a:endParaRPr lang="zh-CN" altLang="en-US"/>
          </a:p>
          <a:p>
            <a:pPr marL="12700" indent="-12700">
              <a:lnSpc>
                <a:spcPct val="130000"/>
              </a:lnSpc>
              <a:buNone/>
            </a:pPr>
            <a:r>
              <a:rPr lang="en-US" altLang="zh-CN"/>
              <a:t>（c）</a:t>
            </a:r>
            <a:r>
              <a:rPr lang="zh-CN" altLang="en-US"/>
              <a:t>最小系统的采用，如微控制器、可编程逻辑器件的选用。</a:t>
            </a:r>
            <a:endParaRPr lang="zh-CN" altLang="en-US"/>
          </a:p>
          <a:p>
            <a:pPr marL="12700" indent="-12700">
              <a:lnSpc>
                <a:spcPct val="130000"/>
              </a:lnSpc>
              <a:buNone/>
            </a:pPr>
            <a:r>
              <a:rPr lang="en-US" altLang="zh-CN"/>
              <a:t>（d）</a:t>
            </a:r>
            <a:r>
              <a:rPr lang="zh-CN" altLang="en-US"/>
              <a:t>印制板设计与制作，包括低频、高频、数字、模拟、数模混合、地、</a:t>
            </a:r>
            <a:r>
              <a:rPr lang="en-US" altLang="zh-CN"/>
              <a:t>EMC</a:t>
            </a:r>
            <a:r>
              <a:rPr lang="zh-CN" altLang="en-US"/>
              <a:t>。</a:t>
            </a:r>
            <a:endParaRPr lang="zh-CN" altLang="en-US"/>
          </a:p>
          <a:p>
            <a:pPr marL="12700" indent="-12700">
              <a:lnSpc>
                <a:spcPct val="130000"/>
              </a:lnSpc>
              <a:buNone/>
            </a:pPr>
            <a:r>
              <a:rPr lang="en-US" altLang="zh-CN"/>
              <a:t>（e）</a:t>
            </a:r>
            <a:r>
              <a:rPr lang="zh-CN" altLang="en-US"/>
              <a:t>子系统、部件安装制作的顺序。</a:t>
            </a:r>
            <a:endParaRPr lang="zh-CN" altLang="en-US" sz="2400"/>
          </a:p>
        </p:txBody>
      </p:sp>
    </p:spTree>
  </p:cSld>
  <p:clrMapOvr>
    <a:masterClrMapping/>
  </p:clrMapOvr>
  <p:transition>
    <p:pull dir="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5" name="文本占位符 54274"/>
          <p:cNvSpPr>
            <a:spLocks noGrp="1" noRot="1"/>
          </p:cNvSpPr>
          <p:nvPr>
            <p:ph type="body" idx="1"/>
          </p:nvPr>
        </p:nvSpPr>
        <p:spPr>
          <a:xfrm>
            <a:off x="1098550" y="621030"/>
            <a:ext cx="8445500" cy="4847590"/>
          </a:xfrm>
          <a:solidFill>
            <a:schemeClr val="bg1"/>
          </a:solidFill>
        </p:spPr>
        <p:txBody>
          <a:bodyPr/>
          <a:p>
            <a:pPr>
              <a:lnSpc>
                <a:spcPct val="110000"/>
              </a:lnSpc>
              <a:buNone/>
            </a:pPr>
            <a:r>
              <a:rPr lang="zh-CN" altLang="en-US" sz="3200" b="1">
                <a:solidFill>
                  <a:srgbClr val="FF5050"/>
                </a:solidFill>
              </a:rPr>
              <a:t>（</a:t>
            </a:r>
            <a:r>
              <a:rPr lang="en-US" altLang="zh-CN" sz="3200" b="1">
                <a:solidFill>
                  <a:srgbClr val="FF5050"/>
                </a:solidFill>
              </a:rPr>
              <a:t>3</a:t>
            </a:r>
            <a:r>
              <a:rPr lang="zh-CN" altLang="en-US" sz="3200" b="1">
                <a:solidFill>
                  <a:srgbClr val="FF5050"/>
                </a:solidFill>
              </a:rPr>
              <a:t>）安装制作与调试</a:t>
            </a:r>
            <a:endParaRPr lang="zh-CN" altLang="en-US" sz="3200" b="1">
              <a:solidFill>
                <a:srgbClr val="FF5050"/>
              </a:solidFill>
            </a:endParaRPr>
          </a:p>
          <a:p>
            <a:pPr>
              <a:lnSpc>
                <a:spcPct val="130000"/>
              </a:lnSpc>
            </a:pPr>
            <a:r>
              <a:rPr lang="zh-CN" altLang="en-US" u="sng">
                <a:solidFill>
                  <a:srgbClr val="FF0000"/>
                </a:solidFill>
              </a:rPr>
              <a:t>调试需要考虑的问题：</a:t>
            </a:r>
            <a:endParaRPr lang="zh-CN" altLang="en-US" u="sng">
              <a:solidFill>
                <a:srgbClr val="FF0000"/>
              </a:solidFill>
            </a:endParaRPr>
          </a:p>
          <a:p>
            <a:pPr marL="12700" indent="-12700">
              <a:lnSpc>
                <a:spcPct val="130000"/>
              </a:lnSpc>
              <a:buNone/>
            </a:pPr>
            <a:r>
              <a:rPr lang="en-US" altLang="zh-CN"/>
              <a:t>（a）</a:t>
            </a:r>
            <a:r>
              <a:rPr lang="zh-CN" altLang="en-US"/>
              <a:t>调试参数；</a:t>
            </a:r>
            <a:endParaRPr lang="zh-CN" altLang="en-US"/>
          </a:p>
          <a:p>
            <a:pPr marL="12700" indent="-12700">
              <a:lnSpc>
                <a:spcPct val="130000"/>
              </a:lnSpc>
              <a:buNone/>
            </a:pPr>
            <a:r>
              <a:rPr lang="en-US" altLang="zh-CN"/>
              <a:t>（b）</a:t>
            </a:r>
            <a:r>
              <a:rPr lang="zh-CN" altLang="en-US"/>
              <a:t>调试方法；</a:t>
            </a:r>
            <a:endParaRPr lang="zh-CN" altLang="en-US"/>
          </a:p>
          <a:p>
            <a:pPr marL="12700" indent="-12700">
              <a:lnSpc>
                <a:spcPct val="130000"/>
              </a:lnSpc>
              <a:buNone/>
            </a:pPr>
            <a:r>
              <a:rPr lang="en-US" altLang="zh-CN"/>
              <a:t>（c）</a:t>
            </a:r>
            <a:r>
              <a:rPr lang="zh-CN" altLang="en-US"/>
              <a:t>调试需要的仪器与仪表。</a:t>
            </a:r>
            <a:endParaRPr lang="zh-CN" altLang="en-US"/>
          </a:p>
          <a:p>
            <a:pPr marL="12700" indent="-12700">
              <a:lnSpc>
                <a:spcPct val="130000"/>
              </a:lnSpc>
              <a:buNone/>
            </a:pPr>
            <a:r>
              <a:rPr lang="en-US" altLang="zh-CN"/>
              <a:t>（d）</a:t>
            </a:r>
            <a:r>
              <a:rPr lang="zh-CN" altLang="en-US"/>
              <a:t>软／硬件的协同，如何修改软件及硬件。</a:t>
            </a:r>
            <a:endParaRPr lang="zh-CN" altLang="en-US"/>
          </a:p>
          <a:p>
            <a:pPr marL="12700" indent="-12700">
              <a:lnSpc>
                <a:spcPct val="130000"/>
              </a:lnSpc>
              <a:buNone/>
            </a:pPr>
            <a:r>
              <a:rPr lang="en-US" altLang="zh-CN"/>
              <a:t>（e）</a:t>
            </a:r>
            <a:r>
              <a:rPr lang="zh-CN" altLang="en-US"/>
              <a:t>测量数据的记录与处理</a:t>
            </a:r>
            <a:endParaRPr lang="zh-CN" altLang="en-US"/>
          </a:p>
        </p:txBody>
      </p:sp>
    </p:spTree>
  </p:cSld>
  <p:clrMapOvr>
    <a:masterClrMapping/>
  </p:clrMapOvr>
  <p:transition>
    <p:pull dir="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9" name="文本占位符 55298"/>
          <p:cNvSpPr>
            <a:spLocks noGrp="1" noRot="1"/>
          </p:cNvSpPr>
          <p:nvPr>
            <p:ph type="body" idx="1"/>
          </p:nvPr>
        </p:nvSpPr>
        <p:spPr>
          <a:xfrm>
            <a:off x="655955" y="1339215"/>
            <a:ext cx="11181080" cy="4782820"/>
          </a:xfrm>
        </p:spPr>
        <p:txBody>
          <a:bodyPr/>
          <a:p>
            <a:pPr marL="0" indent="0">
              <a:lnSpc>
                <a:spcPct val="90000"/>
              </a:lnSpc>
              <a:buNone/>
            </a:pPr>
            <a:r>
              <a:rPr lang="en-US" altLang="zh-CN" u="sng">
                <a:solidFill>
                  <a:srgbClr val="FF0000"/>
                </a:solidFill>
                <a:latin typeface="+mj-lt"/>
                <a:ea typeface="楷体" panose="02010609060101010101" charset="-122"/>
                <a:cs typeface="+mj-lt"/>
              </a:rPr>
              <a:t>6.1  </a:t>
            </a:r>
            <a:r>
              <a:rPr lang="zh-CN" altLang="en-US" u="sng">
                <a:solidFill>
                  <a:srgbClr val="FF0000"/>
                </a:solidFill>
                <a:latin typeface="+mj-lt"/>
                <a:ea typeface="楷体" panose="02010609060101010101" charset="-122"/>
                <a:cs typeface="+mj-lt"/>
              </a:rPr>
              <a:t>竞赛时间规划</a:t>
            </a:r>
            <a:endParaRPr lang="zh-CN" altLang="en-US" u="sng">
              <a:solidFill>
                <a:srgbClr val="FF0000"/>
              </a:solidFill>
              <a:latin typeface="+mj-lt"/>
              <a:ea typeface="楷体" panose="02010609060101010101" charset="-122"/>
              <a:cs typeface="+mj-lt"/>
            </a:endParaRPr>
          </a:p>
          <a:p>
            <a:pPr marL="0" indent="0">
              <a:lnSpc>
                <a:spcPct val="90000"/>
              </a:lnSpc>
              <a:buNone/>
            </a:pPr>
            <a:r>
              <a:rPr lang="zh-CN" altLang="en-US" u="sng">
                <a:solidFill>
                  <a:srgbClr val="FF0000"/>
                </a:solidFill>
                <a:latin typeface="+mj-lt"/>
                <a:ea typeface="楷体" panose="02010609060101010101" charset="-122"/>
                <a:cs typeface="+mj-lt"/>
              </a:rPr>
              <a:t>第</a:t>
            </a:r>
            <a:r>
              <a:rPr lang="en-US" altLang="zh-CN" u="sng">
                <a:solidFill>
                  <a:srgbClr val="FF0000"/>
                </a:solidFill>
                <a:latin typeface="+mj-lt"/>
                <a:ea typeface="楷体" panose="02010609060101010101" charset="-122"/>
                <a:cs typeface="+mj-lt"/>
              </a:rPr>
              <a:t>1</a:t>
            </a:r>
            <a:r>
              <a:rPr lang="zh-CN" altLang="en-US" u="sng">
                <a:solidFill>
                  <a:srgbClr val="FF0000"/>
                </a:solidFill>
                <a:latin typeface="+mj-lt"/>
                <a:ea typeface="楷体" panose="02010609060101010101" charset="-122"/>
                <a:cs typeface="+mj-lt"/>
              </a:rPr>
              <a:t>天</a:t>
            </a:r>
            <a:r>
              <a:rPr lang="en-US" altLang="zh-CN" u="sng">
                <a:solidFill>
                  <a:srgbClr val="FF0000"/>
                </a:solidFill>
                <a:latin typeface="+mj-lt"/>
                <a:ea typeface="楷体" panose="02010609060101010101" charset="-122"/>
                <a:cs typeface="+mj-lt"/>
              </a:rPr>
              <a:t>8</a:t>
            </a:r>
            <a:r>
              <a:rPr lang="zh-CN" altLang="en-US" u="sng">
                <a:solidFill>
                  <a:srgbClr val="FF0000"/>
                </a:solidFill>
                <a:latin typeface="+mj-lt"/>
                <a:ea typeface="楷体" panose="02010609060101010101" charset="-122"/>
                <a:cs typeface="+mj-lt"/>
              </a:rPr>
              <a:t>：</a:t>
            </a:r>
            <a:r>
              <a:rPr lang="en-US" altLang="zh-CN" u="sng">
                <a:solidFill>
                  <a:srgbClr val="FF0000"/>
                </a:solidFill>
                <a:latin typeface="+mj-lt"/>
                <a:ea typeface="楷体" panose="02010609060101010101" charset="-122"/>
                <a:cs typeface="+mj-lt"/>
              </a:rPr>
              <a:t>00</a:t>
            </a:r>
            <a:r>
              <a:rPr lang="zh-CN" altLang="en-US" u="sng">
                <a:solidFill>
                  <a:srgbClr val="FF0000"/>
                </a:solidFill>
                <a:latin typeface="+mj-lt"/>
                <a:ea typeface="楷体" panose="02010609060101010101" charset="-122"/>
                <a:cs typeface="+mj-lt"/>
              </a:rPr>
              <a:t>开始</a:t>
            </a:r>
            <a:endParaRPr lang="zh-CN" altLang="en-US" u="sng">
              <a:solidFill>
                <a:srgbClr val="FF0000"/>
              </a:solidFill>
              <a:latin typeface="+mj-lt"/>
              <a:ea typeface="楷体" panose="02010609060101010101" charset="-122"/>
              <a:cs typeface="+mj-lt"/>
            </a:endParaRPr>
          </a:p>
          <a:p>
            <a:pPr marL="0" indent="0">
              <a:lnSpc>
                <a:spcPct val="90000"/>
              </a:lnSpc>
              <a:buNone/>
            </a:pPr>
            <a:r>
              <a:rPr lang="zh-CN" altLang="en-US">
                <a:latin typeface="+mj-lt"/>
                <a:ea typeface="楷体" panose="02010609060101010101" charset="-122"/>
                <a:cs typeface="+mj-lt"/>
              </a:rPr>
              <a:t>      确定竞赛题目</a:t>
            </a:r>
            <a:r>
              <a:rPr lang="en-US" altLang="zh-CN">
                <a:latin typeface="+mj-lt"/>
                <a:ea typeface="楷体" panose="02010609060101010101" charset="-122"/>
                <a:cs typeface="+mj-lt"/>
              </a:rPr>
              <a:t>2</a:t>
            </a:r>
            <a:r>
              <a:rPr lang="zh-CN" altLang="en-US">
                <a:latin typeface="+mj-lt"/>
                <a:ea typeface="楷体" panose="02010609060101010101" charset="-122"/>
                <a:cs typeface="+mj-lt"/>
              </a:rPr>
              <a:t>小时</a:t>
            </a:r>
            <a:endParaRPr lang="zh-CN" altLang="en-US">
              <a:latin typeface="+mj-lt"/>
              <a:ea typeface="楷体" panose="02010609060101010101" charset="-122"/>
              <a:cs typeface="+mj-lt"/>
            </a:endParaRPr>
          </a:p>
          <a:p>
            <a:pPr marL="0" indent="0">
              <a:lnSpc>
                <a:spcPct val="90000"/>
              </a:lnSpc>
              <a:buNone/>
            </a:pPr>
            <a:r>
              <a:rPr lang="zh-CN" altLang="en-US">
                <a:latin typeface="+mj-lt"/>
                <a:ea typeface="楷体" panose="02010609060101010101" charset="-122"/>
                <a:cs typeface="+mj-lt"/>
              </a:rPr>
              <a:t>      确定设计方案</a:t>
            </a:r>
            <a:r>
              <a:rPr lang="en-US" altLang="zh-CN">
                <a:latin typeface="+mj-lt"/>
                <a:ea typeface="楷体" panose="02010609060101010101" charset="-122"/>
                <a:cs typeface="+mj-lt"/>
              </a:rPr>
              <a:t>6</a:t>
            </a:r>
            <a:r>
              <a:rPr lang="zh-CN" altLang="en-US">
                <a:latin typeface="+mj-lt"/>
                <a:ea typeface="楷体" panose="02010609060101010101" charset="-122"/>
                <a:cs typeface="+mj-lt"/>
              </a:rPr>
              <a:t>小时</a:t>
            </a:r>
            <a:endParaRPr lang="zh-CN" altLang="en-US">
              <a:latin typeface="+mj-lt"/>
              <a:ea typeface="楷体" panose="02010609060101010101" charset="-122"/>
              <a:cs typeface="+mj-lt"/>
            </a:endParaRPr>
          </a:p>
          <a:p>
            <a:pPr marL="0" indent="0">
              <a:lnSpc>
                <a:spcPct val="90000"/>
              </a:lnSpc>
              <a:buNone/>
            </a:pPr>
            <a:r>
              <a:rPr lang="zh-CN" altLang="en-US">
                <a:latin typeface="+mj-lt"/>
                <a:ea typeface="楷体" panose="02010609060101010101" charset="-122"/>
                <a:cs typeface="+mj-lt"/>
              </a:rPr>
              <a:t>      设计电路原理图、印制板图，尽快拿出元器件清单</a:t>
            </a:r>
            <a:endParaRPr lang="zh-CN" altLang="en-US">
              <a:latin typeface="+mj-lt"/>
              <a:ea typeface="楷体" panose="02010609060101010101" charset="-122"/>
              <a:cs typeface="+mj-lt"/>
            </a:endParaRPr>
          </a:p>
          <a:p>
            <a:pPr marL="0" indent="0">
              <a:lnSpc>
                <a:spcPct val="90000"/>
              </a:lnSpc>
              <a:buNone/>
            </a:pPr>
            <a:r>
              <a:rPr lang="zh-CN" altLang="en-US">
                <a:latin typeface="+mj-lt"/>
                <a:ea typeface="楷体" panose="02010609060101010101" charset="-122"/>
                <a:cs typeface="+mj-lt"/>
              </a:rPr>
              <a:t>      设计程序方框图、功能模块程序</a:t>
            </a:r>
            <a:endParaRPr lang="zh-CN" altLang="en-US">
              <a:latin typeface="+mj-lt"/>
              <a:ea typeface="楷体" panose="02010609060101010101" charset="-122"/>
              <a:cs typeface="+mj-lt"/>
            </a:endParaRPr>
          </a:p>
          <a:p>
            <a:pPr marL="0" indent="0">
              <a:lnSpc>
                <a:spcPct val="90000"/>
              </a:lnSpc>
              <a:buNone/>
            </a:pPr>
            <a:r>
              <a:rPr lang="zh-CN" altLang="en-US">
                <a:latin typeface="+mj-lt"/>
                <a:ea typeface="楷体" panose="02010609060101010101" charset="-122"/>
                <a:cs typeface="+mj-lt"/>
              </a:rPr>
              <a:t>      设计总结报告整体结构。</a:t>
            </a:r>
            <a:endParaRPr lang="zh-CN" altLang="en-US">
              <a:latin typeface="+mj-lt"/>
              <a:ea typeface="楷体" panose="02010609060101010101" charset="-122"/>
              <a:cs typeface="+mj-lt"/>
            </a:endParaRPr>
          </a:p>
          <a:p>
            <a:pPr marL="0" indent="0">
              <a:lnSpc>
                <a:spcPct val="90000"/>
              </a:lnSpc>
              <a:buNone/>
            </a:pPr>
            <a:r>
              <a:rPr lang="zh-CN" altLang="en-US">
                <a:latin typeface="+mj-lt"/>
                <a:ea typeface="楷体" panose="02010609060101010101" charset="-122"/>
                <a:cs typeface="+mj-lt"/>
              </a:rPr>
              <a:t>      完成部分模块的设计。</a:t>
            </a:r>
            <a:endParaRPr lang="zh-CN" altLang="en-US">
              <a:latin typeface="+mj-lt"/>
              <a:ea typeface="楷体" panose="02010609060101010101" charset="-122"/>
              <a:cs typeface="+mj-lt"/>
            </a:endParaRPr>
          </a:p>
          <a:p>
            <a:pPr marL="0" indent="0">
              <a:lnSpc>
                <a:spcPct val="90000"/>
              </a:lnSpc>
              <a:buNone/>
            </a:pPr>
            <a:r>
              <a:rPr lang="zh-CN" altLang="en-US" u="sng">
                <a:solidFill>
                  <a:srgbClr val="FF0000"/>
                </a:solidFill>
                <a:latin typeface="+mj-lt"/>
                <a:ea typeface="楷体" panose="02010609060101010101" charset="-122"/>
                <a:cs typeface="+mj-lt"/>
              </a:rPr>
              <a:t>第</a:t>
            </a:r>
            <a:r>
              <a:rPr lang="en-US" altLang="zh-CN" u="sng">
                <a:solidFill>
                  <a:srgbClr val="FF0000"/>
                </a:solidFill>
                <a:latin typeface="+mj-lt"/>
                <a:ea typeface="楷体" panose="02010609060101010101" charset="-122"/>
                <a:cs typeface="+mj-lt"/>
              </a:rPr>
              <a:t>2</a:t>
            </a:r>
            <a:r>
              <a:rPr lang="zh-CN" altLang="en-US" u="sng">
                <a:solidFill>
                  <a:srgbClr val="FF0000"/>
                </a:solidFill>
                <a:latin typeface="+mj-lt"/>
                <a:ea typeface="楷体" panose="02010609060101010101" charset="-122"/>
                <a:cs typeface="+mj-lt"/>
              </a:rPr>
              <a:t>天</a:t>
            </a:r>
            <a:endParaRPr lang="zh-CN" altLang="en-US" u="sng">
              <a:solidFill>
                <a:srgbClr val="FF0000"/>
              </a:solidFill>
              <a:latin typeface="+mj-lt"/>
              <a:ea typeface="楷体" panose="02010609060101010101" charset="-122"/>
              <a:cs typeface="+mj-lt"/>
            </a:endParaRPr>
          </a:p>
          <a:p>
            <a:pPr marL="0" indent="0">
              <a:lnSpc>
                <a:spcPct val="90000"/>
              </a:lnSpc>
              <a:buNone/>
            </a:pPr>
            <a:r>
              <a:rPr lang="zh-CN" altLang="en-US">
                <a:latin typeface="+mj-lt"/>
                <a:ea typeface="楷体" panose="02010609060101010101" charset="-122"/>
                <a:cs typeface="+mj-lt"/>
              </a:rPr>
              <a:t>      继续完成设计和开始进行单元模块电路的制作。</a:t>
            </a:r>
            <a:endParaRPr lang="zh-CN" altLang="en-US">
              <a:latin typeface="+mj-lt"/>
              <a:ea typeface="楷体" panose="02010609060101010101" charset="-122"/>
              <a:cs typeface="+mj-lt"/>
            </a:endParaRPr>
          </a:p>
          <a:p>
            <a:pPr>
              <a:lnSpc>
                <a:spcPct val="80000"/>
              </a:lnSpc>
            </a:pPr>
            <a:endParaRPr lang="zh-CN" altLang="en-US">
              <a:latin typeface="+mj-lt"/>
              <a:ea typeface="楷体" panose="02010609060101010101" charset="-122"/>
              <a:cs typeface="+mj-lt"/>
            </a:endParaRPr>
          </a:p>
        </p:txBody>
      </p:sp>
      <p:sp>
        <p:nvSpPr>
          <p:cNvPr id="3" name="标题 2"/>
          <p:cNvSpPr>
            <a:spLocks noGrp="1" noRot="1"/>
          </p:cNvSpPr>
          <p:nvPr>
            <p:ph type="title"/>
          </p:nvPr>
        </p:nvSpPr>
        <p:spPr>
          <a:xfrm>
            <a:off x="1560830" y="574040"/>
            <a:ext cx="8540750" cy="765175"/>
          </a:xfrm>
        </p:spPr>
        <p:txBody>
          <a:bodyPr anchor="ctr"/>
          <a:p>
            <a:r>
              <a:rPr lang="zh-CN" altLang="en-US" b="1" u="sng">
                <a:solidFill>
                  <a:srgbClr val="FF0000"/>
                </a:solidFill>
                <a:ea typeface="楷体" panose="02010609060101010101" charset="-122"/>
                <a:cs typeface="+mj-lt"/>
              </a:rPr>
              <a:t>陆  </a:t>
            </a:r>
            <a:r>
              <a:rPr lang="zh-CN" altLang="en-US" b="1" u="sng">
                <a:solidFill>
                  <a:schemeClr val="hlink"/>
                </a:solidFill>
                <a:ea typeface="楷体" panose="02010609060101010101" charset="-122"/>
                <a:cs typeface="+mj-lt"/>
              </a:rPr>
              <a:t>竞赛时间规划及注意事项</a:t>
            </a:r>
            <a:endParaRPr lang="zh-CN" altLang="en-US" b="1" u="sng">
              <a:solidFill>
                <a:schemeClr val="hlink"/>
              </a:solidFill>
              <a:ea typeface="楷体" panose="02010609060101010101" charset="-122"/>
              <a:cs typeface="+mj-lt"/>
            </a:endParaRPr>
          </a:p>
        </p:txBody>
      </p:sp>
    </p:spTree>
  </p:cSld>
  <p:clrMapOvr>
    <a:masterClrMapping/>
  </p:clrMapOvr>
  <p:transition>
    <p:pull dir="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9" name="文本占位符 55298"/>
          <p:cNvSpPr>
            <a:spLocks noGrp="1" noRot="1"/>
          </p:cNvSpPr>
          <p:nvPr>
            <p:ph type="body" idx="1"/>
          </p:nvPr>
        </p:nvSpPr>
        <p:spPr>
          <a:xfrm>
            <a:off x="641985" y="755650"/>
            <a:ext cx="11181080" cy="5303520"/>
          </a:xfrm>
        </p:spPr>
        <p:txBody>
          <a:bodyPr/>
          <a:p>
            <a:pPr marL="0" indent="0" eaLnBrk="1">
              <a:lnSpc>
                <a:spcPct val="100000"/>
              </a:lnSpc>
              <a:spcBef>
                <a:spcPts val="0"/>
              </a:spcBef>
              <a:buNone/>
            </a:pPr>
            <a:r>
              <a:rPr lang="zh-CN" altLang="en-US" sz="3200" u="sng">
                <a:solidFill>
                  <a:srgbClr val="FF0000"/>
                </a:solidFill>
                <a:latin typeface="Times New Roman" panose="02020603050405020304" pitchFamily="18" charset="0"/>
                <a:ea typeface="楷体" panose="02010609060101010101" charset="-122"/>
                <a:cs typeface="Times New Roman" panose="02020603050405020304" pitchFamily="18" charset="0"/>
              </a:rPr>
              <a:t>第</a:t>
            </a:r>
            <a:r>
              <a:rPr lang="en-US" altLang="zh-CN" sz="3200" u="sng">
                <a:solidFill>
                  <a:srgbClr val="FF0000"/>
                </a:solidFill>
                <a:latin typeface="Times New Roman" panose="02020603050405020304" pitchFamily="18" charset="0"/>
                <a:ea typeface="楷体" panose="02010609060101010101" charset="-122"/>
                <a:cs typeface="Times New Roman" panose="02020603050405020304" pitchFamily="18" charset="0"/>
              </a:rPr>
              <a:t>3</a:t>
            </a:r>
            <a:r>
              <a:rPr lang="zh-CN" altLang="en-US" sz="3200" u="sng">
                <a:solidFill>
                  <a:srgbClr val="FF0000"/>
                </a:solidFill>
                <a:latin typeface="Times New Roman" panose="02020603050405020304" pitchFamily="18" charset="0"/>
                <a:ea typeface="楷体" panose="02010609060101010101" charset="-122"/>
                <a:cs typeface="Times New Roman" panose="02020603050405020304" pitchFamily="18" charset="0"/>
              </a:rPr>
              <a:t>天</a:t>
            </a:r>
            <a:endParaRPr lang="zh-CN" altLang="en-US" sz="3200" u="sng">
              <a:solidFill>
                <a:srgbClr val="FF0000"/>
              </a:solidFill>
              <a:latin typeface="Times New Roman" panose="02020603050405020304" pitchFamily="18" charset="0"/>
              <a:ea typeface="楷体" panose="02010609060101010101" charset="-122"/>
              <a:cs typeface="Times New Roman" panose="02020603050405020304" pitchFamily="18" charset="0"/>
            </a:endParaRPr>
          </a:p>
          <a:p>
            <a:pPr marL="0" indent="791210" eaLnBrk="1">
              <a:lnSpc>
                <a:spcPct val="100000"/>
              </a:lnSpc>
              <a:spcBef>
                <a:spcPts val="0"/>
              </a:spcBef>
              <a:buNone/>
            </a:pPr>
            <a:r>
              <a:rPr lang="zh-CN" altLang="en-US" sz="3200">
                <a:latin typeface="Times New Roman" panose="02020603050405020304" pitchFamily="18" charset="0"/>
                <a:ea typeface="楷体" panose="02010609060101010101" charset="-122"/>
                <a:cs typeface="Times New Roman" panose="02020603050405020304" pitchFamily="18" charset="0"/>
              </a:rPr>
              <a:t>开始整机的组装和调试。调试时，首先应该完成功能调试，然后进行指标调试。</a:t>
            </a:r>
            <a:endParaRPr lang="zh-CN" altLang="en-US" sz="3200">
              <a:latin typeface="Times New Roman" panose="02020603050405020304" pitchFamily="18" charset="0"/>
              <a:ea typeface="楷体" panose="02010609060101010101" charset="-122"/>
              <a:cs typeface="Times New Roman" panose="02020603050405020304" pitchFamily="18" charset="0"/>
            </a:endParaRPr>
          </a:p>
          <a:p>
            <a:pPr marL="0" indent="0" eaLnBrk="1">
              <a:lnSpc>
                <a:spcPct val="100000"/>
              </a:lnSpc>
              <a:spcBef>
                <a:spcPts val="0"/>
              </a:spcBef>
              <a:buNone/>
            </a:pPr>
            <a:r>
              <a:rPr lang="zh-CN" altLang="en-US" sz="3200" u="sng">
                <a:solidFill>
                  <a:srgbClr val="FF0000"/>
                </a:solidFill>
                <a:latin typeface="Times New Roman" panose="02020603050405020304" pitchFamily="18" charset="0"/>
                <a:ea typeface="楷体" panose="02010609060101010101" charset="-122"/>
                <a:cs typeface="Times New Roman" panose="02020603050405020304" pitchFamily="18" charset="0"/>
              </a:rPr>
              <a:t>第</a:t>
            </a:r>
            <a:r>
              <a:rPr lang="en-US" altLang="zh-CN" sz="3200" u="sng">
                <a:solidFill>
                  <a:srgbClr val="FF0000"/>
                </a:solidFill>
                <a:latin typeface="Times New Roman" panose="02020603050405020304" pitchFamily="18" charset="0"/>
                <a:ea typeface="楷体" panose="02010609060101010101" charset="-122"/>
                <a:cs typeface="Times New Roman" panose="02020603050405020304" pitchFamily="18" charset="0"/>
              </a:rPr>
              <a:t>4</a:t>
            </a:r>
            <a:r>
              <a:rPr lang="zh-CN" altLang="en-US" sz="3200" u="sng">
                <a:solidFill>
                  <a:srgbClr val="FF0000"/>
                </a:solidFill>
                <a:latin typeface="Times New Roman" panose="02020603050405020304" pitchFamily="18" charset="0"/>
                <a:ea typeface="楷体" panose="02010609060101010101" charset="-122"/>
                <a:cs typeface="Times New Roman" panose="02020603050405020304" pitchFamily="18" charset="0"/>
              </a:rPr>
              <a:t>天</a:t>
            </a:r>
            <a:endParaRPr lang="zh-CN" altLang="en-US" sz="3200" u="sng">
              <a:solidFill>
                <a:srgbClr val="FF0000"/>
              </a:solidFill>
              <a:latin typeface="Times New Roman" panose="02020603050405020304" pitchFamily="18" charset="0"/>
              <a:ea typeface="楷体" panose="02010609060101010101" charset="-122"/>
              <a:cs typeface="Times New Roman" panose="02020603050405020304" pitchFamily="18" charset="0"/>
            </a:endParaRPr>
          </a:p>
          <a:p>
            <a:pPr marL="0" indent="791210" eaLnBrk="1">
              <a:lnSpc>
                <a:spcPct val="100000"/>
              </a:lnSpc>
              <a:spcBef>
                <a:spcPts val="0"/>
              </a:spcBef>
              <a:buNone/>
            </a:pPr>
            <a:r>
              <a:rPr lang="zh-CN" altLang="en-US" sz="3200">
                <a:latin typeface="Times New Roman" panose="02020603050405020304" pitchFamily="18" charset="0"/>
                <a:ea typeface="楷体" panose="02010609060101010101" charset="-122"/>
                <a:cs typeface="Times New Roman" panose="02020603050405020304" pitchFamily="18" charset="0"/>
              </a:rPr>
              <a:t>主要是进行系统的功能和指标调试。</a:t>
            </a:r>
            <a:endParaRPr lang="zh-CN" altLang="en-US" sz="3200">
              <a:latin typeface="Times New Roman" panose="02020603050405020304" pitchFamily="18" charset="0"/>
              <a:ea typeface="楷体" panose="02010609060101010101" charset="-122"/>
              <a:cs typeface="Times New Roman" panose="02020603050405020304" pitchFamily="18" charset="0"/>
            </a:endParaRPr>
          </a:p>
          <a:p>
            <a:pPr marL="0" indent="791210" eaLnBrk="1">
              <a:lnSpc>
                <a:spcPct val="100000"/>
              </a:lnSpc>
              <a:spcBef>
                <a:spcPts val="0"/>
              </a:spcBef>
              <a:buNone/>
            </a:pPr>
            <a:r>
              <a:rPr lang="zh-CN" altLang="en-US" sz="3200">
                <a:latin typeface="Times New Roman" panose="02020603050405020304" pitchFamily="18" charset="0"/>
                <a:ea typeface="楷体" panose="02010609060101010101" charset="-122"/>
                <a:cs typeface="Times New Roman" panose="02020603050405020304" pitchFamily="18" charset="0"/>
              </a:rPr>
              <a:t>总装调试阶段，一定要格外小心，通电前一定要两人以上进行核对和检查。</a:t>
            </a:r>
            <a:endParaRPr lang="zh-CN" altLang="en-US" sz="3200">
              <a:latin typeface="Times New Roman" panose="02020603050405020304" pitchFamily="18" charset="0"/>
              <a:ea typeface="楷体" panose="02010609060101010101" charset="-122"/>
              <a:cs typeface="Times New Roman" panose="02020603050405020304" pitchFamily="18" charset="0"/>
            </a:endParaRPr>
          </a:p>
          <a:p>
            <a:pPr marL="0" indent="791210" eaLnBrk="1">
              <a:lnSpc>
                <a:spcPct val="100000"/>
              </a:lnSpc>
              <a:spcBef>
                <a:spcPts val="0"/>
              </a:spcBef>
              <a:buNone/>
            </a:pPr>
            <a:r>
              <a:rPr lang="zh-CN" altLang="en-US" sz="3200">
                <a:latin typeface="Times New Roman" panose="02020603050405020304" pitchFamily="18" charset="0"/>
                <a:ea typeface="楷体" panose="02010609060101010101" charset="-122"/>
                <a:cs typeface="Times New Roman" panose="02020603050405020304" pitchFamily="18" charset="0"/>
              </a:rPr>
              <a:t>作品应该在第</a:t>
            </a:r>
            <a:r>
              <a:rPr lang="en-US" altLang="zh-CN" sz="3200">
                <a:latin typeface="Times New Roman" panose="02020603050405020304" pitchFamily="18" charset="0"/>
                <a:ea typeface="楷体" panose="02010609060101010101" charset="-122"/>
                <a:cs typeface="Times New Roman" panose="02020603050405020304" pitchFamily="18" charset="0"/>
              </a:rPr>
              <a:t>4</a:t>
            </a:r>
            <a:r>
              <a:rPr lang="zh-CN" altLang="en-US" sz="3200">
                <a:latin typeface="Times New Roman" panose="02020603050405020304" pitchFamily="18" charset="0"/>
                <a:ea typeface="楷体" panose="02010609060101010101" charset="-122"/>
                <a:cs typeface="Times New Roman" panose="02020603050405020304" pitchFamily="18" charset="0"/>
              </a:rPr>
              <a:t>天的下午全部完成。到第</a:t>
            </a:r>
            <a:r>
              <a:rPr lang="en-US" altLang="zh-CN" sz="3200">
                <a:latin typeface="Times New Roman" panose="02020603050405020304" pitchFamily="18" charset="0"/>
                <a:ea typeface="楷体" panose="02010609060101010101" charset="-122"/>
                <a:cs typeface="Times New Roman" panose="02020603050405020304" pitchFamily="18" charset="0"/>
              </a:rPr>
              <a:t>4</a:t>
            </a:r>
            <a:r>
              <a:rPr lang="zh-CN" altLang="en-US" sz="3200">
                <a:latin typeface="Times New Roman" panose="02020603050405020304" pitchFamily="18" charset="0"/>
                <a:ea typeface="楷体" panose="02010609060101010101" charset="-122"/>
                <a:cs typeface="Times New Roman" panose="02020603050405020304" pitchFamily="18" charset="0"/>
              </a:rPr>
              <a:t>天的下午没有完成的功能和指标，就</a:t>
            </a:r>
            <a:r>
              <a:rPr lang="zh-CN" altLang="en-US" sz="3200" u="sng">
                <a:solidFill>
                  <a:srgbClr val="FF0000"/>
                </a:solidFill>
                <a:latin typeface="Times New Roman" panose="02020603050405020304" pitchFamily="18" charset="0"/>
                <a:ea typeface="楷体" panose="02010609060101010101" charset="-122"/>
                <a:cs typeface="Times New Roman" panose="02020603050405020304" pitchFamily="18" charset="0"/>
              </a:rPr>
              <a:t>不要再做</a:t>
            </a:r>
            <a:r>
              <a:rPr lang="zh-CN" altLang="en-US" sz="3200">
                <a:latin typeface="Times New Roman" panose="02020603050405020304" pitchFamily="18" charset="0"/>
                <a:ea typeface="楷体" panose="02010609060101010101" charset="-122"/>
                <a:cs typeface="Times New Roman" panose="02020603050405020304" pitchFamily="18" charset="0"/>
              </a:rPr>
              <a:t>了。很有可能为了追求更好的指标或更完全的功能，将</a:t>
            </a:r>
            <a:r>
              <a:rPr lang="zh-CN" altLang="en-US" sz="3200">
                <a:solidFill>
                  <a:srgbClr val="FF0000"/>
                </a:solidFill>
                <a:latin typeface="Times New Roman" panose="02020603050405020304" pitchFamily="18" charset="0"/>
                <a:ea typeface="楷体" panose="02010609060101010101" charset="-122"/>
                <a:cs typeface="Times New Roman" panose="02020603050405020304" pitchFamily="18" charset="0"/>
              </a:rPr>
              <a:t>已经完成的部分弄坏，前功尽弃</a:t>
            </a:r>
            <a:r>
              <a:rPr lang="zh-CN" altLang="en-US" sz="3200">
                <a:latin typeface="Times New Roman" panose="02020603050405020304" pitchFamily="18" charset="0"/>
                <a:ea typeface="楷体" panose="02010609060101010101" charset="-122"/>
                <a:cs typeface="Times New Roman" panose="02020603050405020304" pitchFamily="18" charset="0"/>
              </a:rPr>
              <a:t>。</a:t>
            </a:r>
            <a:endParaRPr lang="zh-CN" altLang="en-US" sz="3200">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3" name="文本占位符 56322"/>
          <p:cNvSpPr>
            <a:spLocks noGrp="1" noRot="1"/>
          </p:cNvSpPr>
          <p:nvPr>
            <p:ph type="body" idx="1"/>
          </p:nvPr>
        </p:nvSpPr>
        <p:spPr>
          <a:xfrm>
            <a:off x="586740" y="1026795"/>
            <a:ext cx="11191240" cy="4535170"/>
          </a:xfrm>
        </p:spPr>
        <p:txBody>
          <a:bodyPr/>
          <a:p>
            <a:pPr marL="0" indent="791210" eaLnBrk="1">
              <a:lnSpc>
                <a:spcPct val="125000"/>
              </a:lnSpc>
              <a:spcBef>
                <a:spcPts val="0"/>
              </a:spcBef>
              <a:buNone/>
            </a:pPr>
            <a:r>
              <a:rPr lang="zh-CN" altLang="en-US" sz="3200">
                <a:latin typeface="Times New Roman" panose="02020603050405020304" pitchFamily="18" charset="0"/>
                <a:ea typeface="楷体" panose="02010609060101010101" charset="-122"/>
                <a:cs typeface="Times New Roman" panose="02020603050405020304" pitchFamily="18" charset="0"/>
              </a:rPr>
              <a:t>负责设计总结报告写作的队员，要根据软件和硬件设计队员提供的电路设计图纸、程序清单等设计资料，按照设计总结报告写作要求进行整理。</a:t>
            </a:r>
            <a:endParaRPr lang="zh-CN" altLang="en-US" sz="3200">
              <a:latin typeface="Times New Roman" panose="02020603050405020304" pitchFamily="18" charset="0"/>
              <a:ea typeface="楷体" panose="02010609060101010101" charset="-122"/>
              <a:cs typeface="Times New Roman" panose="02020603050405020304" pitchFamily="18" charset="0"/>
            </a:endParaRPr>
          </a:p>
          <a:p>
            <a:pPr marL="0" indent="791210" eaLnBrk="1">
              <a:lnSpc>
                <a:spcPct val="125000"/>
              </a:lnSpc>
              <a:spcBef>
                <a:spcPts val="0"/>
              </a:spcBef>
              <a:buNone/>
            </a:pPr>
            <a:r>
              <a:rPr lang="zh-CN" altLang="en-US" sz="3200">
                <a:latin typeface="Times New Roman" panose="02020603050405020304" pitchFamily="18" charset="0"/>
                <a:ea typeface="楷体" panose="02010609060101010101" charset="-122"/>
                <a:cs typeface="Times New Roman" panose="02020603050405020304" pitchFamily="18" charset="0"/>
              </a:rPr>
              <a:t>到第</a:t>
            </a:r>
            <a:r>
              <a:rPr lang="en-US" altLang="zh-CN" sz="3200">
                <a:latin typeface="Times New Roman" panose="02020603050405020304" pitchFamily="18" charset="0"/>
                <a:ea typeface="楷体" panose="02010609060101010101" charset="-122"/>
                <a:cs typeface="Times New Roman" panose="02020603050405020304" pitchFamily="18" charset="0"/>
              </a:rPr>
              <a:t>4</a:t>
            </a:r>
            <a:r>
              <a:rPr lang="zh-CN" altLang="en-US" sz="3200">
                <a:latin typeface="Times New Roman" panose="02020603050405020304" pitchFamily="18" charset="0"/>
                <a:ea typeface="楷体" panose="02010609060101010101" charset="-122"/>
                <a:cs typeface="Times New Roman" panose="02020603050405020304" pitchFamily="18" charset="0"/>
              </a:rPr>
              <a:t>天的上午，设计总结报告应该可以全部完成，有缺省的应该是测试数据部分，因为作品此时可能还在调试过程中。测试数据部分可以在作品调试完毕，竞赛结束前补充到设计总结报告中去。</a:t>
            </a:r>
            <a:endParaRPr lang="zh-CN" altLang="en-US" sz="3200">
              <a:latin typeface="Times New Roman" panose="02020603050405020304" pitchFamily="18" charset="0"/>
              <a:ea typeface="楷体" panose="02010609060101010101" charset="-122"/>
              <a:cs typeface="Times New Roman" panose="02020603050405020304" pitchFamily="18" charset="0"/>
            </a:endParaRPr>
          </a:p>
          <a:p>
            <a:pPr marL="0" indent="0" eaLnBrk="1">
              <a:lnSpc>
                <a:spcPct val="110000"/>
              </a:lnSpc>
              <a:spcBef>
                <a:spcPts val="0"/>
              </a:spcBef>
              <a:buNone/>
            </a:pPr>
            <a:r>
              <a:rPr lang="zh-CN" altLang="en-US" sz="3200">
                <a:latin typeface="Times New Roman" panose="02020603050405020304" pitchFamily="18" charset="0"/>
                <a:ea typeface="楷体" panose="02010609060101010101" charset="-122"/>
                <a:cs typeface="Times New Roman" panose="02020603050405020304" pitchFamily="18" charset="0"/>
              </a:rPr>
              <a:t>    </a:t>
            </a:r>
            <a:endParaRPr lang="zh-CN" altLang="en-US" sz="3200">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7" name="文本占位符 57346"/>
          <p:cNvSpPr>
            <a:spLocks noGrp="1" noRot="1"/>
          </p:cNvSpPr>
          <p:nvPr>
            <p:ph type="body" idx="1"/>
          </p:nvPr>
        </p:nvSpPr>
        <p:spPr>
          <a:xfrm>
            <a:off x="685165" y="1134110"/>
            <a:ext cx="10753090" cy="4829175"/>
          </a:xfrm>
        </p:spPr>
        <p:txBody>
          <a:bodyPr>
            <a:scene3d>
              <a:camera prst="orthographicFront"/>
              <a:lightRig rig="threePt" dir="t"/>
            </a:scene3d>
          </a:bodyPr>
          <a:p>
            <a:pPr marL="0" indent="948055" eaLnBrk="1">
              <a:lnSpc>
                <a:spcPct val="140000"/>
              </a:lnSpc>
              <a:spcBef>
                <a:spcPts val="0"/>
              </a:spcBef>
              <a:buNone/>
            </a:pPr>
            <a:r>
              <a:rPr lang="zh-CN" altLang="en-US">
                <a:solidFill>
                  <a:schemeClr val="tx1"/>
                </a:solidFill>
                <a:effectLst>
                  <a:outerShdw blurRad="38100" dist="19050" dir="2700000" algn="tl" rotWithShape="0">
                    <a:schemeClr val="dk1">
                      <a:alpha val="40000"/>
                    </a:schemeClr>
                  </a:outerShdw>
                </a:effectLst>
                <a:latin typeface="Times New Roman" panose="02020603050405020304" pitchFamily="18" charset="0"/>
                <a:ea typeface="楷体" panose="02010609060101010101" charset="-122"/>
                <a:cs typeface="Times New Roman" panose="02020603050405020304" pitchFamily="18" charset="0"/>
              </a:rPr>
              <a:t>竞赛第</a:t>
            </a:r>
            <a:r>
              <a:rPr lang="en-US" altLang="zh-CN">
                <a:solidFill>
                  <a:schemeClr val="tx1"/>
                </a:solidFill>
                <a:effectLst>
                  <a:outerShdw blurRad="38100" dist="19050" dir="2700000" algn="tl" rotWithShape="0">
                    <a:schemeClr val="dk1">
                      <a:alpha val="40000"/>
                    </a:schemeClr>
                  </a:outerShdw>
                </a:effectLst>
                <a:latin typeface="Times New Roman" panose="02020603050405020304" pitchFamily="18" charset="0"/>
                <a:ea typeface="楷体" panose="02010609060101010101" charset="-122"/>
                <a:cs typeface="Times New Roman" panose="02020603050405020304" pitchFamily="18" charset="0"/>
              </a:rPr>
              <a:t>4</a:t>
            </a:r>
            <a:r>
              <a:rPr lang="zh-CN" altLang="en-US">
                <a:solidFill>
                  <a:schemeClr val="tx1"/>
                </a:solidFill>
                <a:effectLst>
                  <a:outerShdw blurRad="38100" dist="19050" dir="2700000" algn="tl" rotWithShape="0">
                    <a:schemeClr val="dk1">
                      <a:alpha val="40000"/>
                    </a:schemeClr>
                  </a:outerShdw>
                </a:effectLst>
                <a:latin typeface="Times New Roman" panose="02020603050405020304" pitchFamily="18" charset="0"/>
                <a:ea typeface="楷体" panose="02010609060101010101" charset="-122"/>
                <a:cs typeface="Times New Roman" panose="02020603050405020304" pitchFamily="18" charset="0"/>
              </a:rPr>
              <a:t>天</a:t>
            </a:r>
            <a:r>
              <a:rPr lang="en-US" altLang="zh-CN">
                <a:solidFill>
                  <a:schemeClr val="tx1"/>
                </a:solidFill>
                <a:effectLst>
                  <a:outerShdw blurRad="38100" dist="19050" dir="2700000" algn="tl" rotWithShape="0">
                    <a:schemeClr val="dk1">
                      <a:alpha val="40000"/>
                    </a:schemeClr>
                  </a:outerShdw>
                </a:effectLst>
                <a:latin typeface="Times New Roman" panose="02020603050405020304" pitchFamily="18" charset="0"/>
                <a:ea typeface="楷体" panose="02010609060101010101" charset="-122"/>
                <a:cs typeface="Times New Roman" panose="02020603050405020304" pitchFamily="18" charset="0"/>
              </a:rPr>
              <a:t>20</a:t>
            </a:r>
            <a:r>
              <a:rPr lang="zh-CN" altLang="en-US">
                <a:solidFill>
                  <a:schemeClr val="tx1"/>
                </a:solidFill>
                <a:effectLst>
                  <a:outerShdw blurRad="38100" dist="19050" dir="2700000" algn="tl" rotWithShape="0">
                    <a:schemeClr val="dk1">
                      <a:alpha val="40000"/>
                    </a:schemeClr>
                  </a:outerShdw>
                </a:effectLst>
                <a:latin typeface="Times New Roman" panose="02020603050405020304" pitchFamily="18" charset="0"/>
                <a:ea typeface="楷体" panose="02010609060101010101" charset="-122"/>
                <a:cs typeface="Times New Roman" panose="02020603050405020304" pitchFamily="18" charset="0"/>
              </a:rPr>
              <a:t>：</a:t>
            </a:r>
            <a:r>
              <a:rPr lang="en-US" altLang="zh-CN">
                <a:solidFill>
                  <a:schemeClr val="tx1"/>
                </a:solidFill>
                <a:effectLst>
                  <a:outerShdw blurRad="38100" dist="19050" dir="2700000" algn="tl" rotWithShape="0">
                    <a:schemeClr val="dk1">
                      <a:alpha val="40000"/>
                    </a:schemeClr>
                  </a:outerShdw>
                </a:effectLst>
                <a:latin typeface="Times New Roman" panose="02020603050405020304" pitchFamily="18" charset="0"/>
                <a:ea typeface="楷体" panose="02010609060101010101" charset="-122"/>
                <a:cs typeface="Times New Roman" panose="02020603050405020304" pitchFamily="18" charset="0"/>
              </a:rPr>
              <a:t>00</a:t>
            </a:r>
            <a:r>
              <a:rPr lang="zh-CN" altLang="en-US">
                <a:solidFill>
                  <a:schemeClr val="tx1"/>
                </a:solidFill>
                <a:effectLst>
                  <a:outerShdw blurRad="38100" dist="19050" dir="2700000" algn="tl" rotWithShape="0">
                    <a:schemeClr val="dk1">
                      <a:alpha val="40000"/>
                    </a:schemeClr>
                  </a:outerShdw>
                </a:effectLst>
                <a:latin typeface="Times New Roman" panose="02020603050405020304" pitchFamily="18" charset="0"/>
                <a:ea typeface="楷体" panose="02010609060101010101" charset="-122"/>
                <a:cs typeface="Times New Roman" panose="02020603050405020304" pitchFamily="18" charset="0"/>
              </a:rPr>
              <a:t>竞赛结束，上交设计报告、制作实物及</a:t>
            </a:r>
            <a:r>
              <a:rPr lang="en-US" altLang="zh-CN">
                <a:solidFill>
                  <a:schemeClr val="tx1"/>
                </a:solidFill>
                <a:effectLst>
                  <a:outerShdw blurRad="38100" dist="19050" dir="2700000" algn="tl" rotWithShape="0">
                    <a:schemeClr val="dk1">
                      <a:alpha val="40000"/>
                    </a:schemeClr>
                  </a:outerShdw>
                </a:effectLst>
                <a:latin typeface="Times New Roman" panose="02020603050405020304" pitchFamily="18" charset="0"/>
                <a:ea typeface="楷体" panose="02010609060101010101" charset="-122"/>
                <a:cs typeface="Times New Roman" panose="02020603050405020304" pitchFamily="18" charset="0"/>
              </a:rPr>
              <a:t>《</a:t>
            </a:r>
            <a:r>
              <a:rPr lang="zh-CN" altLang="en-US">
                <a:solidFill>
                  <a:schemeClr val="tx1"/>
                </a:solidFill>
                <a:effectLst>
                  <a:outerShdw blurRad="38100" dist="19050" dir="2700000" algn="tl" rotWithShape="0">
                    <a:schemeClr val="dk1">
                      <a:alpha val="40000"/>
                    </a:schemeClr>
                  </a:outerShdw>
                </a:effectLst>
                <a:latin typeface="Times New Roman" panose="02020603050405020304" pitchFamily="18" charset="0"/>
                <a:ea typeface="楷体" panose="02010609060101010101" charset="-122"/>
                <a:cs typeface="Times New Roman" panose="02020603050405020304" pitchFamily="18" charset="0"/>
              </a:rPr>
              <a:t>登记表</a:t>
            </a:r>
            <a:r>
              <a:rPr lang="en-US" altLang="zh-CN">
                <a:solidFill>
                  <a:schemeClr val="tx1"/>
                </a:solidFill>
                <a:effectLst>
                  <a:outerShdw blurRad="38100" dist="19050" dir="2700000" algn="tl" rotWithShape="0">
                    <a:schemeClr val="dk1">
                      <a:alpha val="40000"/>
                    </a:schemeClr>
                  </a:outerShdw>
                </a:effectLst>
                <a:latin typeface="Times New Roman" panose="02020603050405020304" pitchFamily="18" charset="0"/>
                <a:ea typeface="楷体" panose="02010609060101010101" charset="-122"/>
                <a:cs typeface="Times New Roman" panose="02020603050405020304" pitchFamily="18" charset="0"/>
              </a:rPr>
              <a:t>》</a:t>
            </a:r>
            <a:r>
              <a:rPr lang="zh-CN" altLang="en-US">
                <a:solidFill>
                  <a:schemeClr val="tx1"/>
                </a:solidFill>
                <a:effectLst>
                  <a:outerShdw blurRad="38100" dist="19050" dir="2700000" algn="tl" rotWithShape="0">
                    <a:schemeClr val="dk1">
                      <a:alpha val="40000"/>
                    </a:schemeClr>
                  </a:outerShdw>
                </a:effectLst>
                <a:latin typeface="Times New Roman" panose="02020603050405020304" pitchFamily="18" charset="0"/>
                <a:ea typeface="楷体" panose="02010609060101010101" charset="-122"/>
                <a:cs typeface="Times New Roman" panose="02020603050405020304" pitchFamily="18" charset="0"/>
              </a:rPr>
              <a:t>，由赛场巡视员封存。封存时应注意文件完整，作品要妥善包装。</a:t>
            </a:r>
            <a:endParaRPr lang="zh-CN" altLang="en-US">
              <a:solidFill>
                <a:schemeClr val="tx1"/>
              </a:solidFill>
              <a:effectLst>
                <a:outerShdw blurRad="38100" dist="19050" dir="2700000" algn="tl" rotWithShape="0">
                  <a:schemeClr val="dk1">
                    <a:alpha val="40000"/>
                  </a:schemeClr>
                </a:outerShdw>
              </a:effectLst>
              <a:latin typeface="Times New Roman" panose="02020603050405020304" pitchFamily="18" charset="0"/>
              <a:ea typeface="楷体" panose="02010609060101010101" charset="-122"/>
              <a:cs typeface="Times New Roman" panose="02020603050405020304" pitchFamily="18" charset="0"/>
            </a:endParaRPr>
          </a:p>
          <a:p>
            <a:pPr marL="0" indent="948055" eaLnBrk="1">
              <a:lnSpc>
                <a:spcPct val="140000"/>
              </a:lnSpc>
              <a:spcBef>
                <a:spcPts val="0"/>
              </a:spcBef>
              <a:buNone/>
            </a:pPr>
            <a:r>
              <a:rPr lang="zh-CN" altLang="en-US">
                <a:solidFill>
                  <a:schemeClr val="tx1"/>
                </a:solidFill>
                <a:effectLst>
                  <a:outerShdw blurRad="38100" dist="19050" dir="2700000" algn="tl" rotWithShape="0">
                    <a:schemeClr val="dk1">
                      <a:alpha val="40000"/>
                    </a:schemeClr>
                  </a:outerShdw>
                </a:effectLst>
                <a:latin typeface="Times New Roman" panose="02020603050405020304" pitchFamily="18" charset="0"/>
                <a:ea typeface="楷体" panose="02010609060101010101" charset="-122"/>
                <a:cs typeface="Times New Roman" panose="02020603050405020304" pitchFamily="18" charset="0"/>
              </a:rPr>
              <a:t>注意在作品和设计总结报告中，一定不能够出现参赛队学校名称、参赛队员和指导教师的姓名以及相关标记。包装要防振，要能够防止运输和搬运过程的冲击和振动。</a:t>
            </a:r>
            <a:endParaRPr lang="zh-CN" altLang="en-US" sz="320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楷体" panose="02010609060101010101" charset="-122"/>
              <a:cs typeface="Times New Roman" panose="02020603050405020304" pitchFamily="18" charset="0"/>
            </a:endParaRPr>
          </a:p>
          <a:p>
            <a:pPr marL="0" indent="948055" eaLnBrk="1">
              <a:lnSpc>
                <a:spcPct val="120000"/>
              </a:lnSpc>
              <a:spcBef>
                <a:spcPts val="0"/>
              </a:spcBef>
              <a:buNone/>
            </a:pPr>
            <a:endParaRPr lang="zh-CN" altLang="en-US" u="sng">
              <a:solidFill>
                <a:srgbClr val="FF0000"/>
              </a:solidFill>
              <a:effectLst>
                <a:outerShdw blurRad="38100" dist="19050" dir="2700000" algn="tl" rotWithShape="0">
                  <a:schemeClr val="dk1">
                    <a:alpha val="40000"/>
                  </a:schemeClr>
                </a:outerShdw>
              </a:effectLst>
              <a:latin typeface="Times New Roman" panose="02020603050405020304" pitchFamily="18" charset="0"/>
              <a:ea typeface="楷体" panose="02010609060101010101" charset="-122"/>
              <a:cs typeface="Times New Roman" panose="02020603050405020304" pitchFamily="18" charset="0"/>
            </a:endParaRPr>
          </a:p>
          <a:p>
            <a:pPr marL="0" indent="948055" eaLnBrk="1">
              <a:lnSpc>
                <a:spcPct val="120000"/>
              </a:lnSpc>
              <a:spcBef>
                <a:spcPts val="0"/>
              </a:spcBef>
              <a:buNone/>
            </a:pPr>
            <a:r>
              <a:rPr lang="zh-CN" altLang="en-US" u="sng">
                <a:solidFill>
                  <a:srgbClr val="FF0000"/>
                </a:solidFill>
                <a:effectLst>
                  <a:outerShdw blurRad="38100" dist="19050" dir="2700000" algn="tl" rotWithShape="0">
                    <a:schemeClr val="dk1">
                      <a:alpha val="40000"/>
                    </a:schemeClr>
                  </a:outerShdw>
                </a:effectLst>
                <a:latin typeface="Times New Roman" panose="02020603050405020304" pitchFamily="18" charset="0"/>
                <a:ea typeface="楷体" panose="02010609060101010101" charset="-122"/>
                <a:cs typeface="Times New Roman" panose="02020603050405020304" pitchFamily="18" charset="0"/>
              </a:rPr>
              <a:t>建议：各组同学在第</a:t>
            </a:r>
            <a:r>
              <a:rPr lang="en-US" altLang="zh-CN" u="sng">
                <a:solidFill>
                  <a:srgbClr val="FF0000"/>
                </a:solidFill>
                <a:effectLst>
                  <a:outerShdw blurRad="38100" dist="19050" dir="2700000" algn="tl" rotWithShape="0">
                    <a:schemeClr val="dk1">
                      <a:alpha val="40000"/>
                    </a:schemeClr>
                  </a:outerShdw>
                </a:effectLst>
                <a:latin typeface="Times New Roman" panose="02020603050405020304" pitchFamily="18" charset="0"/>
                <a:ea typeface="楷体" panose="02010609060101010101" charset="-122"/>
                <a:cs typeface="Times New Roman" panose="02020603050405020304" pitchFamily="18" charset="0"/>
              </a:rPr>
              <a:t>4</a:t>
            </a:r>
            <a:r>
              <a:rPr lang="zh-CN" altLang="en-US" u="sng">
                <a:solidFill>
                  <a:srgbClr val="FF0000"/>
                </a:solidFill>
                <a:effectLst>
                  <a:outerShdw blurRad="38100" dist="19050" dir="2700000" algn="tl" rotWithShape="0">
                    <a:schemeClr val="dk1">
                      <a:alpha val="40000"/>
                    </a:schemeClr>
                  </a:outerShdw>
                </a:effectLst>
                <a:latin typeface="Times New Roman" panose="02020603050405020304" pitchFamily="18" charset="0"/>
                <a:ea typeface="楷体" panose="02010609060101010101" charset="-122"/>
                <a:cs typeface="Times New Roman" panose="02020603050405020304" pitchFamily="18" charset="0"/>
              </a:rPr>
              <a:t>天下午将报告发给指导老师审视一下！</a:t>
            </a:r>
            <a:endParaRPr lang="zh-CN" altLang="en-US" u="sng">
              <a:solidFill>
                <a:srgbClr val="FF0000"/>
              </a:solidFill>
              <a:effectLst>
                <a:outerShdw blurRad="38100" dist="19050" dir="2700000" algn="tl" rotWithShape="0">
                  <a:schemeClr val="dk1">
                    <a:alpha val="40000"/>
                  </a:schemeClr>
                </a:outerShdw>
              </a:effectLst>
              <a:latin typeface="Times New Roman" panose="02020603050405020304" pitchFamily="18" charset="0"/>
              <a:ea typeface="楷体" panose="02010609060101010101" charset="-122"/>
              <a:cs typeface="Times New Roman" panose="02020603050405020304" pitchFamily="18" charset="0"/>
            </a:endParaRPr>
          </a:p>
          <a:p>
            <a:endParaRPr lang="zh-CN" altLang="en-US" u="sng">
              <a:solidFill>
                <a:srgbClr val="FF0000"/>
              </a:solidFill>
              <a:effectLst>
                <a:outerShdw blurRad="38100" dist="19050" dir="2700000" algn="tl" rotWithShape="0">
                  <a:schemeClr val="dk1">
                    <a:alpha val="40000"/>
                  </a:schemeClr>
                </a:outerShdw>
              </a:effectLst>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8371" name="图片 58370" descr="未标题-3 拷贝"/>
          <p:cNvPicPr>
            <a:picLocks noChangeAspect="1"/>
          </p:cNvPicPr>
          <p:nvPr/>
        </p:nvPicPr>
        <p:blipFill>
          <a:blip r:embed="rId1"/>
          <a:stretch>
            <a:fillRect/>
          </a:stretch>
        </p:blipFill>
        <p:spPr>
          <a:xfrm>
            <a:off x="4336415" y="0"/>
            <a:ext cx="6971665" cy="6857365"/>
          </a:xfrm>
          <a:prstGeom prst="rect">
            <a:avLst/>
          </a:prstGeom>
          <a:noFill/>
          <a:ln w="9525">
            <a:noFill/>
          </a:ln>
        </p:spPr>
      </p:pic>
      <p:sp>
        <p:nvSpPr>
          <p:cNvPr id="55298" name="标题 55297"/>
          <p:cNvSpPr>
            <a:spLocks noGrp="1" noRot="1"/>
          </p:cNvSpPr>
          <p:nvPr>
            <p:ph type="title"/>
          </p:nvPr>
        </p:nvSpPr>
        <p:spPr>
          <a:xfrm>
            <a:off x="2175510" y="348615"/>
            <a:ext cx="698500" cy="6055360"/>
          </a:xfrm>
          <a:solidFill>
            <a:schemeClr val="bg1"/>
          </a:solidFill>
          <a:ln>
            <a:solidFill>
              <a:srgbClr val="0000FF"/>
            </a:solidFill>
            <a:prstDash val="sysDot"/>
          </a:ln>
        </p:spPr>
        <p:txBody>
          <a:bodyPr anchor="ctr"/>
          <a:p>
            <a:pPr algn="ctr"/>
            <a:r>
              <a:rPr lang="zh-CN" altLang="en-US" sz="2800" b="1">
                <a:solidFill>
                  <a:srgbClr val="FF0000"/>
                </a:solidFill>
              </a:rPr>
              <a:t>陆</a:t>
            </a:r>
            <a:br>
              <a:rPr lang="zh-CN" altLang="en-US" sz="2800" b="1">
                <a:solidFill>
                  <a:srgbClr val="FF0000"/>
                </a:solidFill>
              </a:rPr>
            </a:br>
            <a:r>
              <a:rPr lang="zh-CN" altLang="en-US" sz="2800" b="1">
                <a:solidFill>
                  <a:srgbClr val="FF0000"/>
                </a:solidFill>
              </a:rPr>
              <a:t>  </a:t>
            </a:r>
            <a:br>
              <a:rPr lang="zh-CN" altLang="en-US" sz="2800" b="1">
                <a:solidFill>
                  <a:srgbClr val="FF0000"/>
                </a:solidFill>
              </a:rPr>
            </a:br>
            <a:r>
              <a:rPr lang="zh-CN" altLang="en-US" sz="2800" b="1">
                <a:solidFill>
                  <a:schemeClr val="hlink"/>
                </a:solidFill>
              </a:rPr>
              <a:t>竞赛时间规划及注意事项</a:t>
            </a:r>
            <a:endParaRPr lang="zh-CN" altLang="en-US" sz="2800" b="1">
              <a:solidFill>
                <a:schemeClr val="hlink"/>
              </a:solidFill>
            </a:endParaRPr>
          </a:p>
        </p:txBody>
      </p:sp>
    </p:spTree>
  </p:cSld>
  <p:clrMapOvr>
    <a:masterClrMapping/>
  </p:clrMapOvr>
  <p:transition>
    <p:pull dir="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9" name="文本占位符 55298"/>
          <p:cNvSpPr>
            <a:spLocks noGrp="1" noRot="1"/>
          </p:cNvSpPr>
          <p:nvPr>
            <p:ph type="body" idx="1"/>
          </p:nvPr>
        </p:nvSpPr>
        <p:spPr>
          <a:xfrm>
            <a:off x="655955" y="1339215"/>
            <a:ext cx="11181080" cy="4782820"/>
          </a:xfrm>
        </p:spPr>
        <p:txBody>
          <a:bodyPr/>
          <a:p>
            <a:pPr marL="0" indent="0">
              <a:lnSpc>
                <a:spcPct val="90000"/>
              </a:lnSpc>
              <a:buNone/>
            </a:pPr>
            <a:r>
              <a:rPr lang="en-US" altLang="zh-CN" u="sng">
                <a:solidFill>
                  <a:srgbClr val="FF0000"/>
                </a:solidFill>
                <a:latin typeface="Times New Roman" panose="02020603050405020304" pitchFamily="18" charset="0"/>
                <a:ea typeface="楷体" panose="02010609060101010101" charset="-122"/>
                <a:cs typeface="Times New Roman" panose="02020603050405020304" pitchFamily="18" charset="0"/>
              </a:rPr>
              <a:t>6.2  </a:t>
            </a:r>
            <a:r>
              <a:rPr lang="zh-CN" altLang="en-US" u="sng">
                <a:solidFill>
                  <a:srgbClr val="FF0000"/>
                </a:solidFill>
                <a:latin typeface="Times New Roman" panose="02020603050405020304" pitchFamily="18" charset="0"/>
                <a:ea typeface="楷体" panose="02010609060101010101" charset="-122"/>
                <a:cs typeface="Times New Roman" panose="02020603050405020304" pitchFamily="18" charset="0"/>
              </a:rPr>
              <a:t>竞赛期间注意事项</a:t>
            </a:r>
            <a:endParaRPr lang="zh-CN" altLang="en-US" u="sng">
              <a:solidFill>
                <a:srgbClr val="FF0000"/>
              </a:solidFill>
              <a:latin typeface="Times New Roman" panose="02020603050405020304" pitchFamily="18" charset="0"/>
              <a:ea typeface="楷体" panose="02010609060101010101" charset="-122"/>
              <a:cs typeface="Times New Roman" panose="02020603050405020304" pitchFamily="18" charset="0"/>
            </a:endParaRPr>
          </a:p>
          <a:p>
            <a:pPr>
              <a:lnSpc>
                <a:spcPct val="140000"/>
              </a:lnSpc>
            </a:pPr>
            <a:r>
              <a:rPr lang="zh-CN" altLang="en-US">
                <a:latin typeface="Times New Roman" panose="02020603050405020304" pitchFamily="18" charset="0"/>
                <a:ea typeface="楷体" panose="02010609060101010101" charset="-122"/>
                <a:cs typeface="Times New Roman" panose="02020603050405020304" pitchFamily="18" charset="0"/>
              </a:rPr>
              <a:t>合理运用时间（时间非常宝贵做事要有决断，决定后坚决不变）</a:t>
            </a:r>
            <a:endParaRPr lang="zh-CN" altLang="en-US">
              <a:latin typeface="Times New Roman" panose="02020603050405020304" pitchFamily="18" charset="0"/>
              <a:ea typeface="楷体" panose="02010609060101010101" charset="-122"/>
              <a:cs typeface="Times New Roman" panose="02020603050405020304" pitchFamily="18" charset="0"/>
            </a:endParaRPr>
          </a:p>
          <a:p>
            <a:pPr>
              <a:lnSpc>
                <a:spcPct val="140000"/>
              </a:lnSpc>
            </a:pPr>
            <a:r>
              <a:rPr lang="zh-CN" altLang="en-US">
                <a:latin typeface="Times New Roman" panose="02020603050405020304" pitchFamily="18" charset="0"/>
                <a:ea typeface="楷体" panose="02010609060101010101" charset="-122"/>
                <a:cs typeface="Times New Roman" panose="02020603050405020304" pitchFamily="18" charset="0"/>
              </a:rPr>
              <a:t>合理睡觉（头两天安排适当时间睡觉，不可能几天几夜不睡觉）</a:t>
            </a:r>
            <a:endParaRPr lang="zh-CN" altLang="en-US">
              <a:latin typeface="Times New Roman" panose="02020603050405020304" pitchFamily="18" charset="0"/>
              <a:ea typeface="楷体" panose="02010609060101010101" charset="-122"/>
              <a:cs typeface="Times New Roman" panose="02020603050405020304" pitchFamily="18" charset="0"/>
            </a:endParaRPr>
          </a:p>
          <a:p>
            <a:pPr>
              <a:lnSpc>
                <a:spcPct val="140000"/>
              </a:lnSpc>
            </a:pPr>
            <a:r>
              <a:rPr lang="zh-CN" altLang="en-US">
                <a:latin typeface="Times New Roman" panose="02020603050405020304" pitchFamily="18" charset="0"/>
                <a:ea typeface="楷体" panose="02010609060101010101" charset="-122"/>
                <a:cs typeface="Times New Roman" panose="02020603050405020304" pitchFamily="18" charset="0"/>
              </a:rPr>
              <a:t>合理吃饭喝水（吃干净饭，莫吃凉菜和放得过久的饭菜；不喝不洁的水，不吃冰糕和凉茶等）</a:t>
            </a:r>
            <a:endParaRPr lang="zh-CN" altLang="en-US">
              <a:latin typeface="Times New Roman" panose="02020603050405020304" pitchFamily="18" charset="0"/>
              <a:ea typeface="楷体" panose="02010609060101010101" charset="-122"/>
              <a:cs typeface="Times New Roman" panose="02020603050405020304" pitchFamily="18" charset="0"/>
            </a:endParaRPr>
          </a:p>
          <a:p>
            <a:pPr>
              <a:lnSpc>
                <a:spcPct val="140000"/>
              </a:lnSpc>
            </a:pPr>
            <a:r>
              <a:rPr lang="zh-CN" altLang="en-US">
                <a:latin typeface="Times New Roman" panose="02020603050405020304" pitchFamily="18" charset="0"/>
                <a:ea typeface="楷体" panose="02010609060101010101" charset="-122"/>
                <a:cs typeface="Times New Roman" panose="02020603050405020304" pitchFamily="18" charset="0"/>
              </a:rPr>
              <a:t>睡觉不贪凉，也要预防中暑</a:t>
            </a:r>
            <a:endParaRPr lang="zh-CN" altLang="en-US">
              <a:latin typeface="Times New Roman" panose="02020603050405020304" pitchFamily="18" charset="0"/>
              <a:ea typeface="楷体" panose="02010609060101010101" charset="-122"/>
              <a:cs typeface="Times New Roman" panose="02020603050405020304" pitchFamily="18" charset="0"/>
            </a:endParaRPr>
          </a:p>
          <a:p>
            <a:pPr>
              <a:lnSpc>
                <a:spcPct val="140000"/>
              </a:lnSpc>
            </a:pPr>
            <a:r>
              <a:rPr lang="zh-CN" altLang="en-US">
                <a:latin typeface="Times New Roman" panose="02020603050405020304" pitchFamily="18" charset="0"/>
                <a:ea typeface="楷体" panose="02010609060101010101" charset="-122"/>
                <a:cs typeface="Times New Roman" panose="02020603050405020304" pitchFamily="18" charset="0"/>
              </a:rPr>
              <a:t>可以备一点感冒药，藿香正气水，泻立停啥的</a:t>
            </a:r>
            <a:endParaRPr lang="zh-CN" altLang="en-US">
              <a:latin typeface="Times New Roman" panose="02020603050405020304" pitchFamily="18" charset="0"/>
              <a:ea typeface="楷体" panose="02010609060101010101" charset="-122"/>
              <a:cs typeface="Times New Roman" panose="02020603050405020304" pitchFamily="18" charset="0"/>
            </a:endParaRPr>
          </a:p>
        </p:txBody>
      </p:sp>
      <p:sp>
        <p:nvSpPr>
          <p:cNvPr id="3" name="标题 2"/>
          <p:cNvSpPr>
            <a:spLocks noGrp="1" noRot="1"/>
          </p:cNvSpPr>
          <p:nvPr>
            <p:ph type="title"/>
          </p:nvPr>
        </p:nvSpPr>
        <p:spPr>
          <a:xfrm>
            <a:off x="1560830" y="574040"/>
            <a:ext cx="8540750" cy="765175"/>
          </a:xfrm>
        </p:spPr>
        <p:txBody>
          <a:bodyPr anchor="ctr"/>
          <a:p>
            <a:r>
              <a:rPr lang="zh-CN" altLang="en-US" b="1" u="sng">
                <a:solidFill>
                  <a:srgbClr val="FF0000"/>
                </a:solidFill>
                <a:latin typeface="Times New Roman" panose="02020603050405020304" pitchFamily="18" charset="0"/>
                <a:ea typeface="楷体" panose="02010609060101010101" charset="-122"/>
                <a:cs typeface="Times New Roman" panose="02020603050405020304" pitchFamily="18" charset="0"/>
              </a:rPr>
              <a:t>陆  </a:t>
            </a:r>
            <a:r>
              <a:rPr lang="zh-CN" altLang="en-US" b="1" u="sng">
                <a:solidFill>
                  <a:schemeClr val="hlink"/>
                </a:solidFill>
                <a:latin typeface="Times New Roman" panose="02020603050405020304" pitchFamily="18" charset="0"/>
                <a:ea typeface="楷体" panose="02010609060101010101" charset="-122"/>
                <a:cs typeface="Times New Roman" panose="02020603050405020304" pitchFamily="18" charset="0"/>
              </a:rPr>
              <a:t>竞赛时间规划及注意事项</a:t>
            </a:r>
            <a:endParaRPr lang="zh-CN" altLang="en-US" b="1" u="sng">
              <a:solidFill>
                <a:schemeClr val="hlink"/>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transition>
    <p:pull dir="ru"/>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Rectangle 2"/>
          <p:cNvSpPr>
            <a:spLocks noGrp="1"/>
          </p:cNvSpPr>
          <p:nvPr>
            <p:ph type="ctrTitle"/>
          </p:nvPr>
        </p:nvSpPr>
        <p:spPr>
          <a:xfrm>
            <a:off x="1356360" y="1383030"/>
            <a:ext cx="8949690" cy="2416175"/>
          </a:xfrm>
        </p:spPr>
        <p:txBody>
          <a:bodyPr wrap="square" anchor="t"/>
          <a:lstStyle>
            <a:lvl1pPr lvl="0">
              <a:defRPr kern="1200"/>
            </a:lvl1pPr>
          </a:lstStyle>
          <a:p>
            <a:pPr lvl="0" indent="0" algn="ctr" eaLnBrk="1" hangingPunct="1"/>
            <a:r>
              <a:rPr lang="zh-CN" altLang="en-US" sz="7200"/>
              <a:t>祝大家好运</a:t>
            </a:r>
            <a:br>
              <a:rPr lang="zh-CN" altLang="en-US" sz="7200"/>
            </a:br>
            <a:r>
              <a:rPr lang="zh-CN" altLang="en-US" sz="7200"/>
              <a:t>谢谢大家聆听！</a:t>
            </a:r>
            <a:endParaRPr lang="zh-CN" altLang="en-US" sz="7200"/>
          </a:p>
        </p:txBody>
      </p:sp>
      <p:sp>
        <p:nvSpPr>
          <p:cNvPr id="125954" name="Rectangle 3"/>
          <p:cNvSpPr>
            <a:spLocks noGrp="1"/>
          </p:cNvSpPr>
          <p:nvPr>
            <p:ph type="subTitle"/>
          </p:nvPr>
        </p:nvSpPr>
        <p:spPr>
          <a:xfrm>
            <a:off x="3505200" y="3962400"/>
            <a:ext cx="6624638" cy="1914525"/>
          </a:xfrm>
        </p:spPr>
        <p:txBody>
          <a:bodyPr wrap="square" anchor="t"/>
          <a:lstStyle>
            <a:lvl1pPr marL="0" lvl="0" indent="0" algn="ctr">
              <a:defRPr kern="1200"/>
            </a:lvl1pPr>
            <a:lvl2pPr marL="457200" lvl="1" indent="-457200" algn="ctr">
              <a:defRPr kern="1200"/>
            </a:lvl2pPr>
            <a:lvl3pPr marL="914400" lvl="2" indent="-914400" algn="ctr">
              <a:defRPr kern="1200"/>
            </a:lvl3pPr>
            <a:lvl4pPr marL="1371600" lvl="3" indent="-1371600" algn="ctr">
              <a:defRPr kern="1200"/>
            </a:lvl4pPr>
            <a:lvl5pPr marL="1828800" lvl="4" indent="-1828800" algn="ctr">
              <a:defRPr kern="1200"/>
            </a:lvl5pPr>
          </a:lstStyle>
          <a:p>
            <a:pPr marL="0" lvl="0" indent="0" algn="ctr" eaLnBrk="1" hangingPunct="1">
              <a:buNone/>
            </a:pPr>
            <a:r>
              <a:rPr lang="zh-CN" altLang="en-US" sz="3200" dirty="0"/>
              <a:t>电子科技大学：杨忠孝</a:t>
            </a:r>
            <a:endParaRPr lang="zh-CN" altLang="en-US" sz="3200" dirty="0"/>
          </a:p>
          <a:p>
            <a:pPr marL="0" lvl="0" indent="0" algn="ctr" eaLnBrk="1" hangingPunct="1">
              <a:buNone/>
            </a:pPr>
            <a:r>
              <a:rPr lang="zh-CN" altLang="en-US" sz="3200" dirty="0"/>
              <a:t>E-mail：yzxiao@uestc.edu.cn</a:t>
            </a:r>
            <a:endParaRPr lang="zh-CN" altLang="en-US" sz="3200" dirty="0"/>
          </a:p>
          <a:p>
            <a:pPr marL="0" lvl="0" indent="0" algn="ctr" eaLnBrk="1" hangingPunct="1">
              <a:buNone/>
            </a:pPr>
            <a:r>
              <a:rPr lang="zh-CN" altLang="en-US" sz="3200" dirty="0"/>
              <a:t>Tel：18981873120</a:t>
            </a:r>
            <a:endParaRPr lang="zh-CN" altLang="en-US" sz="3200" dirty="0"/>
          </a:p>
        </p:txBody>
      </p:sp>
    </p:spTree>
  </p:cSld>
  <p:clrMapOvr>
    <a:masterClrMapping/>
  </p:clrMapOvr>
</p:sld>
</file>

<file path=ppt/tags/tag1.xml><?xml version="1.0" encoding="utf-8"?>
<p:tagLst xmlns:p="http://schemas.openxmlformats.org/presentationml/2006/main">
  <p:tag name="KSO_WM_TEMPLATE_TOPIC_ID" val="2869567"/>
  <p:tag name="KSO_WM_TEMPLATE_OUTLINE_ID" val="15"/>
  <p:tag name="KSO_WM_TEMPLATE_SCENE_ID" val="1"/>
  <p:tag name="KSO_WM_TEMPLATE_JOB_ID" val="2"/>
  <p:tag name="KSO_WM_TEMPLATE_TOPIC_DEFAULT" val="1"/>
</p:tagLst>
</file>

<file path=ppt/tags/tag2.xml><?xml version="1.0" encoding="utf-8"?>
<p:tagLst xmlns:p="http://schemas.openxmlformats.org/presentationml/2006/main">
  <p:tag name="KSO_WM_UNIT_TABLE_BEAUTIFY" val="{5f3e8ef9-6fd5-493f-a8d9-1cd8ba2d72d7}"/>
</p:tagLst>
</file>

<file path=ppt/tags/tag3.xml><?xml version="1.0" encoding="utf-8"?>
<p:tagLst xmlns:p="http://schemas.openxmlformats.org/presentationml/2006/main">
  <p:tag name="KSO_WM_UNIT_TABLE_BEAUTIFY" val="{94fac238-4754-4a97-98ac-5e6584969626}"/>
</p:tagLst>
</file>

<file path=ppt/tags/tag4.xml><?xml version="1.0" encoding="utf-8"?>
<p:tagLst xmlns:p="http://schemas.openxmlformats.org/presentationml/2006/main">
  <p:tag name="KSO_WM_UNIT_TABLE_BEAUTIFY" val="{65abf118-3a88-4f36-b3fc-88f1a621c8cc}"/>
</p:tagLst>
</file>

<file path=ppt/tags/tag5.xml><?xml version="1.0" encoding="utf-8"?>
<p:tagLst xmlns:p="http://schemas.openxmlformats.org/presentationml/2006/main">
  <p:tag name="KSO_WM_UNIT_TABLE_BEAUTIFY" val="{da41834b-6dec-4c26-8556-83f12107e572}"/>
</p:tagLst>
</file>

<file path=ppt/theme/theme1.xml><?xml version="1.0" encoding="utf-8"?>
<a:theme xmlns:a="http://schemas.openxmlformats.org/drawingml/2006/main" name="Edge">
  <a:themeElements>
    <a:clrScheme name="">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47329"/>
      </a:accent6>
      <a:hlink>
        <a:srgbClr val="996600"/>
      </a:hlink>
      <a:folHlink>
        <a:srgbClr val="AFBF39"/>
      </a:folHlink>
    </a:clrScheme>
    <a:fontScheme name="">
      <a:majorFont>
        <a:latin typeface="Times New Roman"/>
        <a:ea typeface="隶书"/>
        <a:cs typeface=""/>
      </a:majorFont>
      <a:minorFont>
        <a:latin typeface="Times New Roman"/>
        <a:ea typeface="华文新魏"/>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820000"/>
        </a:lt1>
        <a:dk2>
          <a:srgbClr val="FFFFFF"/>
        </a:dk2>
        <a:lt2>
          <a:srgbClr val="333333"/>
        </a:lt2>
        <a:accent1>
          <a:srgbClr val="FF9900"/>
        </a:accent1>
        <a:accent2>
          <a:srgbClr val="CC3300"/>
        </a:accent2>
        <a:accent3>
          <a:srgbClr val="C1AAAA"/>
        </a:accent3>
        <a:accent4>
          <a:srgbClr val="DCDCDC"/>
        </a:accent4>
        <a:accent5>
          <a:srgbClr val="FFCAAA"/>
        </a:accent5>
        <a:accent6>
          <a:srgbClr val="B72D00"/>
        </a:accent6>
        <a:hlink>
          <a:srgbClr val="808080"/>
        </a:hlink>
        <a:folHlink>
          <a:srgbClr val="666633"/>
        </a:folHlink>
      </a:clrScheme>
      <a:clrMap bg1="lt1" tx1="dk1" bg2="lt2" tx2="dk2" accent1="accent1" accent2="accent2" accent3="accent3" accent4="accent4" accent5="accent5" accent6="accent6" hlink="hlink" folHlink="folHlink"/>
    </a:extraClrScheme>
    <a:extraClrScheme>
      <a:clrScheme name="">
        <a:dk1>
          <a:srgbClr val="CCCCFF"/>
        </a:dk1>
        <a:lt1>
          <a:srgbClr val="0B0506"/>
        </a:lt1>
        <a:dk2>
          <a:srgbClr val="FFFFFF"/>
        </a:dk2>
        <a:lt2>
          <a:srgbClr val="333333"/>
        </a:lt2>
        <a:accent1>
          <a:srgbClr val="3366CC"/>
        </a:accent1>
        <a:accent2>
          <a:srgbClr val="3333CC"/>
        </a:accent2>
        <a:accent3>
          <a:srgbClr val="AAAAAA"/>
        </a:accent3>
        <a:accent4>
          <a:srgbClr val="AFAFDC"/>
        </a:accent4>
        <a:accent5>
          <a:srgbClr val="ADB9E2"/>
        </a:accent5>
        <a:accent6>
          <a:srgbClr val="2D2DB7"/>
        </a:accent6>
        <a:hlink>
          <a:srgbClr val="808080"/>
        </a:hlink>
        <a:folHlink>
          <a:srgbClr val="666633"/>
        </a:folHlink>
      </a:clrScheme>
      <a:clrMap bg1="lt1" tx1="dk1" bg2="lt2" tx2="dk2" accent1="accent1" accent2="accent2" accent3="accent3" accent4="accent4" accent5="accent5" accent6="accent6" hlink="hlink" folHlink="folHlink"/>
    </a:extraClrScheme>
    <a:extraClrScheme>
      <a:clrScheme name="">
        <a:dk1>
          <a:srgbClr val="FFFFFF"/>
        </a:dk1>
        <a:lt1>
          <a:srgbClr val="221013"/>
        </a:lt1>
        <a:dk2>
          <a:srgbClr val="FFFFFF"/>
        </a:dk2>
        <a:lt2>
          <a:srgbClr val="333333"/>
        </a:lt2>
        <a:accent1>
          <a:srgbClr val="CC3300"/>
        </a:accent1>
        <a:accent2>
          <a:srgbClr val="CC9900"/>
        </a:accent2>
        <a:accent3>
          <a:srgbClr val="ABAAAA"/>
        </a:accent3>
        <a:accent4>
          <a:srgbClr val="DCDCDC"/>
        </a:accent4>
        <a:accent5>
          <a:srgbClr val="E2ADAA"/>
        </a:accent5>
        <a:accent6>
          <a:srgbClr val="B78900"/>
        </a:accent6>
        <a:hlink>
          <a:srgbClr val="808080"/>
        </a:hlink>
        <a:folHlink>
          <a:srgbClr val="666633"/>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FF"/>
        </a:dk2>
        <a:lt2>
          <a:srgbClr val="11054B"/>
        </a:lt2>
        <a:accent1>
          <a:srgbClr val="FF6600"/>
        </a:accent1>
        <a:accent2>
          <a:srgbClr val="FF3300"/>
        </a:accent2>
        <a:accent3>
          <a:srgbClr val="AAAAE2"/>
        </a:accent3>
        <a:accent4>
          <a:srgbClr val="DCDCDC"/>
        </a:accent4>
        <a:accent5>
          <a:srgbClr val="FFB9AA"/>
        </a:accent5>
        <a:accent6>
          <a:srgbClr val="E52D00"/>
        </a:accent6>
        <a:hlink>
          <a:srgbClr val="CC9900"/>
        </a:hlink>
        <a:folHlink>
          <a:srgbClr val="B2B2B2"/>
        </a:folHlink>
      </a:clrScheme>
      <a:clrMap bg1="lt1" tx1="dk1" bg2="lt2" tx2="dk2" accent1="accent1" accent2="accent2" accent3="accent3" accent4="accent4" accent5="accent5" accent6="accent6" hlink="hlink" folHlink="folHlink"/>
    </a:extraClrScheme>
    <a:extraClrScheme>
      <a:clrScheme name="">
        <a:dk1>
          <a:srgbClr val="F8F8F8"/>
        </a:dk1>
        <a:lt1>
          <a:srgbClr val="002600"/>
        </a:lt1>
        <a:dk2>
          <a:srgbClr val="FAFACC"/>
        </a:dk2>
        <a:lt2>
          <a:srgbClr val="9B8D65"/>
        </a:lt2>
        <a:accent1>
          <a:srgbClr val="CC9933"/>
        </a:accent1>
        <a:accent2>
          <a:srgbClr val="8F9967"/>
        </a:accent2>
        <a:accent3>
          <a:srgbClr val="AAABAA"/>
        </a:accent3>
        <a:accent4>
          <a:srgbClr val="D6D6D6"/>
        </a:accent4>
        <a:accent5>
          <a:srgbClr val="E2CAAD"/>
        </a:accent5>
        <a:accent6>
          <a:srgbClr val="80895C"/>
        </a:accent6>
        <a:hlink>
          <a:srgbClr val="336600"/>
        </a:hlink>
        <a:folHlink>
          <a:srgbClr val="808000"/>
        </a:folHlink>
      </a:clrScheme>
      <a:clrMap bg1="lt1" tx1="dk1" bg2="lt2" tx2="dk2" accent1="accent1" accent2="accent2" accent3="accent3" accent4="accent4" accent5="accent5" accent6="accent6" hlink="hlink" folHlink="folHlink"/>
    </a:extraClrScheme>
    <a:extraClrScheme>
      <a:clrScheme name="">
        <a:dk1>
          <a:srgbClr val="FFFFFF"/>
        </a:dk1>
        <a:lt1>
          <a:srgbClr val="006699"/>
        </a:lt1>
        <a:dk2>
          <a:srgbClr val="FFFFFF"/>
        </a:dk2>
        <a:lt2>
          <a:srgbClr val="333333"/>
        </a:lt2>
        <a:accent1>
          <a:srgbClr val="CC9900"/>
        </a:accent1>
        <a:accent2>
          <a:srgbClr val="FF9900"/>
        </a:accent2>
        <a:accent3>
          <a:srgbClr val="AAB9CA"/>
        </a:accent3>
        <a:accent4>
          <a:srgbClr val="DCDCDC"/>
        </a:accent4>
        <a:accent5>
          <a:srgbClr val="E2CAAA"/>
        </a:accent5>
        <a:accent6>
          <a:srgbClr val="E58900"/>
        </a:accent6>
        <a:hlink>
          <a:srgbClr val="FFCC00"/>
        </a:hlink>
        <a:folHlink>
          <a:srgbClr val="706F37"/>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47329"/>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1C1C1"/>
        </a:accent5>
        <a:accent6>
          <a:srgbClr val="8989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36145"/>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dge">
  <a:themeElements>
    <a:clrScheme name="">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47329"/>
      </a:accent6>
      <a:hlink>
        <a:srgbClr val="996600"/>
      </a:hlink>
      <a:folHlink>
        <a:srgbClr val="AFBF39"/>
      </a:folHlink>
    </a:clrScheme>
    <a:fontScheme name="">
      <a:majorFont>
        <a:latin typeface="Times New Roman"/>
        <a:ea typeface="隶书"/>
        <a:cs typeface=""/>
      </a:majorFont>
      <a:minorFont>
        <a:latin typeface="Times New Roman"/>
        <a:ea typeface="华文新魏"/>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820000"/>
        </a:lt1>
        <a:dk2>
          <a:srgbClr val="FFFFFF"/>
        </a:dk2>
        <a:lt2>
          <a:srgbClr val="333333"/>
        </a:lt2>
        <a:accent1>
          <a:srgbClr val="FF9900"/>
        </a:accent1>
        <a:accent2>
          <a:srgbClr val="CC3300"/>
        </a:accent2>
        <a:accent3>
          <a:srgbClr val="C1AAAA"/>
        </a:accent3>
        <a:accent4>
          <a:srgbClr val="DCDCDC"/>
        </a:accent4>
        <a:accent5>
          <a:srgbClr val="FFCAAA"/>
        </a:accent5>
        <a:accent6>
          <a:srgbClr val="B72D00"/>
        </a:accent6>
        <a:hlink>
          <a:srgbClr val="808080"/>
        </a:hlink>
        <a:folHlink>
          <a:srgbClr val="666633"/>
        </a:folHlink>
      </a:clrScheme>
      <a:clrMap bg1="lt1" tx1="dk1" bg2="lt2" tx2="dk2" accent1="accent1" accent2="accent2" accent3="accent3" accent4="accent4" accent5="accent5" accent6="accent6" hlink="hlink" folHlink="folHlink"/>
    </a:extraClrScheme>
    <a:extraClrScheme>
      <a:clrScheme name="">
        <a:dk1>
          <a:srgbClr val="CCCCFF"/>
        </a:dk1>
        <a:lt1>
          <a:srgbClr val="0B0506"/>
        </a:lt1>
        <a:dk2>
          <a:srgbClr val="FFFFFF"/>
        </a:dk2>
        <a:lt2>
          <a:srgbClr val="333333"/>
        </a:lt2>
        <a:accent1>
          <a:srgbClr val="3366CC"/>
        </a:accent1>
        <a:accent2>
          <a:srgbClr val="3333CC"/>
        </a:accent2>
        <a:accent3>
          <a:srgbClr val="AAAAAA"/>
        </a:accent3>
        <a:accent4>
          <a:srgbClr val="AFAFDC"/>
        </a:accent4>
        <a:accent5>
          <a:srgbClr val="ADB9E2"/>
        </a:accent5>
        <a:accent6>
          <a:srgbClr val="2D2DB7"/>
        </a:accent6>
        <a:hlink>
          <a:srgbClr val="808080"/>
        </a:hlink>
        <a:folHlink>
          <a:srgbClr val="666633"/>
        </a:folHlink>
      </a:clrScheme>
      <a:clrMap bg1="lt1" tx1="dk1" bg2="lt2" tx2="dk2" accent1="accent1" accent2="accent2" accent3="accent3" accent4="accent4" accent5="accent5" accent6="accent6" hlink="hlink" folHlink="folHlink"/>
    </a:extraClrScheme>
    <a:extraClrScheme>
      <a:clrScheme name="">
        <a:dk1>
          <a:srgbClr val="FFFFFF"/>
        </a:dk1>
        <a:lt1>
          <a:srgbClr val="221013"/>
        </a:lt1>
        <a:dk2>
          <a:srgbClr val="FFFFFF"/>
        </a:dk2>
        <a:lt2>
          <a:srgbClr val="333333"/>
        </a:lt2>
        <a:accent1>
          <a:srgbClr val="CC3300"/>
        </a:accent1>
        <a:accent2>
          <a:srgbClr val="CC9900"/>
        </a:accent2>
        <a:accent3>
          <a:srgbClr val="ABAAAA"/>
        </a:accent3>
        <a:accent4>
          <a:srgbClr val="DCDCDC"/>
        </a:accent4>
        <a:accent5>
          <a:srgbClr val="E2ADAA"/>
        </a:accent5>
        <a:accent6>
          <a:srgbClr val="B78900"/>
        </a:accent6>
        <a:hlink>
          <a:srgbClr val="808080"/>
        </a:hlink>
        <a:folHlink>
          <a:srgbClr val="666633"/>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FF"/>
        </a:dk2>
        <a:lt2>
          <a:srgbClr val="11054B"/>
        </a:lt2>
        <a:accent1>
          <a:srgbClr val="FF6600"/>
        </a:accent1>
        <a:accent2>
          <a:srgbClr val="FF3300"/>
        </a:accent2>
        <a:accent3>
          <a:srgbClr val="AAAAE2"/>
        </a:accent3>
        <a:accent4>
          <a:srgbClr val="DCDCDC"/>
        </a:accent4>
        <a:accent5>
          <a:srgbClr val="FFB9AA"/>
        </a:accent5>
        <a:accent6>
          <a:srgbClr val="E52D00"/>
        </a:accent6>
        <a:hlink>
          <a:srgbClr val="CC9900"/>
        </a:hlink>
        <a:folHlink>
          <a:srgbClr val="B2B2B2"/>
        </a:folHlink>
      </a:clrScheme>
      <a:clrMap bg1="lt1" tx1="dk1" bg2="lt2" tx2="dk2" accent1="accent1" accent2="accent2" accent3="accent3" accent4="accent4" accent5="accent5" accent6="accent6" hlink="hlink" folHlink="folHlink"/>
    </a:extraClrScheme>
    <a:extraClrScheme>
      <a:clrScheme name="">
        <a:dk1>
          <a:srgbClr val="F8F8F8"/>
        </a:dk1>
        <a:lt1>
          <a:srgbClr val="002600"/>
        </a:lt1>
        <a:dk2>
          <a:srgbClr val="FAFACC"/>
        </a:dk2>
        <a:lt2>
          <a:srgbClr val="9B8D65"/>
        </a:lt2>
        <a:accent1>
          <a:srgbClr val="CC9933"/>
        </a:accent1>
        <a:accent2>
          <a:srgbClr val="8F9967"/>
        </a:accent2>
        <a:accent3>
          <a:srgbClr val="AAABAA"/>
        </a:accent3>
        <a:accent4>
          <a:srgbClr val="D6D6D6"/>
        </a:accent4>
        <a:accent5>
          <a:srgbClr val="E2CAAD"/>
        </a:accent5>
        <a:accent6>
          <a:srgbClr val="80895C"/>
        </a:accent6>
        <a:hlink>
          <a:srgbClr val="336600"/>
        </a:hlink>
        <a:folHlink>
          <a:srgbClr val="808000"/>
        </a:folHlink>
      </a:clrScheme>
      <a:clrMap bg1="lt1" tx1="dk1" bg2="lt2" tx2="dk2" accent1="accent1" accent2="accent2" accent3="accent3" accent4="accent4" accent5="accent5" accent6="accent6" hlink="hlink" folHlink="folHlink"/>
    </a:extraClrScheme>
    <a:extraClrScheme>
      <a:clrScheme name="">
        <a:dk1>
          <a:srgbClr val="FFFFFF"/>
        </a:dk1>
        <a:lt1>
          <a:srgbClr val="006699"/>
        </a:lt1>
        <a:dk2>
          <a:srgbClr val="FFFFFF"/>
        </a:dk2>
        <a:lt2>
          <a:srgbClr val="333333"/>
        </a:lt2>
        <a:accent1>
          <a:srgbClr val="CC9900"/>
        </a:accent1>
        <a:accent2>
          <a:srgbClr val="FF9900"/>
        </a:accent2>
        <a:accent3>
          <a:srgbClr val="AAB9CA"/>
        </a:accent3>
        <a:accent4>
          <a:srgbClr val="DCDCDC"/>
        </a:accent4>
        <a:accent5>
          <a:srgbClr val="E2CAAA"/>
        </a:accent5>
        <a:accent6>
          <a:srgbClr val="E58900"/>
        </a:accent6>
        <a:hlink>
          <a:srgbClr val="FFCC00"/>
        </a:hlink>
        <a:folHlink>
          <a:srgbClr val="706F37"/>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47329"/>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1C1C1"/>
        </a:accent5>
        <a:accent6>
          <a:srgbClr val="8989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36145"/>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Edge</Template>
  <TotalTime>0</TotalTime>
  <Words>12538</Words>
  <Application>WPS 演示</Application>
  <PresentationFormat>在屏幕上显示</PresentationFormat>
  <Paragraphs>795</Paragraphs>
  <Slides>65</Slides>
  <Notes>18</Notes>
  <HiddenSlides>0</HiddenSlides>
  <MMClips>0</MMClips>
  <ScaleCrop>false</ScaleCrop>
  <HeadingPairs>
    <vt:vector size="6" baseType="variant">
      <vt:variant>
        <vt:lpstr>已用的字体</vt:lpstr>
      </vt:variant>
      <vt:variant>
        <vt:i4>20</vt:i4>
      </vt:variant>
      <vt:variant>
        <vt:lpstr>主题</vt:lpstr>
      </vt:variant>
      <vt:variant>
        <vt:i4>6</vt:i4>
      </vt:variant>
      <vt:variant>
        <vt:lpstr>幻灯片标题</vt:lpstr>
      </vt:variant>
      <vt:variant>
        <vt:i4>65</vt:i4>
      </vt:variant>
    </vt:vector>
  </HeadingPairs>
  <TitlesOfParts>
    <vt:vector size="91" baseType="lpstr">
      <vt:lpstr>Arial</vt:lpstr>
      <vt:lpstr>宋体</vt:lpstr>
      <vt:lpstr>Wingdings</vt:lpstr>
      <vt:lpstr>华文彩云</vt:lpstr>
      <vt:lpstr>微软雅黑</vt:lpstr>
      <vt:lpstr>Garamond</vt:lpstr>
      <vt:lpstr>PMingLiU-ExtB</vt:lpstr>
      <vt:lpstr>Times New Roman</vt:lpstr>
      <vt:lpstr>华文新魏</vt:lpstr>
      <vt:lpstr>经典繁行书</vt:lpstr>
      <vt:lpstr>楷体</vt:lpstr>
      <vt:lpstr>Arial Unicode MS</vt:lpstr>
      <vt:lpstr>隶书</vt:lpstr>
      <vt:lpstr>Arial Unicode MS</vt:lpstr>
      <vt:lpstr>Calibri</vt:lpstr>
      <vt:lpstr>华文隶书</vt:lpstr>
      <vt:lpstr>华文楷体</vt:lpstr>
      <vt:lpstr>Wingdings</vt:lpstr>
      <vt:lpstr>Calibri Light</vt:lpstr>
      <vt:lpstr>华文新魏</vt:lpstr>
      <vt:lpstr>Edge</vt:lpstr>
      <vt:lpstr>1_Edge</vt:lpstr>
      <vt:lpstr>1_空白设计模板</vt:lpstr>
      <vt:lpstr>2_空白设计模板</vt:lpstr>
      <vt:lpstr>3_空白设计模板</vt:lpstr>
      <vt:lpstr>4_空白设计模板</vt:lpstr>
      <vt:lpstr>全国大学生电子设计竞赛 设计总结报告撰写与参赛事项指导</vt:lpstr>
      <vt:lpstr>PowerPoint 演示文稿</vt:lpstr>
      <vt:lpstr>壹  设计总结报告评分标准</vt:lpstr>
      <vt:lpstr>PowerPoint 演示文稿</vt:lpstr>
      <vt:lpstr>贰  设计总结报告架构 </vt:lpstr>
      <vt:lpstr>PowerPoint 演示文稿</vt:lpstr>
      <vt:lpstr>2.2 摘要（写好摘要的关键）</vt:lpstr>
      <vt:lpstr>  摘要——案例</vt:lpstr>
      <vt:lpstr>PowerPoint 演示文稿</vt:lpstr>
      <vt:lpstr>2.3  目 录</vt:lpstr>
      <vt:lpstr> 目  录（案例）</vt:lpstr>
      <vt:lpstr>叁  电子设计总结报告正文分项分析</vt:lpstr>
      <vt:lpstr>3.2  方案比较与论证（14分）</vt:lpstr>
      <vt:lpstr>3.2  方案比较设计与论证（14分）</vt:lpstr>
      <vt:lpstr>3.2  方案比较设计与论证 （架构）</vt:lpstr>
      <vt:lpstr>3.2  方案比较设计与论证（写好方案论证的技术基础）</vt:lpstr>
      <vt:lpstr>3.2  方案比较设计与论证（案例）</vt:lpstr>
      <vt:lpstr>3. 2  方案比较设计与论证（案例）</vt:lpstr>
      <vt:lpstr>3.2 方案比较设计与论证（案例）</vt:lpstr>
      <vt:lpstr>3.2  方案比较设计与论证（案例）</vt:lpstr>
      <vt:lpstr>3.3  系统硬件设计</vt:lpstr>
      <vt:lpstr>3.4  系统软件设计</vt:lpstr>
      <vt:lpstr>3.5  理论分析与计算（14分） </vt:lpstr>
      <vt:lpstr>3.5   分析与计算（14分）</vt:lpstr>
      <vt:lpstr>3.5  理论分析与计算（案例）</vt:lpstr>
      <vt:lpstr>PowerPoint 演示文稿</vt:lpstr>
      <vt:lpstr>3.6  电路图及设计文件（6分）</vt:lpstr>
      <vt:lpstr>3.6  电路图及设计文件（6分）</vt:lpstr>
      <vt:lpstr>3.7  系统安装</vt:lpstr>
      <vt:lpstr>3.8   测试方法与数据处理（9分）</vt:lpstr>
      <vt:lpstr>3.8   测试方法与数据处理（9分）</vt:lpstr>
      <vt:lpstr>3.8   测试方法与数据处理（9分）</vt:lpstr>
      <vt:lpstr>3.8   测试方法与数据处理（案例）</vt:lpstr>
      <vt:lpstr>3.8   测试方法与数据处理（9分）</vt:lpstr>
      <vt:lpstr>3.8   测试方法与数据处理（9分）</vt:lpstr>
      <vt:lpstr>3.9  测试结果分析（4分）</vt:lpstr>
      <vt:lpstr>3.9  测试结果分析（4分）</vt:lpstr>
      <vt:lpstr>肆  设计总结报告的工整性(3分)</vt:lpstr>
      <vt:lpstr>PowerPoint 演示文稿</vt:lpstr>
      <vt:lpstr>PowerPoint 演示文稿</vt:lpstr>
      <vt:lpstr>PowerPoint 演示文稿</vt:lpstr>
      <vt:lpstr>PowerPoint 演示文稿</vt:lpstr>
      <vt:lpstr>PowerPoint 演示文稿</vt:lpstr>
      <vt:lpstr>PowerPoint 演示文稿</vt:lpstr>
      <vt:lpstr>设计总结报告的工整性（案例）</vt:lpstr>
      <vt:lpstr>设计总结报告的工整性（案例）</vt:lpstr>
      <vt:lpstr>PowerPoint 演示文稿</vt:lpstr>
      <vt:lpstr>设计总结报告的工整性（组委会要求）</vt:lpstr>
      <vt:lpstr>伍  竞赛设计制作过程</vt:lpstr>
      <vt:lpstr>5.1  题目选择</vt:lpstr>
      <vt:lpstr>5.2   竞赛设计制作过程（看看自己的资源）</vt:lpstr>
      <vt:lpstr>5.2   竞赛设计制作过程</vt:lpstr>
      <vt:lpstr>PowerPoint 演示文稿</vt:lpstr>
      <vt:lpstr>PowerPoint 演示文稿</vt:lpstr>
      <vt:lpstr>PowerPoint 演示文稿</vt:lpstr>
      <vt:lpstr>PowerPoint 演示文稿</vt:lpstr>
      <vt:lpstr>PowerPoint 演示文稿</vt:lpstr>
      <vt:lpstr>PowerPoint 演示文稿</vt:lpstr>
      <vt:lpstr>陆  竞赛时间规划及注意事项</vt:lpstr>
      <vt:lpstr>PowerPoint 演示文稿</vt:lpstr>
      <vt:lpstr>PowerPoint 演示文稿</vt:lpstr>
      <vt:lpstr>PowerPoint 演示文稿</vt:lpstr>
      <vt:lpstr>陆  竞赛时间规划及注意事项</vt:lpstr>
      <vt:lpstr>陆  竞赛时间规划及注意事项</vt:lpstr>
      <vt:lpstr>祝大家好运 谢谢大家聆听！</vt:lpstr>
    </vt:vector>
  </TitlesOfParts>
  <Company>www.ftpdown.com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2010年INTEL嵌入式邀请赛 测试情况汇报</dc:title>
  <dc:creator>李玉柏</dc:creator>
  <cp:lastModifiedBy>yangzhongxiao</cp:lastModifiedBy>
  <cp:revision>118</cp:revision>
  <dcterms:created xsi:type="dcterms:W3CDTF">2010-07-22T10:47:00Z</dcterms:created>
  <dcterms:modified xsi:type="dcterms:W3CDTF">2021-07-31T13:57:19Z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2052-11.1.0.9739</vt:lpwstr>
  </property>
  <property fmtid="{D5CDD505-2E9C-101B-9397-08002B2CF9AE}" pid="3" name="KSORubyTemplateID">
    <vt:lpwstr>2</vt:lpwstr>
  </property>
</Properties>
</file>